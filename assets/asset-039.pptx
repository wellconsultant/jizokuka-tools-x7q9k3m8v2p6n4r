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48ea321df245d4" /><Relationship Type="http://schemas.openxmlformats.org/officeDocument/2006/relationships/extended-properties" Target="/docProps/app.xml" Id="R025cfaf5d4e2409a" /><Relationship Type="http://schemas.openxmlformats.org/officeDocument/2006/relationships/officeDocument" Target="/ppt/presentation.xml" Id="R24014010b1354920" /></Relationships>
</file>

<file path=ppt/presentation.xml><?xml version="1.0" encoding="utf-8"?>
<p:presentation xmlns:p="http://schemas.openxmlformats.org/presentationml/2006/main">
  <p:sldMasterIdLst>
    <p:sldMasterId xmlns:r="http://schemas.openxmlformats.org/officeDocument/2006/relationships" id="2147483648" r:id="R085cb21920424ce9"/>
  </p:sldMasterIdLst>
  <p:notesMasterIdLst>
    <p:notesMasterId xmlns:r="http://schemas.openxmlformats.org/officeDocument/2006/relationships" r:id="Rb0a7b5e8a6af4e1c"/>
  </p:notesMasterIdLst>
  <p:sldIdLst>
    <p:sldId xmlns:r="http://schemas.openxmlformats.org/officeDocument/2006/relationships" id="256" r:id="Rd08f7797fadf4c30"/>
    <p:sldId xmlns:r="http://schemas.openxmlformats.org/officeDocument/2006/relationships" id="257" r:id="R8e5b4a5c1c8545d7"/>
    <p:sldId xmlns:r="http://schemas.openxmlformats.org/officeDocument/2006/relationships" id="258" r:id="R81b1a5a9d6f64f83"/>
    <p:sldId xmlns:r="http://schemas.openxmlformats.org/officeDocument/2006/relationships" id="259" r:id="R857228386fe842b7"/>
    <p:sldId xmlns:r="http://schemas.openxmlformats.org/officeDocument/2006/relationships" id="260" r:id="R2dd58fedbb0940e4"/>
    <p:sldId xmlns:r="http://schemas.openxmlformats.org/officeDocument/2006/relationships" id="261" r:id="R07c83cf09d8d4d15"/>
    <p:sldId xmlns:r="http://schemas.openxmlformats.org/officeDocument/2006/relationships" id="262" r:id="R96da51989ff84104"/>
    <p:sldId xmlns:r="http://schemas.openxmlformats.org/officeDocument/2006/relationships" id="263" r:id="R6c23a5aaf2a94a77"/>
    <p:sldId xmlns:r="http://schemas.openxmlformats.org/officeDocument/2006/relationships" id="264" r:id="R194130161e57463e"/>
    <p:sldId xmlns:r="http://schemas.openxmlformats.org/officeDocument/2006/relationships" id="265" r:id="Ra07ff299135a436b"/>
    <p:sldId xmlns:r="http://schemas.openxmlformats.org/officeDocument/2006/relationships" id="266" r:id="R065f812cf686422d"/>
    <p:sldId xmlns:r="http://schemas.openxmlformats.org/officeDocument/2006/relationships" id="267" r:id="R03722f90a37b4943"/>
    <p:sldId xmlns:r="http://schemas.openxmlformats.org/officeDocument/2006/relationships" id="268" r:id="Reaa2f19522204e43"/>
    <p:sldId xmlns:r="http://schemas.openxmlformats.org/officeDocument/2006/relationships" id="269" r:id="R33dafc6ae3f34234"/>
    <p:sldId xmlns:r="http://schemas.openxmlformats.org/officeDocument/2006/relationships" id="270" r:id="Rb257a38e133541fc"/>
    <p:sldId xmlns:r="http://schemas.openxmlformats.org/officeDocument/2006/relationships" id="271" r:id="R9a1e0ce3f9be431c"/>
    <p:sldId xmlns:r="http://schemas.openxmlformats.org/officeDocument/2006/relationships" id="272" r:id="Rea41c76a22254d30"/>
    <p:sldId xmlns:r="http://schemas.openxmlformats.org/officeDocument/2006/relationships" id="273" r:id="R24c77d3f27594d01"/>
    <p:sldId xmlns:r="http://schemas.openxmlformats.org/officeDocument/2006/relationships" id="274" r:id="R6e4c8f7292ea469d"/>
    <p:sldId xmlns:r="http://schemas.openxmlformats.org/officeDocument/2006/relationships" id="275" r:id="Ra61cc514c72b4d78"/>
    <p:sldId xmlns:r="http://schemas.openxmlformats.org/officeDocument/2006/relationships" id="276" r:id="Rc48fbcbdc29c4c12"/>
    <p:sldId xmlns:r="http://schemas.openxmlformats.org/officeDocument/2006/relationships" id="277" r:id="Rab3eeee677704428"/>
    <p:sldId xmlns:r="http://schemas.openxmlformats.org/officeDocument/2006/relationships" id="278" r:id="Re965d6bb2569447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752b7c77af4f48" /><Relationship Type="http://schemas.openxmlformats.org/officeDocument/2006/relationships/slideMaster" Target="/ppt/slideMasters/slideMaster1.xml" Id="R085cb21920424ce9" /><Relationship Type="http://schemas.openxmlformats.org/officeDocument/2006/relationships/notesMaster" Target="/ppt/notesMasters/notesMaster1.xml" Id="Rb0a7b5e8a6af4e1c" /><Relationship Type="http://schemas.openxmlformats.org/officeDocument/2006/relationships/presProps" Target="/ppt/presProps.xml" Id="Ra9362312ead242ca" /><Relationship Type="http://schemas.openxmlformats.org/officeDocument/2006/relationships/tableStyles" Target="/ppt/tableStyles.xml" Id="R700e8dd81dfd49c3" /><Relationship Type="http://schemas.openxmlformats.org/officeDocument/2006/relationships/slide" Target="/ppt/slides/slide1.xml" Id="Rd08f7797fadf4c30" /><Relationship Type="http://schemas.openxmlformats.org/officeDocument/2006/relationships/slide" Target="/ppt/slides/slide2.xml" Id="R8e5b4a5c1c8545d7" /><Relationship Type="http://schemas.openxmlformats.org/officeDocument/2006/relationships/slide" Target="/ppt/slides/slide3.xml" Id="R81b1a5a9d6f64f83" /><Relationship Type="http://schemas.openxmlformats.org/officeDocument/2006/relationships/slide" Target="/ppt/slides/slide4.xml" Id="R857228386fe842b7" /><Relationship Type="http://schemas.openxmlformats.org/officeDocument/2006/relationships/slide" Target="/ppt/slides/slide5.xml" Id="R2dd58fedbb0940e4" /><Relationship Type="http://schemas.openxmlformats.org/officeDocument/2006/relationships/slide" Target="/ppt/slides/slide6.xml" Id="R07c83cf09d8d4d15" /><Relationship Type="http://schemas.openxmlformats.org/officeDocument/2006/relationships/slide" Target="/ppt/slides/slide7.xml" Id="R96da51989ff84104" /><Relationship Type="http://schemas.openxmlformats.org/officeDocument/2006/relationships/slide" Target="/ppt/slides/slide8.xml" Id="R6c23a5aaf2a94a77" /><Relationship Type="http://schemas.openxmlformats.org/officeDocument/2006/relationships/slide" Target="/ppt/slides/slide9.xml" Id="R194130161e57463e" /><Relationship Type="http://schemas.openxmlformats.org/officeDocument/2006/relationships/slide" Target="/ppt/slides/slide10.xml" Id="Ra07ff299135a436b" /><Relationship Type="http://schemas.openxmlformats.org/officeDocument/2006/relationships/slide" Target="/ppt/slides/slide11.xml" Id="R065f812cf686422d" /><Relationship Type="http://schemas.openxmlformats.org/officeDocument/2006/relationships/slide" Target="/ppt/slides/slide12.xml" Id="R03722f90a37b4943" /><Relationship Type="http://schemas.openxmlformats.org/officeDocument/2006/relationships/slide" Target="/ppt/slides/slide13.xml" Id="Reaa2f19522204e43" /><Relationship Type="http://schemas.openxmlformats.org/officeDocument/2006/relationships/slide" Target="/ppt/slides/slide14.xml" Id="R33dafc6ae3f34234" /><Relationship Type="http://schemas.openxmlformats.org/officeDocument/2006/relationships/slide" Target="/ppt/slides/slide15.xml" Id="Rb257a38e133541fc" /><Relationship Type="http://schemas.openxmlformats.org/officeDocument/2006/relationships/slide" Target="/ppt/slides/slide16.xml" Id="R9a1e0ce3f9be431c" /><Relationship Type="http://schemas.openxmlformats.org/officeDocument/2006/relationships/slide" Target="/ppt/slides/slide17.xml" Id="Rea41c76a22254d30" /><Relationship Type="http://schemas.openxmlformats.org/officeDocument/2006/relationships/slide" Target="/ppt/slides/slide18.xml" Id="R24c77d3f27594d01" /><Relationship Type="http://schemas.openxmlformats.org/officeDocument/2006/relationships/slide" Target="/ppt/slides/slide19.xml" Id="R6e4c8f7292ea469d" /><Relationship Type="http://schemas.openxmlformats.org/officeDocument/2006/relationships/slide" Target="/ppt/slides/slide20.xml" Id="Ra61cc514c72b4d78" /><Relationship Type="http://schemas.openxmlformats.org/officeDocument/2006/relationships/slide" Target="/ppt/slides/slide21.xml" Id="Rc48fbcbdc29c4c12" /><Relationship Type="http://schemas.openxmlformats.org/officeDocument/2006/relationships/slide" Target="/ppt/slides/slide22.xml" Id="Rab3eeee677704428" /><Relationship Type="http://schemas.openxmlformats.org/officeDocument/2006/relationships/slide" Target="/ppt/slides/slide23.xml" Id="Re965d6bb256944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7f4ae237e441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5487a3618b405b" /><Relationship Type="http://schemas.openxmlformats.org/officeDocument/2006/relationships/notesMaster" Target="/ppt/notesMasters/notesMaster1.xml" Id="Rda8d8d4319fc4d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fa6ca86a0546ab" /><Relationship Type="http://schemas.openxmlformats.org/officeDocument/2006/relationships/notesMaster" Target="/ppt/notesMasters/notesMaster1.xml" Id="R815d0f12efd645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df3631c54b4c94" /><Relationship Type="http://schemas.openxmlformats.org/officeDocument/2006/relationships/notesMaster" Target="/ppt/notesMasters/notesMaster1.xml" Id="R967a320185374b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a9fe18678f4174" /><Relationship Type="http://schemas.openxmlformats.org/officeDocument/2006/relationships/notesMaster" Target="/ppt/notesMasters/notesMaster1.xml" Id="Ra85d4a092ffa42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2cb9342ae943cd" /><Relationship Type="http://schemas.openxmlformats.org/officeDocument/2006/relationships/notesMaster" Target="/ppt/notesMasters/notesMaster1.xml" Id="R38c29f5eadf548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cf12e3ca0c4fe8" /><Relationship Type="http://schemas.openxmlformats.org/officeDocument/2006/relationships/notesMaster" Target="/ppt/notesMasters/notesMaster1.xml" Id="R848b82046f0347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0c6fd7800a4b4b" /><Relationship Type="http://schemas.openxmlformats.org/officeDocument/2006/relationships/notesMaster" Target="/ppt/notesMasters/notesMaster1.xml" Id="Rb17ac7841c114c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e6f59461854320" /><Relationship Type="http://schemas.openxmlformats.org/officeDocument/2006/relationships/notesMaster" Target="/ppt/notesMasters/notesMaster1.xml" Id="Rb716a982480f41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06cde673f744b5" /><Relationship Type="http://schemas.openxmlformats.org/officeDocument/2006/relationships/notesMaster" Target="/ppt/notesMasters/notesMaster1.xml" Id="R6bfc5d400da845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94763dd3e34e8d" /><Relationship Type="http://schemas.openxmlformats.org/officeDocument/2006/relationships/notesMaster" Target="/ppt/notesMasters/notesMaster1.xml" Id="R005173d2e8514f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d87a742e654963" /><Relationship Type="http://schemas.openxmlformats.org/officeDocument/2006/relationships/notesMaster" Target="/ppt/notesMasters/notesMaster1.xml" Id="Rfb8965676f6641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8ba8a11d3f4114" /><Relationship Type="http://schemas.openxmlformats.org/officeDocument/2006/relationships/notesMaster" Target="/ppt/notesMasters/notesMaster1.xml" Id="R08e80ba009194b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6cd2c713d94bf5" /><Relationship Type="http://schemas.openxmlformats.org/officeDocument/2006/relationships/notesMaster" Target="/ppt/notesMasters/notesMaster1.xml" Id="R041fec6dbb0d45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e6e6e7891c442a" /><Relationship Type="http://schemas.openxmlformats.org/officeDocument/2006/relationships/notesMaster" Target="/ppt/notesMasters/notesMaster1.xml" Id="R2cbdf00a358a43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021a4ef2fc471d" /><Relationship Type="http://schemas.openxmlformats.org/officeDocument/2006/relationships/notesMaster" Target="/ppt/notesMasters/notesMaster1.xml" Id="R0c8b4dddc48440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4427751166467b" /><Relationship Type="http://schemas.openxmlformats.org/officeDocument/2006/relationships/notesMaster" Target="/ppt/notesMasters/notesMaster1.xml" Id="Ra74da74d05a842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aa1b598403429d" /><Relationship Type="http://schemas.openxmlformats.org/officeDocument/2006/relationships/notesMaster" Target="/ppt/notesMasters/notesMaster1.xml" Id="Ra8bff1fee58546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baf7dc8f3a4aa1" /><Relationship Type="http://schemas.openxmlformats.org/officeDocument/2006/relationships/notesMaster" Target="/ppt/notesMasters/notesMaster1.xml" Id="Raa7772d496504f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5e997d47f64aad" /><Relationship Type="http://schemas.openxmlformats.org/officeDocument/2006/relationships/notesMaster" Target="/ppt/notesMasters/notesMaster1.xml" Id="Rd93a1e69578e49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6a86e818ce482d" /><Relationship Type="http://schemas.openxmlformats.org/officeDocument/2006/relationships/notesMaster" Target="/ppt/notesMasters/notesMaster1.xml" Id="R41d705fcc9684d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1b87a82095d40c9" /><Relationship Type="http://schemas.openxmlformats.org/officeDocument/2006/relationships/notesMaster" Target="/ppt/notesMasters/notesMaster1.xml" Id="Rfc8da0d5fda34eb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ff6a575381e4307" /><Relationship Type="http://schemas.openxmlformats.org/officeDocument/2006/relationships/notesMaster" Target="/ppt/notesMasters/notesMaster1.xml" Id="R10d9a05e2c3a4b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66ca4d166643f8" /><Relationship Type="http://schemas.openxmlformats.org/officeDocument/2006/relationships/notesMaster" Target="/ppt/notesMasters/notesMaster1.xml" Id="R44161924db954d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本資料は、持続化補助金の実績報告を、初めての方でも順番に進められるように整理した講義用スライドです。</a:t>
            </a:r>
          </a:p>
          <a:p xmlns:a="http://schemas.openxmlformats.org/drawingml/2006/main">
            <a:r>
              <a:t/>
            </a:r>
          </a:p>
          <a:p xmlns:a="http://schemas.openxmlformats.org/drawingml/2006/main">
            <a:r>
              <a:t>この第5分冊では「特殊項目・不備・差戻し・精算払」を扱います。</a:t>
            </a:r>
          </a:p>
          <a:p xmlns:a="http://schemas.openxmlformats.org/drawingml/2006/main">
            <a:r>
              <a:t/>
            </a:r>
          </a:p>
          <a:p xmlns:a="http://schemas.openxmlformats.org/drawingml/2006/main">
            <a:r>
              <a:t>画面に表示している要点に加え、スピーカーノートへ元のHTMLマニュアルの詳しい説明を収録しています。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08</a:t>
            </a:r>
          </a:p>
          <a:p xmlns:a="http://schemas.openxmlformats.org/drawingml/2006/main">
            <a:r>
              <a:t>賃金引上げ・取得財産・収益納付</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賃金引上げ特例・加点を利用した場合</a:t>
            </a:r>
          </a:p>
          <a:p xmlns:a="http://schemas.openxmlformats.org/drawingml/2006/main">
            <a:r>
              <a:t/>
            </a:r>
          </a:p>
          <a:p xmlns:a="http://schemas.openxmlformats.org/drawingml/2006/main">
            <a:r>
              <a:t>該当者には専用画面が表示されます。役員・専従者を除く全従業員について、直近1か月分の賃金台帳、雇用条件がわかる書類、必要に応じて従業員一覧を添付します。時給制、日給制、月給制に応じて時間換算額を計算します。賃金台帳の対象月、従業員の範囲、所定労働時間、年間休日等が一致しているか確認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取得財産等管理明細表</a:t>
            </a:r>
          </a:p>
          <a:p xmlns:a="http://schemas.openxmlformats.org/drawingml/2006/main">
            <a:r>
              <a:t/>
            </a:r>
          </a:p>
          <a:p xmlns:a="http://schemas.openxmlformats.org/drawingml/2006/main">
            <a:r>
              <a:t>単価税抜50万円以上の機械装置等や、一定の店舗改装など、処分制限財産に該当する場合は登録が必要です。財産名、規格、数量、単価、取得年月日、保管場所を入力します。補助事業で取得した機械装置等には、採択回がわかる表示を付け、他の財産と区別して管理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取得財産追加画面</a:t>
            </a:r>
          </a:p>
          <a:p xmlns:a="http://schemas.openxmlformats.org/drawingml/2006/main">
            <a:r>
              <a:t>操作画面：取得財産等管理明細表から財産を追加。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取得財産の詳細入力画面</a:t>
            </a:r>
          </a:p>
          <a:p xmlns:a="http://schemas.openxmlformats.org/drawingml/2006/main">
            <a:r>
              <a:t>操作画面：財産名、規格、数量、単価、取得日、保管場所を入力。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補助事業で取得した財産は、補助事業終了後も自由に売却、廃棄、譲渡、担保設定、目的外使用ができるとは限りません。処分制限期間内に処分する場合は、事前承認や補助金返還が必要になることがあります。設備の入替えや閉店時にも、自己判断で処分しないで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収益納付</a:t>
            </a:r>
          </a:p>
          <a:p xmlns:a="http://schemas.openxmlformats.org/drawingml/2006/main">
            <a:r>
              <a:t/>
            </a:r>
          </a:p>
          <a:p xmlns:a="http://schemas.openxmlformats.org/drawingml/2006/main">
            <a:r>
              <a:t>補助事業によって事業完了までに直接収益が発生した場合、補助金額から相当額が減額される場合があります。ただし、単に売上があっただけで必ず同額が減額されるわけではありません。補助事業に直接関係する収入と経費を分け、売上台帳、請求書、原価資料などから計算根拠を説明できるよう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収益納付に関する説明</a:t>
            </a:r>
          </a:p>
          <a:p xmlns:a="http://schemas.openxmlformats.org/drawingml/2006/main">
            <a:r>
              <a:t>資料画像：収益納付の考え方と、対象となる収益の確認。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09</a:t>
            </a:r>
          </a:p>
          <a:p xmlns:a="http://schemas.openxmlformats.org/drawingml/2006/main">
            <a:r>
              <a:t>よくある不備と、その直し方</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不備・指摘｜なぜ問題か｜解消方法</a:t>
            </a:r>
          </a:p>
          <a:p xmlns:a="http://schemas.openxmlformats.org/drawingml/2006/main">
            <a:r>
              <a:t>見積書の宛名が空欄、個人名、屋号のみ｜補助事業者に対する見積か確認できません。｜法人は法人名、個人事業主は申請者名または申請上の屋号を含む宛名で再発行を依頼します。</a:t>
            </a:r>
          </a:p>
          <a:p xmlns:a="http://schemas.openxmlformats.org/drawingml/2006/main">
            <a:r>
              <a:t>「一式」「諸経費」だけで内訳がない｜内容と価格の妥当性を判断できません。｜品名、仕様、数量、単価、作業項目を記載した内訳書または詳細見積書を追加します。</a:t>
            </a:r>
          </a:p>
          <a:p xmlns:a="http://schemas.openxmlformats.org/drawingml/2006/main">
            <a:r>
              <a:t>発注書がない｜発注日が交付決定後か確認できません。｜注文メール、注文履歴、契約書、受注確認書等を探します。取引先の新たな証明書だけで認められるとは限らないため、当時の客観資料を優先します。</a:t>
            </a:r>
          </a:p>
          <a:p xmlns:a="http://schemas.openxmlformats.org/drawingml/2006/main">
            <a:r>
              <a:t>納品書・完了報告書がない｜商品・役務を期間内に受け取ったか確認できません。｜取引先に納品書または完了報告書の発行を依頼します。ウェブ制作なら公開記録、成果物一覧、納品メールも添えます。</a:t>
            </a:r>
          </a:p>
          <a:p xmlns:a="http://schemas.openxmlformats.org/drawingml/2006/main">
            <a:r>
              <a:t>請求額と振込額が違う｜対象取引への支払いか判断できません。｜振込手数料、相殺、複数請求の合算、値引き等の理由を説明し、内訳表と関連請求書を添付します。</a:t>
            </a:r>
          </a:p>
          <a:p xmlns:a="http://schemas.openxmlformats.org/drawingml/2006/main">
            <a:r>
              <a:t>現金領収書だけを提出｜発注・納品の流れや対象経費の具体的内容が不足します。｜見積、発注、納品、請求、商品写真を追加します。支払方法自体が認められるかも確認します。</a:t>
            </a:r>
          </a:p>
          <a:p xmlns:a="http://schemas.openxmlformats.org/drawingml/2006/main">
            <a:r>
              <a:t>カード利用明細しかない｜購入内容や口座からの負担が確認できません。｜領収書・購入明細、カード明細、口座引落し記録を一式で提出します。</a:t>
            </a:r>
          </a:p>
          <a:p xmlns:a="http://schemas.openxmlformats.org/drawingml/2006/main">
            <a:r>
              <a:t>個人カードで法人経費を支払った｜法人が最終的に経費を負担したことが不明です。｜立替精算書と、法人から立替者への精算記録を追加します。精算日が補助事業期間内か確認します。</a:t>
            </a:r>
          </a:p>
          <a:p xmlns:a="http://schemas.openxmlformats.org/drawingml/2006/main">
            <a:r>
              <a:t>支払日が補助事業期間外｜期間内に完了した支出と認められません。｜日付の修正はできません。当該経費を補助対象外として0円計上するなど、事実に沿って修正します。</a:t>
            </a:r>
          </a:p>
          <a:p xmlns:a="http://schemas.openxmlformats.org/drawingml/2006/main">
            <a:r>
              <a:t>写真が暗い・型番が見えない｜購入物と申請内容の一致を確認できません。｜全景、設置場所、型番、使用中の状態を明るい場所で撮り直します。複数写真を付けます。</a:t>
            </a:r>
          </a:p>
          <a:p xmlns:a="http://schemas.openxmlformats.org/drawingml/2006/main">
            <a:r>
              <a:t>チラシを印刷したが配布していない｜販路開拓の取組が完了していません。｜補助事業期間内なら配布を完了し、配布数・日・場所を記録します。期間後なら対象可否を個別確認します。</a:t>
            </a:r>
          </a:p>
          <a:p xmlns:a="http://schemas.openxmlformats.org/drawingml/2006/main">
            <a:r>
              <a:t>ウェブサイトが見られない｜成果物と実施状況を確認できません。｜公開状態にし、URL、画面、公開日、対象商品・サービスがわかる資料を添えます。</a:t>
            </a:r>
          </a:p>
          <a:p xmlns:a="http://schemas.openxmlformats.org/drawingml/2006/main">
            <a:r>
              <a:t>入力額と証憑の金額が違う｜補助対象額の計算が追えません。｜税込・税抜、消費税、値引き、対象外部分を再計算し、計算表を添付して入力を一致させます。</a:t>
            </a:r>
          </a:p>
          <a:p xmlns:a="http://schemas.openxmlformats.org/drawingml/2006/main">
            <a:r>
              <a:t>添付した証憑が経費に紐付いていない｜どの経費の資料かシステム上確認できません。｜証憑編集画面で該当経費のチェックボックスを選び、保存します。</a:t>
            </a:r>
          </a:p>
          <a:p xmlns:a="http://schemas.openxmlformats.org/drawingml/2006/main">
            <a:r>
              <a:t>差戻し通知に気づかない｜修正期限を過ぎ、審査が止まります。｜登録メールとマイページを定期確認し、迷惑メールも確認します。通知を受けたら指摘一覧を作ります。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不足書類を取引先へ頼む文例</a:t>
            </a:r>
          </a:p>
          <a:p xmlns:a="http://schemas.openxmlformats.org/drawingml/2006/main">
            <a:r>
              <a:t/>
            </a:r>
          </a:p>
          <a:p xmlns:a="http://schemas.openxmlformats.org/drawingml/2006/main">
            <a:r>
              <a:t>件名：補助金実績報告に伴う書類発行のお願い株式会社〇〇　ご担当者様いつもお世話になっております。〇月〇日に納品いただいた「〇〇」について、補助金の実績報告に必要なため、次の書類の発行をお願いいたします。・納品日、宛名、品名、型番、数量が記載された納品書・作業内容と完了日が記載された完了報告書宛名は「株式会社△△」、対象取引は請求書番号〇〇です。恐れ入りますが、PDFでご送付いただけますと幸い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10</a:t>
            </a:r>
          </a:p>
          <a:p xmlns:a="http://schemas.openxmlformats.org/drawingml/2006/main">
            <a:r>
              <a:t>差戻しが来たときの対応手順</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差戻しは、ただちに不採択や補助金取消しを意味するものではありません。事務局が資料だけでは確認できなかった点を示しています。ただし、回答期限を放置すると審査が進まないため、早めの対応が必要です。</a:t>
            </a:r>
          </a:p>
          <a:p xmlns:a="http://schemas.openxmlformats.org/drawingml/2006/main">
            <a:r>
              <a:t/>
            </a:r>
          </a:p>
          <a:p xmlns:a="http://schemas.openxmlformats.org/drawingml/2006/main">
            <a:r>
              <a:t>通知文をそのまま一覧にする</a:t>
            </a:r>
          </a:p>
          <a:p xmlns:a="http://schemas.openxmlformats.org/drawingml/2006/main">
            <a:r>
              <a:t>「経費番号」「指摘内容」「必要な修正」「用意する資料」「担当」「期限」の表を作ります。一つの通知に複数の指摘がある場合、項目ごとに分けます。</a:t>
            </a:r>
          </a:p>
          <a:p xmlns:a="http://schemas.openxmlformats.org/drawingml/2006/main">
            <a:r>
              <a:t/>
            </a:r>
          </a:p>
          <a:p xmlns:a="http://schemas.openxmlformats.org/drawingml/2006/main">
            <a:r>
              <a:t>事実と資料を照合する</a:t>
            </a:r>
          </a:p>
          <a:p xmlns:a="http://schemas.openxmlformats.org/drawingml/2006/main">
            <a:r>
              <a:t>指摘された経費の見積、発注、納品、請求、支払を日付順に並べます。不足なのか、不一致なのか、入力ミスなのかを切り分けます。</a:t>
            </a:r>
          </a:p>
          <a:p xmlns:a="http://schemas.openxmlformats.org/drawingml/2006/main">
            <a:r>
              <a:t/>
            </a:r>
          </a:p>
          <a:p xmlns:a="http://schemas.openxmlformats.org/drawingml/2006/main">
            <a:r>
              <a:t>元資料を改変せず、補足する</a:t>
            </a:r>
          </a:p>
          <a:p xmlns:a="http://schemas.openxmlformats.org/drawingml/2006/main">
            <a:r>
              <a:t>請求書の日付や金額を自分で書き換えてはいけません。取引先から正しい書類を再発行してもらうか、説明書、内訳表、計算表を別資料として作ります。再発行書類は、再発行であることがわかる状態が望ましいです。</a:t>
            </a:r>
          </a:p>
          <a:p xmlns:a="http://schemas.openxmlformats.org/drawingml/2006/main">
            <a:r>
              <a:t/>
            </a:r>
          </a:p>
          <a:p xmlns:a="http://schemas.openxmlformats.org/drawingml/2006/main">
            <a:r>
              <a:t>指摘に対応する資料だけを整理して再提出する</a:t>
            </a:r>
          </a:p>
          <a:p xmlns:a="http://schemas.openxmlformats.org/drawingml/2006/main">
            <a:r>
              <a:t>説明なしに大量の資料を追加すると、かえって確認が難しくなります。「指摘1への回答」「追加資料」「修正箇所」を対応させます。</a:t>
            </a:r>
          </a:p>
          <a:p xmlns:a="http://schemas.openxmlformats.org/drawingml/2006/main">
            <a:r>
              <a:t/>
            </a:r>
          </a:p>
          <a:p xmlns:a="http://schemas.openxmlformats.org/drawingml/2006/main">
            <a:r>
              <a:t>再提出後も状態を確認する</a:t>
            </a:r>
          </a:p>
          <a:p xmlns:a="http://schemas.openxmlformats.org/drawingml/2006/main">
            <a:r>
              <a:t>再提出が完了したこと、再び差戻しがないかをマイページで確認します。メール通知だけに頼らず、審査が終わるまで定期的に確認します。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絶対にしない実際と異なる日付の作成、取引先になりすました書類作成、画像編集による金額変更、存在しない納品や配布の記載は、不正受給を疑われる重大な問題になります。認められない経費は、無理に通そうとせず対象外として整理することが正しい対応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11</a:t>
            </a:r>
          </a:p>
          <a:p xmlns:a="http://schemas.openxmlformats.org/drawingml/2006/main">
            <a:r>
              <a:t>確定通知の後は、精算払請求を忘れない</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実績報告の審査が終わると、補助金額の確定通知書が通知されます。確定通知は、最終的に認められた補助金額を示す書類です。ここで終わりではなく、精算払請求が必要です。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確定通知書を確認する</a:t>
            </a:r>
          </a:p>
          <a:p xmlns:a="http://schemas.openxmlformats.org/drawingml/2006/main">
            <a:r>
              <a:t/>
            </a:r>
          </a:p>
          <a:p xmlns:a="http://schemas.openxmlformats.org/drawingml/2006/main">
            <a:r>
              <a:t>マイページの通知文書から、確定通知書を開き、確定額を確認・保存します。申請額と確定額が違う場合は、対象外とされた経費や減額内容を確認します。通知文書は後日必要になることがあるため、PDFで保存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精算払請求を開始する</a:t>
            </a:r>
          </a:p>
          <a:p xmlns:a="http://schemas.openxmlformats.org/drawingml/2006/main">
            <a:r>
              <a:t/>
            </a:r>
          </a:p>
          <a:p xmlns:a="http://schemas.openxmlformats.org/drawingml/2006/main">
            <a:r>
              <a:t>精算払請求を開始する画面</a:t>
            </a:r>
          </a:p>
          <a:p xmlns:a="http://schemas.openxmlformats.org/drawingml/2006/main">
            <a:r>
              <a:t>操作画面：確定通知後、マイページから「精算払請求を開始する」を選択。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事業者情報、申請日、確定した補助金額と請求額を確認します。振込先は、交付決定を受けた補助事業者の名義に限られます。法人なら法人名義、個人事業主なら申請者本人名義の口座を使用します。家族名義、代表者個人名義と法人名義の混同に注意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口座情報を入力・添付する</a:t>
            </a:r>
          </a:p>
          <a:p xmlns:a="http://schemas.openxmlformats.org/drawingml/2006/main">
            <a:r>
              <a:t/>
            </a:r>
          </a:p>
          <a:p xmlns:a="http://schemas.openxmlformats.org/drawingml/2006/main">
            <a:r>
              <a:t>金融機関名、金融機関コード、支店名、支店コード、預貯金種別、口座番号、口座名義のカタカナ・漢字を入力します。通帳表紙だけでは支店や口座番号が確認できないことがあります。通帳の見開き、ネット銀行の口座情報画面など、必要項目がすべて鮮明に表示された資料を添付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精算払請求の口座情報入力画面</a:t>
            </a:r>
          </a:p>
          <a:p xmlns:a="http://schemas.openxmlformats.org/drawingml/2006/main">
            <a:r>
              <a:t>操作画面：預貯金種別、口座番号、口座名義を入力し、口座情報資料を添付。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・入力した金融機関名と添付資料が一致している</a:t>
            </a:r>
          </a:p>
          <a:p xmlns:a="http://schemas.openxmlformats.org/drawingml/2006/main">
            <a:r>
              <a:t>・支店名・支店コードが一致している</a:t>
            </a:r>
          </a:p>
          <a:p xmlns:a="http://schemas.openxmlformats.org/drawingml/2006/main">
            <a:r>
              <a:t>・口座番号の桁数に誤りがない</a:t>
            </a:r>
          </a:p>
          <a:p xmlns:a="http://schemas.openxmlformats.org/drawingml/2006/main">
            <a:r>
              <a:t>・口座名義は資料どおりで、スペースも一致している</a:t>
            </a:r>
          </a:p>
          <a:p xmlns:a="http://schemas.openxmlformats.org/drawingml/2006/main">
            <a:r>
              <a:t>・補助事業者本人の口座である</a:t>
            </a:r>
          </a:p>
          <a:p xmlns:a="http://schemas.openxmlformats.org/drawingml/2006/main">
            <a:r>
              <a:t>・画像にピントが合い、文字が切れていない</a:t>
            </a:r>
          </a:p>
          <a:p xmlns:a="http://schemas.openxmlformats.org/drawingml/2006/main">
            <a:r>
              <a:t/>
            </a:r>
          </a:p>
          <a:p xmlns:a="http://schemas.openxmlformats.org/drawingml/2006/main">
            <a:r>
              <a:t>最終確認後に「提出する」を押し、完了画面を確認します。口座情報の不一致は入金が止まる直接的な原因になります。コピー入力だけで終わらせず、添付画像と一文字ずつ照合してください。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c4862e97d843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5160d3f56a4703" /><Relationship Type="http://schemas.openxmlformats.org/officeDocument/2006/relationships/slideLayout" Target="/ppt/slideLayouts/slideLayout1.xml" Id="R0d2dd637b1b142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2dd637b1b142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c6a4ee831b48cb" /><Relationship Type="http://schemas.openxmlformats.org/officeDocument/2006/relationships/notesSlide" Target="/ppt/notesSlides/notesSlide1.xml" Id="R5e96b1cca1f842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32067129bf4303" /><Relationship Type="http://schemas.openxmlformats.org/officeDocument/2006/relationships/notesSlide" Target="/ppt/notesSlides/notesSlide2.xml" Id="R48fb2f5bcab54f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0f7bab44584c9b" /><Relationship Type="http://schemas.openxmlformats.org/officeDocument/2006/relationships/notesSlide" Target="/ppt/notesSlides/notesSlide3.xml" Id="R5b1c409d864542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6d76567afd460b" /><Relationship Type="http://schemas.openxmlformats.org/officeDocument/2006/relationships/notesSlide" Target="/ppt/notesSlides/notesSlide4.xml" Id="Rff8c411b306f42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e37522d78242d3" /><Relationship Type="http://schemas.openxmlformats.org/officeDocument/2006/relationships/image" Target="/ppt/media/image.jpeg" Id="R5a42525a5a494b05" /><Relationship Type="http://schemas.openxmlformats.org/officeDocument/2006/relationships/notesSlide" Target="/ppt/notesSlides/notesSlide5.xml" Id="R72fdb35cf6764f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bfb77fd6de4688" /><Relationship Type="http://schemas.openxmlformats.org/officeDocument/2006/relationships/image" Target="/ppt/media/image2.jpeg" Id="R881d1f89c63c4af7" /><Relationship Type="http://schemas.openxmlformats.org/officeDocument/2006/relationships/notesSlide" Target="/ppt/notesSlides/notesSlide6.xml" Id="R771ec66742c140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a0d5dd00a44f06" /><Relationship Type="http://schemas.openxmlformats.org/officeDocument/2006/relationships/notesSlide" Target="/ppt/notesSlides/notesSlide7.xml" Id="Rf11661946f804d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1d1c14f0ef4b5c" /><Relationship Type="http://schemas.openxmlformats.org/officeDocument/2006/relationships/notesSlide" Target="/ppt/notesSlides/notesSlide8.xml" Id="R73a4c17356f445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bd2f5a79ab4145" /><Relationship Type="http://schemas.openxmlformats.org/officeDocument/2006/relationships/image" Target="/ppt/media/image3.jpeg" Id="R5a16a74abcc04d0a" /><Relationship Type="http://schemas.openxmlformats.org/officeDocument/2006/relationships/notesSlide" Target="/ppt/notesSlides/notesSlide9.xml" Id="R23552c8f5d4342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d6b068e52e4d7c" /><Relationship Type="http://schemas.openxmlformats.org/officeDocument/2006/relationships/notesSlide" Target="/ppt/notesSlides/notesSlide10.xml" Id="Rf8da666ffb474e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0154f761a144bd" /><Relationship Type="http://schemas.openxmlformats.org/officeDocument/2006/relationships/notesSlide" Target="/ppt/notesSlides/notesSlide11.xml" Id="R3b31ea7e2cb84b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a1728132a34925" /><Relationship Type="http://schemas.openxmlformats.org/officeDocument/2006/relationships/notesSlide" Target="/ppt/notesSlides/notesSlide12.xml" Id="R7016a40b0d1340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c256069b3544bd4" /><Relationship Type="http://schemas.openxmlformats.org/officeDocument/2006/relationships/notesSlide" Target="/ppt/notesSlides/notesSlide13.xml" Id="R224483be2dbc46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4af72258674053" /><Relationship Type="http://schemas.openxmlformats.org/officeDocument/2006/relationships/notesSlide" Target="/ppt/notesSlides/notesSlide14.xml" Id="R59e885f208c14e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07f98d24754858" /><Relationship Type="http://schemas.openxmlformats.org/officeDocument/2006/relationships/notesSlide" Target="/ppt/notesSlides/notesSlide15.xml" Id="R837ba75a061049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a5928759ca485f" /><Relationship Type="http://schemas.openxmlformats.org/officeDocument/2006/relationships/notesSlide" Target="/ppt/notesSlides/notesSlide16.xml" Id="Rdeda01a1d2a248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7c8591454d47dd" /><Relationship Type="http://schemas.openxmlformats.org/officeDocument/2006/relationships/notesSlide" Target="/ppt/notesSlides/notesSlide17.xml" Id="R9f95a9ce610f44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27e73037ae4ac2" /><Relationship Type="http://schemas.openxmlformats.org/officeDocument/2006/relationships/notesSlide" Target="/ppt/notesSlides/notesSlide18.xml" Id="R0c1dddd4dbd842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1f0fe73c324021" /><Relationship Type="http://schemas.openxmlformats.org/officeDocument/2006/relationships/image" Target="/ppt/media/image4.jpeg" Id="R926895b4b366407b" /><Relationship Type="http://schemas.openxmlformats.org/officeDocument/2006/relationships/notesSlide" Target="/ppt/notesSlides/notesSlide19.xml" Id="Rfe6ebdf81d5e46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d4311b422584968" /><Relationship Type="http://schemas.openxmlformats.org/officeDocument/2006/relationships/notesSlide" Target="/ppt/notesSlides/notesSlide20.xml" Id="R96ca8c2fd87148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11d44c8a6904591" /><Relationship Type="http://schemas.openxmlformats.org/officeDocument/2006/relationships/notesSlide" Target="/ppt/notesSlides/notesSlide21.xml" Id="Re3c9f1b4906847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c07e16a75c44724" /><Relationship Type="http://schemas.openxmlformats.org/officeDocument/2006/relationships/image" Target="/ppt/media/image5.jpeg" Id="Rc8dad0ad8cbe4e40" /><Relationship Type="http://schemas.openxmlformats.org/officeDocument/2006/relationships/notesSlide" Target="/ppt/notesSlides/notesSlide22.xml" Id="R97d92ac3ff2e48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e60d3cebc64cc6" /><Relationship Type="http://schemas.openxmlformats.org/officeDocument/2006/relationships/notesSlide" Target="/ppt/notesSlides/notesSlide23.xml" Id="Rc19ae501bcc446b9" /></Relationships>
</file>

<file path=ppt/slides/slide1.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4ED33E-5AF4-4F60-B2DA-3FFBF1C864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258CB8-B1FF-4370-8142-6514447B2677}"/>
              </a:ext>
            </a:extLst>
          </p:cNvPr>
          <p:cNvSpPr>
            <a:spLocks xmlns:a="http://schemas.openxmlformats.org/drawingml/2006/main" noGrp="1"/>
          </p:cNvSpPr>
          <p:nvPr/>
        </p:nvSpPr>
        <p:spPr>
          <a:xfrm xmlns:a="http://schemas.openxmlformats.org/drawingml/2006/main">
            <a:off x="819150" y="8572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defRPr>
            </a:pPr>
            <a:r>
              <a:rPr sz="4050" b="1">
                <a:solidFill>
                  <a:srgbClr val="FFFFFF"/>
                </a:solidFill>
              </a:rPr>
              <a:t>持続化補助金</a:t>
            </a:r>
          </a:p>
          <a:p xmlns:a="http://schemas.openxmlformats.org/drawingml/2006/main">
            <a:pPr algn="l">
              <a:defRPr sz="4050" b="1">
                <a:solidFill>
                  <a:srgbClr val="FFFFFF"/>
                </a:solidFill>
              </a:defRPr>
            </a:pPr>
            <a:r>
              <a:rPr sz="4050" b="1">
                <a:solidFill>
                  <a:srgbClr val="FFFFFF"/>
                </a:solidFill>
              </a:rPr>
              <a:t>実績報告</a:t>
            </a:r>
          </a:p>
        </p:txBody>
      </p:sp>
      <p:sp>
        <p:nvSpPr>
          <p:cNvPr id="3" name="">
            <a:extLst xmlns:a="http://schemas.openxmlformats.org/drawingml/2006/main">
              <a:ext uri="{FF2B5EF4-FFF2-40B4-BE49-F238E27FC236}">
                <a16:creationId xmlns:a16="http://schemas.microsoft.com/office/drawing/2014/main" id="{12203ACB-8A30-4C9E-8987-1D0C8AC6147A}"/>
              </a:ext>
            </a:extLst>
          </p:cNvPr>
          <p:cNvSpPr>
            <a:spLocks xmlns:a="http://schemas.openxmlformats.org/drawingml/2006/main" noGrp="1"/>
          </p:cNvSpPr>
          <p:nvPr/>
        </p:nvSpPr>
        <p:spPr>
          <a:xfrm xmlns:a="http://schemas.openxmlformats.org/drawingml/2006/main">
            <a:off x="819150" y="2247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E7C98C"/>
                </a:solidFill>
              </a:defRPr>
            </a:pPr>
            <a:r>
              <a:rPr sz="2700" b="1">
                <a:solidFill>
                  <a:srgbClr val="E7C98C"/>
                </a:solidFill>
              </a:rPr>
              <a:t>やさしい手順と</a:t>
            </a:r>
          </a:p>
          <a:p xmlns:a="http://schemas.openxmlformats.org/drawingml/2006/main">
            <a:pPr algn="l">
              <a:defRPr sz="2700" b="1">
                <a:solidFill>
                  <a:srgbClr val="E7C98C"/>
                </a:solidFill>
              </a:defRPr>
            </a:pPr>
            <a:r>
              <a:rPr sz="2700" b="1">
                <a:solidFill>
                  <a:srgbClr val="E7C98C"/>
                </a:solidFill>
              </a:rPr>
              <a:t>よくある不備解消マニュアル</a:t>
            </a:r>
          </a:p>
        </p:txBody>
      </p:sp>
      <p:sp>
        <p:nvSpPr>
          <p:cNvPr id="4" name="">
            <a:extLst xmlns:a="http://schemas.openxmlformats.org/drawingml/2006/main">
              <a:ext uri="{FF2B5EF4-FFF2-40B4-BE49-F238E27FC236}">
                <a16:creationId xmlns:a16="http://schemas.microsoft.com/office/drawing/2014/main" id="{5AEE19E1-AD71-46ED-B3DE-A908FE75C1D0}"/>
              </a:ext>
            </a:extLst>
          </p:cNvPr>
          <p:cNvSpPr>
            <a:spLocks xmlns:a="http://schemas.openxmlformats.org/drawingml/2006/main" noGrp="1"/>
          </p:cNvSpPr>
          <p:nvPr/>
        </p:nvSpPr>
        <p:spPr>
          <a:xfrm xmlns:a="http://schemas.openxmlformats.org/drawingml/2006/main">
            <a:off x="7524750" y="838200"/>
            <a:ext cx="3562350" cy="4229100"/>
          </a:xfrm>
          <a:prstGeom xmlns:a="http://schemas.openxmlformats.org/drawingml/2006/main" prst="roundRect">
            <a:avLst>
              <a:gd name="adj" fmla="val 3209"/>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4F06E11E-26D7-4BBC-B1A0-70A4C473951F}"/>
              </a:ext>
            </a:extLst>
          </p:cNvPr>
          <p:cNvSpPr>
            <a:spLocks xmlns:a="http://schemas.openxmlformats.org/drawingml/2006/main" noGrp="1"/>
          </p:cNvSpPr>
          <p:nvPr/>
        </p:nvSpPr>
        <p:spPr>
          <a:xfrm xmlns:a="http://schemas.openxmlformats.org/drawingml/2006/main">
            <a:off x="8020050" y="13716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E7C98C"/>
                </a:solidFill>
              </a:defRPr>
            </a:pPr>
            <a:r>
              <a:rPr sz="1950" b="1">
                <a:solidFill>
                  <a:srgbClr val="E7C98C"/>
                </a:solidFill>
              </a:rPr>
              <a:t>第5分冊</a:t>
            </a:r>
          </a:p>
        </p:txBody>
      </p:sp>
      <p:sp>
        <p:nvSpPr>
          <p:cNvPr id="6" name="">
            <a:extLst xmlns:a="http://schemas.openxmlformats.org/drawingml/2006/main">
              <a:ext uri="{FF2B5EF4-FFF2-40B4-BE49-F238E27FC236}">
                <a16:creationId xmlns:a16="http://schemas.microsoft.com/office/drawing/2014/main" id="{5E674E7E-D9D8-4E92-A98E-A5B8C04430BF}"/>
              </a:ext>
            </a:extLst>
          </p:cNvPr>
          <p:cNvSpPr>
            <a:spLocks xmlns:a="http://schemas.openxmlformats.org/drawingml/2006/main" noGrp="1"/>
          </p:cNvSpPr>
          <p:nvPr/>
        </p:nvSpPr>
        <p:spPr>
          <a:xfrm xmlns:a="http://schemas.openxmlformats.org/drawingml/2006/main">
            <a:off x="7981950" y="21336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特殊項目・不備・差戻し・精算払</a:t>
            </a:r>
          </a:p>
        </p:txBody>
      </p:sp>
      <p:sp>
        <p:nvSpPr>
          <p:cNvPr id="7" name="">
            <a:extLst xmlns:a="http://schemas.openxmlformats.org/drawingml/2006/main">
              <a:ext uri="{FF2B5EF4-FFF2-40B4-BE49-F238E27FC236}">
                <a16:creationId xmlns:a16="http://schemas.microsoft.com/office/drawing/2014/main" id="{64BF903B-8080-4DAE-935A-D480239CFAFC}"/>
              </a:ext>
            </a:extLst>
          </p:cNvPr>
          <p:cNvSpPr>
            <a:spLocks xmlns:a="http://schemas.openxmlformats.org/drawingml/2006/main" noGrp="1"/>
          </p:cNvSpPr>
          <p:nvPr/>
        </p:nvSpPr>
        <p:spPr>
          <a:xfrm xmlns:a="http://schemas.openxmlformats.org/drawingml/2006/main">
            <a:off x="8020050" y="3886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C8D9D1"/>
                </a:solidFill>
              </a:defRPr>
            </a:pPr>
            <a:r>
              <a:rPr sz="1425" b="0">
                <a:solidFill>
                  <a:srgbClr val="C8D9D1"/>
                </a:solidFill>
              </a:rPr>
              <a:t>第8章〜第11章</a:t>
            </a:r>
          </a:p>
        </p:txBody>
      </p:sp>
      <p:sp>
        <p:nvSpPr>
          <p:cNvPr id="8" name="">
            <a:extLst xmlns:a="http://schemas.openxmlformats.org/drawingml/2006/main">
              <a:ext uri="{FF2B5EF4-FFF2-40B4-BE49-F238E27FC236}">
                <a16:creationId xmlns:a16="http://schemas.microsoft.com/office/drawing/2014/main" id="{91A903EC-F335-4EC8-A4B6-BF55A53B3751}"/>
              </a:ext>
            </a:extLst>
          </p:cNvPr>
          <p:cNvSpPr>
            <a:spLocks xmlns:a="http://schemas.openxmlformats.org/drawingml/2006/main" noGrp="1"/>
          </p:cNvSpPr>
          <p:nvPr/>
        </p:nvSpPr>
        <p:spPr>
          <a:xfrm xmlns:a="http://schemas.openxmlformats.org/drawingml/2006/main">
            <a:off x="819150" y="6000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C8D9D1"/>
                </a:solidFill>
              </a:defRPr>
            </a:pPr>
            <a:r>
              <a:rPr sz="1200" b="0">
                <a:solidFill>
                  <a:srgbClr val="C8D9D1"/>
                </a:solidFill>
              </a:rPr>
              <a:t>Well Consultant合同会社｜完全オンライン対応</a:t>
            </a:r>
          </a:p>
        </p:txBody>
      </p:sp>
    </p:spTree>
    <p:extLst>
      <p:ext uri="{BB962C8B-B14F-4D97-AF65-F5344CB8AC3E}">
        <p14:creationId xmlns:p14="http://schemas.microsoft.com/office/powerpoint/2010/main" val="1435088979"/>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74327F-A51F-4C3A-B703-59F6AABB1D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6C88AF-6988-4A7C-9271-1DE93807E40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A043ECFB-08B6-4043-96C2-B6E36608476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F28D70DA-E998-498A-A67E-3582F3C98AA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02</a:t>
            </a:r>
          </a:p>
        </p:txBody>
      </p:sp>
      <p:sp>
        <p:nvSpPr>
          <p:cNvPr id="5" name="">
            <a:extLst xmlns:a="http://schemas.openxmlformats.org/drawingml/2006/main">
              <a:ext uri="{FF2B5EF4-FFF2-40B4-BE49-F238E27FC236}">
                <a16:creationId xmlns:a16="http://schemas.microsoft.com/office/drawing/2014/main" id="{7EB19390-3F2B-49EE-99F9-FCAE921966DF}"/>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08</a:t>
            </a:r>
          </a:p>
        </p:txBody>
      </p:sp>
      <p:sp>
        <p:nvSpPr>
          <p:cNvPr id="6" name="">
            <a:extLst xmlns:a="http://schemas.openxmlformats.org/drawingml/2006/main">
              <a:ext uri="{FF2B5EF4-FFF2-40B4-BE49-F238E27FC236}">
                <a16:creationId xmlns:a16="http://schemas.microsoft.com/office/drawing/2014/main" id="{8CE1FD0B-A1B3-49DA-90B0-CE069CF5F939}"/>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賃金引上げ・取得財産・収益納付</a:t>
            </a:r>
          </a:p>
        </p:txBody>
      </p:sp>
      <p:sp>
        <p:nvSpPr>
          <p:cNvPr id="7" name="">
            <a:extLst xmlns:a="http://schemas.openxmlformats.org/drawingml/2006/main">
              <a:ext uri="{FF2B5EF4-FFF2-40B4-BE49-F238E27FC236}">
                <a16:creationId xmlns:a16="http://schemas.microsoft.com/office/drawing/2014/main" id="{501FD6CF-57FE-4A71-BE07-A44182D49D36}"/>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5C3FF2-4FF2-431F-80AD-D62F56C8AEC7}"/>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230209388"/>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B692FF-D672-46AF-8BC6-CFC7CFD143F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4E15B1-95E4-4E5A-92C5-6BB892DFF69A}"/>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4F950A26-904B-41F1-87DC-7DDDCD7B624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1E1943A3-326F-4A55-B5DD-213D6C96C4E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03</a:t>
            </a:r>
          </a:p>
        </p:txBody>
      </p:sp>
      <p:sp>
        <p:nvSpPr>
          <p:cNvPr id="5" name="">
            <a:extLst xmlns:a="http://schemas.openxmlformats.org/drawingml/2006/main">
              <a:ext uri="{FF2B5EF4-FFF2-40B4-BE49-F238E27FC236}">
                <a16:creationId xmlns:a16="http://schemas.microsoft.com/office/drawing/2014/main" id="{97D13656-AC1B-42B8-A8C9-594F3231A7F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賃金引上げ特例・加点を利用した場合</a:t>
            </a:r>
          </a:p>
        </p:txBody>
      </p:sp>
      <p:sp>
        <p:nvSpPr>
          <p:cNvPr id="6" name="">
            <a:extLst xmlns:a="http://schemas.openxmlformats.org/drawingml/2006/main">
              <a:ext uri="{FF2B5EF4-FFF2-40B4-BE49-F238E27FC236}">
                <a16:creationId xmlns:a16="http://schemas.microsoft.com/office/drawing/2014/main" id="{3955892B-63C4-4F14-8EA8-FE37C092104F}"/>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3A88A58-9667-4A86-A295-0BB44E7DCE4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89DC640-E250-451E-82DB-1D848B8FAC1F}"/>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CBB86DF-C0E8-4F23-8164-576BB2440485}"/>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該当者には専用画面が表示されます。</a:t>
            </a:r>
          </a:p>
        </p:txBody>
      </p:sp>
      <p:sp>
        <p:nvSpPr>
          <p:cNvPr id="10" name="">
            <a:extLst xmlns:a="http://schemas.openxmlformats.org/drawingml/2006/main">
              <a:ext uri="{FF2B5EF4-FFF2-40B4-BE49-F238E27FC236}">
                <a16:creationId xmlns:a16="http://schemas.microsoft.com/office/drawing/2014/main" id="{A52CE9C6-428B-434F-A0F8-A616781840A5}"/>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7E22C43-9353-417B-8C89-D9F84CBE6B84}"/>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役員・専従者を除く全従業員について、直近1か月分の賃金台帳、雇用条件がわかる書類、必要に応じて従業員一覧を添付します。</a:t>
            </a:r>
          </a:p>
        </p:txBody>
      </p:sp>
      <p:sp>
        <p:nvSpPr>
          <p:cNvPr id="12" name="">
            <a:extLst xmlns:a="http://schemas.openxmlformats.org/drawingml/2006/main">
              <a:ext uri="{FF2B5EF4-FFF2-40B4-BE49-F238E27FC236}">
                <a16:creationId xmlns:a16="http://schemas.microsoft.com/office/drawing/2014/main" id="{DCE5ACFD-0B1E-4D18-A58D-A6BCCDB2F22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E0ECA88-EFBB-42CC-881B-EEC7AB1D32E9}"/>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時給制、日給制、月給制に応じて時間換算額を計算します。</a:t>
            </a:r>
          </a:p>
        </p:txBody>
      </p:sp>
      <p:sp>
        <p:nvSpPr>
          <p:cNvPr id="14" name="">
            <a:extLst xmlns:a="http://schemas.openxmlformats.org/drawingml/2006/main">
              <a:ext uri="{FF2B5EF4-FFF2-40B4-BE49-F238E27FC236}">
                <a16:creationId xmlns:a16="http://schemas.microsoft.com/office/drawing/2014/main" id="{94C4D585-8D21-4727-B448-C4E6B9F1E347}"/>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41943589"/>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1EB4BF-9DA7-4AF9-B7D7-372CF765318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C8DAD6-EA1B-4A53-94D3-234E9E8CCB46}"/>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FBD23F06-6809-45A8-BCBA-4548BD55D93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7CF83C61-C607-4331-8C6C-D2F8116D7FE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04</a:t>
            </a:r>
          </a:p>
        </p:txBody>
      </p:sp>
      <p:sp>
        <p:nvSpPr>
          <p:cNvPr id="5" name="">
            <a:extLst xmlns:a="http://schemas.openxmlformats.org/drawingml/2006/main">
              <a:ext uri="{FF2B5EF4-FFF2-40B4-BE49-F238E27FC236}">
                <a16:creationId xmlns:a16="http://schemas.microsoft.com/office/drawing/2014/main" id="{B1FD8C69-2607-403B-A681-A967215B18E2}"/>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取得財産等管理明細表</a:t>
            </a:r>
          </a:p>
        </p:txBody>
      </p:sp>
      <p:sp>
        <p:nvSpPr>
          <p:cNvPr id="6" name="">
            <a:extLst xmlns:a="http://schemas.openxmlformats.org/drawingml/2006/main">
              <a:ext uri="{FF2B5EF4-FFF2-40B4-BE49-F238E27FC236}">
                <a16:creationId xmlns:a16="http://schemas.microsoft.com/office/drawing/2014/main" id="{06017067-E407-4967-9D80-86E1E2FE77F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C99702-AED6-4CC1-A374-C58253A304B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9FA60B9A-3F44-4350-BB6C-BBDEC071D6A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68C363-62DB-4431-AC54-AD12F2642E76}"/>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単価税抜50万円以上の機械装置等や、一定の店舗改装など、処分制限財産に該当する場合は登録が必要です。</a:t>
            </a:r>
          </a:p>
        </p:txBody>
      </p:sp>
      <p:sp>
        <p:nvSpPr>
          <p:cNvPr id="10" name="">
            <a:extLst xmlns:a="http://schemas.openxmlformats.org/drawingml/2006/main">
              <a:ext uri="{FF2B5EF4-FFF2-40B4-BE49-F238E27FC236}">
                <a16:creationId xmlns:a16="http://schemas.microsoft.com/office/drawing/2014/main" id="{55B32A13-AD28-4791-BDAB-AD40A086C4C2}"/>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D8EE236-A7DC-4B02-BCE0-DE7B63DBF1D3}"/>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財産名、規格、数量、単価、取得年月日、保管場所を入力します。</a:t>
            </a:r>
          </a:p>
        </p:txBody>
      </p:sp>
      <p:sp>
        <p:nvSpPr>
          <p:cNvPr id="12" name="">
            <a:extLst xmlns:a="http://schemas.openxmlformats.org/drawingml/2006/main">
              <a:ext uri="{FF2B5EF4-FFF2-40B4-BE49-F238E27FC236}">
                <a16:creationId xmlns:a16="http://schemas.microsoft.com/office/drawing/2014/main" id="{21EB346D-9C2F-487D-A682-819ABDB1C65B}"/>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19540D-6BDB-4BF6-8191-A34E45BF24AD}"/>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補助事業で取得した機械装置等には、採択回がわかる表示を付け、他の財産と区別して管理します。</a:t>
            </a:r>
          </a:p>
        </p:txBody>
      </p:sp>
      <p:sp>
        <p:nvSpPr>
          <p:cNvPr id="14" name="">
            <a:extLst xmlns:a="http://schemas.openxmlformats.org/drawingml/2006/main">
              <a:ext uri="{FF2B5EF4-FFF2-40B4-BE49-F238E27FC236}">
                <a16:creationId xmlns:a16="http://schemas.microsoft.com/office/drawing/2014/main" id="{5FBF7256-F2EE-45C3-BF47-68DB8DD1613D}"/>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541321785"/>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6F35D7-E6E0-422E-AFF1-C96D5861EA1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9987EA-6C17-49B6-8854-57DA2B54FC8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A98A3720-03B1-498F-BAF3-90C8E51DE40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0CD45C53-6F63-4ABB-A5E9-C3D2474D90B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05</a:t>
            </a:r>
          </a:p>
        </p:txBody>
      </p:sp>
      <p:sp>
        <p:nvSpPr>
          <p:cNvPr id="5" name="">
            <a:extLst xmlns:a="http://schemas.openxmlformats.org/drawingml/2006/main">
              <a:ext uri="{FF2B5EF4-FFF2-40B4-BE49-F238E27FC236}">
                <a16:creationId xmlns:a16="http://schemas.microsoft.com/office/drawing/2014/main" id="{5BB6966B-8962-45DC-8932-A2B206C3780D}"/>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取得財産等管理明細表</a:t>
            </a:r>
          </a:p>
        </p:txBody>
      </p:sp>
      <p:sp>
        <p:nvSpPr>
          <p:cNvPr id="6" name="">
            <a:extLst xmlns:a="http://schemas.openxmlformats.org/drawingml/2006/main">
              <a:ext uri="{FF2B5EF4-FFF2-40B4-BE49-F238E27FC236}">
                <a16:creationId xmlns:a16="http://schemas.microsoft.com/office/drawing/2014/main" id="{6F65ACD6-FA06-4249-963B-7671E7DDC764}"/>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42525a5a494b05"/>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8465FBF-8167-4804-877D-7A97C6DCCE4C}"/>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操作画面：取得財産等管理明細表から財産を追加。</a:t>
            </a:r>
          </a:p>
        </p:txBody>
      </p:sp>
    </p:spTree>
    <p:extLst>
      <p:ext uri="{BB962C8B-B14F-4D97-AF65-F5344CB8AC3E}">
        <p14:creationId xmlns:p14="http://schemas.microsoft.com/office/powerpoint/2010/main" val="632240607"/>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F9F52F-FC8D-47D2-8943-6087EFAB73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637E41-87B2-4816-B73A-6C0D7A414D2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CFC6C05A-9090-443C-AC2D-D57B57EF7447}"/>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B1068387-A963-4C26-AEB7-AEF4ADEC9AD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06</a:t>
            </a:r>
          </a:p>
        </p:txBody>
      </p:sp>
      <p:sp>
        <p:nvSpPr>
          <p:cNvPr id="5" name="">
            <a:extLst xmlns:a="http://schemas.openxmlformats.org/drawingml/2006/main">
              <a:ext uri="{FF2B5EF4-FFF2-40B4-BE49-F238E27FC236}">
                <a16:creationId xmlns:a16="http://schemas.microsoft.com/office/drawing/2014/main" id="{65D9B27C-91AD-4477-BC2F-C05BA360C347}"/>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取得財産等管理明細表</a:t>
            </a:r>
          </a:p>
        </p:txBody>
      </p:sp>
      <p:sp>
        <p:nvSpPr>
          <p:cNvPr id="6" name="">
            <a:extLst xmlns:a="http://schemas.openxmlformats.org/drawingml/2006/main">
              <a:ext uri="{FF2B5EF4-FFF2-40B4-BE49-F238E27FC236}">
                <a16:creationId xmlns:a16="http://schemas.microsoft.com/office/drawing/2014/main" id="{B060FD84-8110-4152-88BF-C73A0D5F9F17}"/>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81d1f89c63c4af7"/>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698DE6E-241A-431B-9B4C-4ACE6C2C5EE3}"/>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操作画面：財産名、規格、数量、単価、取得日、保管場所を入力。</a:t>
            </a:r>
          </a:p>
        </p:txBody>
      </p:sp>
    </p:spTree>
    <p:extLst>
      <p:ext uri="{BB962C8B-B14F-4D97-AF65-F5344CB8AC3E}">
        <p14:creationId xmlns:p14="http://schemas.microsoft.com/office/powerpoint/2010/main" val="1925135896"/>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A2CE18-AE99-4990-A7F7-7911272C77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BC0F6B-EC94-4BC7-9C0D-D9ADA71155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E158597E-8308-47D7-B68D-C96FCDFC5F8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FFBF8C24-9FC9-4FA1-A602-1EDD9EC8E72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07</a:t>
            </a:r>
          </a:p>
        </p:txBody>
      </p:sp>
      <p:sp>
        <p:nvSpPr>
          <p:cNvPr id="5" name="">
            <a:extLst xmlns:a="http://schemas.openxmlformats.org/drawingml/2006/main">
              <a:ext uri="{FF2B5EF4-FFF2-40B4-BE49-F238E27FC236}">
                <a16:creationId xmlns:a16="http://schemas.microsoft.com/office/drawing/2014/main" id="{15BC606F-3FCF-41CD-A978-E53A767772C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取得財産等管理明細表</a:t>
            </a:r>
          </a:p>
        </p:txBody>
      </p:sp>
      <p:sp>
        <p:nvSpPr>
          <p:cNvPr id="6" name="">
            <a:extLst xmlns:a="http://schemas.openxmlformats.org/drawingml/2006/main">
              <a:ext uri="{FF2B5EF4-FFF2-40B4-BE49-F238E27FC236}">
                <a16:creationId xmlns:a16="http://schemas.microsoft.com/office/drawing/2014/main" id="{109C598C-A490-4EB8-BC20-BA07A4CDC65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655961-FE80-435B-8E4C-E6B890B24A1F}"/>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9B2A532-FC9B-4129-9A74-BBC4D95965B2}"/>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305ABB8-E51E-40D0-BD59-2B3DE2ACB2FE}"/>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補助事業で取得した財産は、補助事業終了後も自由に売却、廃棄、譲渡、担保設定、目的外使用ができるとは限りません。</a:t>
            </a:r>
          </a:p>
        </p:txBody>
      </p:sp>
      <p:sp>
        <p:nvSpPr>
          <p:cNvPr id="10" name="">
            <a:extLst xmlns:a="http://schemas.openxmlformats.org/drawingml/2006/main">
              <a:ext uri="{FF2B5EF4-FFF2-40B4-BE49-F238E27FC236}">
                <a16:creationId xmlns:a16="http://schemas.microsoft.com/office/drawing/2014/main" id="{85B15831-E914-430B-AFD6-39C786B36915}"/>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7920092-6390-4585-9707-FCB421A2B7E9}"/>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処分制限期間内に処分する場合は、事前承認や補助金返還が必要になることがあります。</a:t>
            </a:r>
          </a:p>
        </p:txBody>
      </p:sp>
      <p:sp>
        <p:nvSpPr>
          <p:cNvPr id="12" name="">
            <a:extLst xmlns:a="http://schemas.openxmlformats.org/drawingml/2006/main">
              <a:ext uri="{FF2B5EF4-FFF2-40B4-BE49-F238E27FC236}">
                <a16:creationId xmlns:a16="http://schemas.microsoft.com/office/drawing/2014/main" id="{C3E5A309-0D1E-442B-920D-B37F890959C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4158484-8C3C-421A-81CA-AF6F251F39C7}"/>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設備の入替えや閉店時にも、自己判断で処分しないでください。</a:t>
            </a:r>
          </a:p>
        </p:txBody>
      </p:sp>
      <p:sp>
        <p:nvSpPr>
          <p:cNvPr id="14" name="">
            <a:extLst xmlns:a="http://schemas.openxmlformats.org/drawingml/2006/main">
              <a:ext uri="{FF2B5EF4-FFF2-40B4-BE49-F238E27FC236}">
                <a16:creationId xmlns:a16="http://schemas.microsoft.com/office/drawing/2014/main" id="{02ED515D-6812-4FBD-BB8A-000902D831E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116634922"/>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B6E5DF-4E99-4F36-9D13-06E1E7A70A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01F4E1-3968-4FA2-B978-C5E8CCC785F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CD7820B9-8524-4D6C-9B51-A9B9D3B8D15B}"/>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434A0A60-2DE9-4406-962A-894AF675D604}"/>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08</a:t>
            </a:r>
          </a:p>
        </p:txBody>
      </p:sp>
      <p:sp>
        <p:nvSpPr>
          <p:cNvPr id="5" name="">
            <a:extLst xmlns:a="http://schemas.openxmlformats.org/drawingml/2006/main">
              <a:ext uri="{FF2B5EF4-FFF2-40B4-BE49-F238E27FC236}">
                <a16:creationId xmlns:a16="http://schemas.microsoft.com/office/drawing/2014/main" id="{DE87CF1D-72E0-4135-906E-71F2733A289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収益納付</a:t>
            </a:r>
          </a:p>
        </p:txBody>
      </p:sp>
      <p:sp>
        <p:nvSpPr>
          <p:cNvPr id="6" name="">
            <a:extLst xmlns:a="http://schemas.openxmlformats.org/drawingml/2006/main">
              <a:ext uri="{FF2B5EF4-FFF2-40B4-BE49-F238E27FC236}">
                <a16:creationId xmlns:a16="http://schemas.microsoft.com/office/drawing/2014/main" id="{A2FA4BF4-50DF-4BB8-8921-F22EC78788EA}"/>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EAD17C-619F-46CE-ADD3-9841B1338F4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C3B1EE1-F34C-47FE-A797-017F80E94BFC}"/>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41C333-3A93-476E-8B79-7B292D6AD191}"/>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補助事業によって事業完了までに直接収益が発生した場合、補助金額から相当額が減額される場合があります。</a:t>
            </a:r>
          </a:p>
        </p:txBody>
      </p:sp>
      <p:sp>
        <p:nvSpPr>
          <p:cNvPr id="10" name="">
            <a:extLst xmlns:a="http://schemas.openxmlformats.org/drawingml/2006/main">
              <a:ext uri="{FF2B5EF4-FFF2-40B4-BE49-F238E27FC236}">
                <a16:creationId xmlns:a16="http://schemas.microsoft.com/office/drawing/2014/main" id="{9392114D-8AE7-4770-9548-73D24E7E7753}"/>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7AD120-B40F-4FA2-B072-1016400228BD}"/>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ただし、単に売上があっただけで必ず同額が減額されるわけではありません。</a:t>
            </a:r>
          </a:p>
        </p:txBody>
      </p:sp>
      <p:sp>
        <p:nvSpPr>
          <p:cNvPr id="12" name="">
            <a:extLst xmlns:a="http://schemas.openxmlformats.org/drawingml/2006/main">
              <a:ext uri="{FF2B5EF4-FFF2-40B4-BE49-F238E27FC236}">
                <a16:creationId xmlns:a16="http://schemas.microsoft.com/office/drawing/2014/main" id="{27678FD2-E7DE-4B78-9D07-53C93D18E491}"/>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753ED89-FA57-439F-A08A-55C513DD91F0}"/>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補助事業に直接関係する収入と経費を分け、売上台帳、請求書、原価資料などから計算根拠を説明できるようにします。</a:t>
            </a:r>
          </a:p>
        </p:txBody>
      </p:sp>
      <p:sp>
        <p:nvSpPr>
          <p:cNvPr id="14" name="">
            <a:extLst xmlns:a="http://schemas.openxmlformats.org/drawingml/2006/main">
              <a:ext uri="{FF2B5EF4-FFF2-40B4-BE49-F238E27FC236}">
                <a16:creationId xmlns:a16="http://schemas.microsoft.com/office/drawing/2014/main" id="{92054303-F797-4253-83F3-58DF8AE036C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375684546"/>
      </p:ext>
    </p:extLst>
  </p:cSld>
</p:sld>
</file>

<file path=ppt/slides/slide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2D4B65-E0BF-4C21-83A9-371FF917DF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17DD0B-3981-48AF-BAD0-6FBA8A3D37A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1BC98B94-891A-4201-A8EB-4017CAF9608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08</a:t>
            </a:r>
          </a:p>
        </p:txBody>
      </p:sp>
      <p:sp>
        <p:nvSpPr>
          <p:cNvPr id="4" name="">
            <a:extLst xmlns:a="http://schemas.openxmlformats.org/drawingml/2006/main">
              <a:ext uri="{FF2B5EF4-FFF2-40B4-BE49-F238E27FC236}">
                <a16:creationId xmlns:a16="http://schemas.microsoft.com/office/drawing/2014/main" id="{99CAF6E1-3DB2-4264-B7C6-98EAB0DD949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09</a:t>
            </a:r>
          </a:p>
        </p:txBody>
      </p:sp>
      <p:sp>
        <p:nvSpPr>
          <p:cNvPr id="5" name="">
            <a:extLst xmlns:a="http://schemas.openxmlformats.org/drawingml/2006/main">
              <a:ext uri="{FF2B5EF4-FFF2-40B4-BE49-F238E27FC236}">
                <a16:creationId xmlns:a16="http://schemas.microsoft.com/office/drawing/2014/main" id="{FB942C6F-53CA-4800-8CBA-21EAD8455FF2}"/>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収益納付</a:t>
            </a:r>
          </a:p>
        </p:txBody>
      </p:sp>
      <p:sp>
        <p:nvSpPr>
          <p:cNvPr id="6" name="">
            <a:extLst xmlns:a="http://schemas.openxmlformats.org/drawingml/2006/main">
              <a:ext uri="{FF2B5EF4-FFF2-40B4-BE49-F238E27FC236}">
                <a16:creationId xmlns:a16="http://schemas.microsoft.com/office/drawing/2014/main" id="{8ED93149-1AEC-4494-A51B-CC193A91231A}"/>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16a74abcc04d0a"/>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87DB7D8-6F19-40B4-A898-8BD47E95F785}"/>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資料画像：収益納付の考え方と、対象となる収益の確認。</a:t>
            </a:r>
          </a:p>
        </p:txBody>
      </p:sp>
    </p:spTree>
    <p:extLst>
      <p:ext uri="{BB962C8B-B14F-4D97-AF65-F5344CB8AC3E}">
        <p14:creationId xmlns:p14="http://schemas.microsoft.com/office/powerpoint/2010/main" val="437847314"/>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3C1EB5-1B73-4BD2-827B-98B0CA8636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8D99F3-B9E4-4C68-A1A8-F4843300268D}"/>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BECFF813-EEEB-4618-8F45-3C502DE10BD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09</a:t>
            </a:r>
          </a:p>
        </p:txBody>
      </p:sp>
      <p:sp>
        <p:nvSpPr>
          <p:cNvPr id="4" name="">
            <a:extLst xmlns:a="http://schemas.openxmlformats.org/drawingml/2006/main">
              <a:ext uri="{FF2B5EF4-FFF2-40B4-BE49-F238E27FC236}">
                <a16:creationId xmlns:a16="http://schemas.microsoft.com/office/drawing/2014/main" id="{A91A404D-77DA-47F7-A9C0-4AE0C518FF6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10</a:t>
            </a:r>
          </a:p>
        </p:txBody>
      </p:sp>
      <p:sp>
        <p:nvSpPr>
          <p:cNvPr id="5" name="">
            <a:extLst xmlns:a="http://schemas.openxmlformats.org/drawingml/2006/main">
              <a:ext uri="{FF2B5EF4-FFF2-40B4-BE49-F238E27FC236}">
                <a16:creationId xmlns:a16="http://schemas.microsoft.com/office/drawing/2014/main" id="{89E45583-07E6-48EC-862E-AD638A416250}"/>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09</a:t>
            </a:r>
          </a:p>
        </p:txBody>
      </p:sp>
      <p:sp>
        <p:nvSpPr>
          <p:cNvPr id="6" name="">
            <a:extLst xmlns:a="http://schemas.openxmlformats.org/drawingml/2006/main">
              <a:ext uri="{FF2B5EF4-FFF2-40B4-BE49-F238E27FC236}">
                <a16:creationId xmlns:a16="http://schemas.microsoft.com/office/drawing/2014/main" id="{F199A14D-BEB3-4AC7-9A7C-C1F339AD698D}"/>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よくある不備と、その直し方</a:t>
            </a:r>
          </a:p>
        </p:txBody>
      </p:sp>
      <p:sp>
        <p:nvSpPr>
          <p:cNvPr id="7" name="">
            <a:extLst xmlns:a="http://schemas.openxmlformats.org/drawingml/2006/main">
              <a:ext uri="{FF2B5EF4-FFF2-40B4-BE49-F238E27FC236}">
                <a16:creationId xmlns:a16="http://schemas.microsoft.com/office/drawing/2014/main" id="{F2EC9631-E441-402E-953C-CAB2E739B714}"/>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4B7859-48FF-4669-B131-58F69CD53268}"/>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079370774"/>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A2FBDF-5150-4CA8-BA19-F19C43A934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D8CEEE-2DC5-4923-B43F-BAE3C09D535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94939F46-7D1B-4092-A23F-48A31C38051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09</a:t>
            </a:r>
          </a:p>
        </p:txBody>
      </p:sp>
      <p:sp>
        <p:nvSpPr>
          <p:cNvPr id="4" name="">
            <a:extLst xmlns:a="http://schemas.openxmlformats.org/drawingml/2006/main">
              <a:ext uri="{FF2B5EF4-FFF2-40B4-BE49-F238E27FC236}">
                <a16:creationId xmlns:a16="http://schemas.microsoft.com/office/drawing/2014/main" id="{8AB7A808-7B6D-4A78-AF89-D9F5134CE81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11</a:t>
            </a:r>
          </a:p>
        </p:txBody>
      </p:sp>
      <p:sp>
        <p:nvSpPr>
          <p:cNvPr id="5" name="">
            <a:extLst xmlns:a="http://schemas.openxmlformats.org/drawingml/2006/main">
              <a:ext uri="{FF2B5EF4-FFF2-40B4-BE49-F238E27FC236}">
                <a16:creationId xmlns:a16="http://schemas.microsoft.com/office/drawing/2014/main" id="{4777CABF-598A-47DD-95BB-3D1083195217}"/>
              </a:ext>
            </a:extLst>
          </p:cNvPr>
          <p:cNvSpPr>
            <a:spLocks xmlns:a="http://schemas.openxmlformats.org/drawingml/2006/main" noGrp="1"/>
          </p:cNvSpPr>
          <p:nvPr/>
        </p:nvSpPr>
        <p:spPr>
          <a:xfrm xmlns:a="http://schemas.openxmlformats.org/drawingml/2006/main">
            <a:off x="685800" y="7239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372F"/>
                </a:solidFill>
              </a:defRPr>
            </a:pPr>
            <a:r>
              <a:rPr sz="2850" b="1">
                <a:solidFill>
                  <a:srgbClr val="17372F"/>
                </a:solidFill>
              </a:rPr>
              <a:t>よくある不備と、その直し方</a:t>
            </a:r>
          </a:p>
        </p:txBody>
      </p:sp>
      <p:sp>
        <p:nvSpPr>
          <p:cNvPr id="6" name="">
            <a:extLst xmlns:a="http://schemas.openxmlformats.org/drawingml/2006/main">
              <a:ext uri="{FF2B5EF4-FFF2-40B4-BE49-F238E27FC236}">
                <a16:creationId xmlns:a16="http://schemas.microsoft.com/office/drawing/2014/main" id="{F85B0B29-3529-4282-9034-5F329BB428BD}"/>
              </a:ext>
            </a:extLst>
          </p:cNvPr>
          <p:cNvSpPr>
            <a:spLocks xmlns:a="http://schemas.openxmlformats.org/drawingml/2006/main" noGrp="1"/>
          </p:cNvSpPr>
          <p:nvPr/>
        </p:nvSpPr>
        <p:spPr>
          <a:xfrm xmlns:a="http://schemas.openxmlformats.org/drawingml/2006/main">
            <a:off x="685800" y="1657350"/>
            <a:ext cx="3581400" cy="24645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7" name="">
            <a:extLst xmlns:a="http://schemas.openxmlformats.org/drawingml/2006/main">
              <a:ext uri="{FF2B5EF4-FFF2-40B4-BE49-F238E27FC236}">
                <a16:creationId xmlns:a16="http://schemas.microsoft.com/office/drawing/2014/main" id="{8A87CACC-1013-4E1C-9F1A-793B0539E3F8}"/>
              </a:ext>
            </a:extLst>
          </p:cNvPr>
          <p:cNvSpPr>
            <a:spLocks xmlns:a="http://schemas.openxmlformats.org/drawingml/2006/main" noGrp="1"/>
          </p:cNvSpPr>
          <p:nvPr/>
        </p:nvSpPr>
        <p:spPr>
          <a:xfrm xmlns:a="http://schemas.openxmlformats.org/drawingml/2006/main">
            <a:off x="781050" y="1714500"/>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不備・指摘</a:t>
            </a:r>
          </a:p>
        </p:txBody>
      </p:sp>
      <p:sp>
        <p:nvSpPr>
          <p:cNvPr id="8" name="">
            <a:extLst xmlns:a="http://schemas.openxmlformats.org/drawingml/2006/main">
              <a:ext uri="{FF2B5EF4-FFF2-40B4-BE49-F238E27FC236}">
                <a16:creationId xmlns:a16="http://schemas.microsoft.com/office/drawing/2014/main" id="{D0500B39-5814-478E-8330-CBC1811EEBF7}"/>
              </a:ext>
            </a:extLst>
          </p:cNvPr>
          <p:cNvSpPr>
            <a:spLocks xmlns:a="http://schemas.openxmlformats.org/drawingml/2006/main" noGrp="1"/>
          </p:cNvSpPr>
          <p:nvPr/>
        </p:nvSpPr>
        <p:spPr>
          <a:xfrm xmlns:a="http://schemas.openxmlformats.org/drawingml/2006/main">
            <a:off x="4267200" y="1657350"/>
            <a:ext cx="3581400" cy="24645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9" name="">
            <a:extLst xmlns:a="http://schemas.openxmlformats.org/drawingml/2006/main">
              <a:ext uri="{FF2B5EF4-FFF2-40B4-BE49-F238E27FC236}">
                <a16:creationId xmlns:a16="http://schemas.microsoft.com/office/drawing/2014/main" id="{8AE97ED0-FC38-41C1-864F-721BC501557E}"/>
              </a:ext>
            </a:extLst>
          </p:cNvPr>
          <p:cNvSpPr>
            <a:spLocks xmlns:a="http://schemas.openxmlformats.org/drawingml/2006/main" noGrp="1"/>
          </p:cNvSpPr>
          <p:nvPr/>
        </p:nvSpPr>
        <p:spPr>
          <a:xfrm xmlns:a="http://schemas.openxmlformats.org/drawingml/2006/main">
            <a:off x="4362450" y="1714500"/>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なぜ問題か</a:t>
            </a:r>
          </a:p>
        </p:txBody>
      </p:sp>
      <p:sp>
        <p:nvSpPr>
          <p:cNvPr id="10" name="">
            <a:extLst xmlns:a="http://schemas.openxmlformats.org/drawingml/2006/main">
              <a:ext uri="{FF2B5EF4-FFF2-40B4-BE49-F238E27FC236}">
                <a16:creationId xmlns:a16="http://schemas.microsoft.com/office/drawing/2014/main" id="{BFE6984C-F55F-4D3D-826F-6C357FB8B2D3}"/>
              </a:ext>
            </a:extLst>
          </p:cNvPr>
          <p:cNvSpPr>
            <a:spLocks xmlns:a="http://schemas.openxmlformats.org/drawingml/2006/main" noGrp="1"/>
          </p:cNvSpPr>
          <p:nvPr/>
        </p:nvSpPr>
        <p:spPr>
          <a:xfrm xmlns:a="http://schemas.openxmlformats.org/drawingml/2006/main">
            <a:off x="7848600" y="1657350"/>
            <a:ext cx="3581400" cy="24645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1" name="">
            <a:extLst xmlns:a="http://schemas.openxmlformats.org/drawingml/2006/main">
              <a:ext uri="{FF2B5EF4-FFF2-40B4-BE49-F238E27FC236}">
                <a16:creationId xmlns:a16="http://schemas.microsoft.com/office/drawing/2014/main" id="{AF3A1F8F-DC55-4393-B21C-B6755BAA681B}"/>
              </a:ext>
            </a:extLst>
          </p:cNvPr>
          <p:cNvSpPr>
            <a:spLocks xmlns:a="http://schemas.openxmlformats.org/drawingml/2006/main" noGrp="1"/>
          </p:cNvSpPr>
          <p:nvPr/>
        </p:nvSpPr>
        <p:spPr>
          <a:xfrm xmlns:a="http://schemas.openxmlformats.org/drawingml/2006/main">
            <a:off x="7943850" y="1714500"/>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解消方法</a:t>
            </a:r>
          </a:p>
        </p:txBody>
      </p:sp>
      <p:sp>
        <p:nvSpPr>
          <p:cNvPr id="12" name="">
            <a:extLst xmlns:a="http://schemas.openxmlformats.org/drawingml/2006/main">
              <a:ext uri="{FF2B5EF4-FFF2-40B4-BE49-F238E27FC236}">
                <a16:creationId xmlns:a16="http://schemas.microsoft.com/office/drawing/2014/main" id="{6F78B922-C356-4169-B265-A512D398BF73}"/>
              </a:ext>
            </a:extLst>
          </p:cNvPr>
          <p:cNvSpPr>
            <a:spLocks xmlns:a="http://schemas.openxmlformats.org/drawingml/2006/main" noGrp="1"/>
          </p:cNvSpPr>
          <p:nvPr/>
        </p:nvSpPr>
        <p:spPr>
          <a:xfrm xmlns:a="http://schemas.openxmlformats.org/drawingml/2006/main">
            <a:off x="685800" y="1903809"/>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3" name="">
            <a:extLst xmlns:a="http://schemas.openxmlformats.org/drawingml/2006/main">
              <a:ext uri="{FF2B5EF4-FFF2-40B4-BE49-F238E27FC236}">
                <a16:creationId xmlns:a16="http://schemas.microsoft.com/office/drawing/2014/main" id="{B875A076-C8B5-49C7-8900-AD95F778E9D8}"/>
              </a:ext>
            </a:extLst>
          </p:cNvPr>
          <p:cNvSpPr>
            <a:spLocks xmlns:a="http://schemas.openxmlformats.org/drawingml/2006/main" noGrp="1"/>
          </p:cNvSpPr>
          <p:nvPr/>
        </p:nvSpPr>
        <p:spPr>
          <a:xfrm xmlns:a="http://schemas.openxmlformats.org/drawingml/2006/main">
            <a:off x="781050" y="1960959"/>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見積書の宛名が空欄、個人名、屋号のみ</a:t>
            </a:r>
          </a:p>
        </p:txBody>
      </p:sp>
      <p:sp>
        <p:nvSpPr>
          <p:cNvPr id="14" name="">
            <a:extLst xmlns:a="http://schemas.openxmlformats.org/drawingml/2006/main">
              <a:ext uri="{FF2B5EF4-FFF2-40B4-BE49-F238E27FC236}">
                <a16:creationId xmlns:a16="http://schemas.microsoft.com/office/drawing/2014/main" id="{24CBE38D-AE19-498B-83CC-AC2590AC79CE}"/>
              </a:ext>
            </a:extLst>
          </p:cNvPr>
          <p:cNvSpPr>
            <a:spLocks xmlns:a="http://schemas.openxmlformats.org/drawingml/2006/main" noGrp="1"/>
          </p:cNvSpPr>
          <p:nvPr/>
        </p:nvSpPr>
        <p:spPr>
          <a:xfrm xmlns:a="http://schemas.openxmlformats.org/drawingml/2006/main">
            <a:off x="4267200" y="1903809"/>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5" name="">
            <a:extLst xmlns:a="http://schemas.openxmlformats.org/drawingml/2006/main">
              <a:ext uri="{FF2B5EF4-FFF2-40B4-BE49-F238E27FC236}">
                <a16:creationId xmlns:a16="http://schemas.microsoft.com/office/drawing/2014/main" id="{9BF74472-CF66-4D18-8D11-B67DDDF75423}"/>
              </a:ext>
            </a:extLst>
          </p:cNvPr>
          <p:cNvSpPr>
            <a:spLocks xmlns:a="http://schemas.openxmlformats.org/drawingml/2006/main" noGrp="1"/>
          </p:cNvSpPr>
          <p:nvPr/>
        </p:nvSpPr>
        <p:spPr>
          <a:xfrm xmlns:a="http://schemas.openxmlformats.org/drawingml/2006/main">
            <a:off x="4362450" y="1960959"/>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補助事業者に対する見積か確認できません。</a:t>
            </a:r>
          </a:p>
        </p:txBody>
      </p:sp>
      <p:sp>
        <p:nvSpPr>
          <p:cNvPr id="16" name="">
            <a:extLst xmlns:a="http://schemas.openxmlformats.org/drawingml/2006/main">
              <a:ext uri="{FF2B5EF4-FFF2-40B4-BE49-F238E27FC236}">
                <a16:creationId xmlns:a16="http://schemas.microsoft.com/office/drawing/2014/main" id="{1F3A8210-B479-4361-BD97-F494FC43FB11}"/>
              </a:ext>
            </a:extLst>
          </p:cNvPr>
          <p:cNvSpPr>
            <a:spLocks xmlns:a="http://schemas.openxmlformats.org/drawingml/2006/main" noGrp="1"/>
          </p:cNvSpPr>
          <p:nvPr/>
        </p:nvSpPr>
        <p:spPr>
          <a:xfrm xmlns:a="http://schemas.openxmlformats.org/drawingml/2006/main">
            <a:off x="7848600" y="1903809"/>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7" name="">
            <a:extLst xmlns:a="http://schemas.openxmlformats.org/drawingml/2006/main">
              <a:ext uri="{FF2B5EF4-FFF2-40B4-BE49-F238E27FC236}">
                <a16:creationId xmlns:a16="http://schemas.microsoft.com/office/drawing/2014/main" id="{A0BF3F09-337E-47E9-8443-871203077FBF}"/>
              </a:ext>
            </a:extLst>
          </p:cNvPr>
          <p:cNvSpPr>
            <a:spLocks xmlns:a="http://schemas.openxmlformats.org/drawingml/2006/main" noGrp="1"/>
          </p:cNvSpPr>
          <p:nvPr/>
        </p:nvSpPr>
        <p:spPr>
          <a:xfrm xmlns:a="http://schemas.openxmlformats.org/drawingml/2006/main">
            <a:off x="7943850" y="1960959"/>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法人は法人名、個人事業主は申請者名または申請上の屋号を含む宛名で再発行を依頼します。</a:t>
            </a:r>
          </a:p>
        </p:txBody>
      </p:sp>
      <p:sp>
        <p:nvSpPr>
          <p:cNvPr id="18" name="">
            <a:extLst xmlns:a="http://schemas.openxmlformats.org/drawingml/2006/main">
              <a:ext uri="{FF2B5EF4-FFF2-40B4-BE49-F238E27FC236}">
                <a16:creationId xmlns:a16="http://schemas.microsoft.com/office/drawing/2014/main" id="{C73DF34B-9012-4457-B949-F30CD83682EB}"/>
              </a:ext>
            </a:extLst>
          </p:cNvPr>
          <p:cNvSpPr>
            <a:spLocks xmlns:a="http://schemas.openxmlformats.org/drawingml/2006/main" noGrp="1"/>
          </p:cNvSpPr>
          <p:nvPr/>
        </p:nvSpPr>
        <p:spPr>
          <a:xfrm xmlns:a="http://schemas.openxmlformats.org/drawingml/2006/main">
            <a:off x="685800" y="2150269"/>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9" name="">
            <a:extLst xmlns:a="http://schemas.openxmlformats.org/drawingml/2006/main">
              <a:ext uri="{FF2B5EF4-FFF2-40B4-BE49-F238E27FC236}">
                <a16:creationId xmlns:a16="http://schemas.microsoft.com/office/drawing/2014/main" id="{B82D17E2-E168-45C4-BC2C-0E8554C54759}"/>
              </a:ext>
            </a:extLst>
          </p:cNvPr>
          <p:cNvSpPr>
            <a:spLocks xmlns:a="http://schemas.openxmlformats.org/drawingml/2006/main" noGrp="1"/>
          </p:cNvSpPr>
          <p:nvPr/>
        </p:nvSpPr>
        <p:spPr>
          <a:xfrm xmlns:a="http://schemas.openxmlformats.org/drawingml/2006/main">
            <a:off x="781050" y="2207419"/>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「一式」「諸経費」だけで内訳がない</a:t>
            </a:r>
          </a:p>
        </p:txBody>
      </p:sp>
      <p:sp>
        <p:nvSpPr>
          <p:cNvPr id="20" name="">
            <a:extLst xmlns:a="http://schemas.openxmlformats.org/drawingml/2006/main">
              <a:ext uri="{FF2B5EF4-FFF2-40B4-BE49-F238E27FC236}">
                <a16:creationId xmlns:a16="http://schemas.microsoft.com/office/drawing/2014/main" id="{AF36382E-CF64-4E54-8502-FDCB63CF3CCF}"/>
              </a:ext>
            </a:extLst>
          </p:cNvPr>
          <p:cNvSpPr>
            <a:spLocks xmlns:a="http://schemas.openxmlformats.org/drawingml/2006/main" noGrp="1"/>
          </p:cNvSpPr>
          <p:nvPr/>
        </p:nvSpPr>
        <p:spPr>
          <a:xfrm xmlns:a="http://schemas.openxmlformats.org/drawingml/2006/main">
            <a:off x="4267200" y="2150269"/>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1" name="">
            <a:extLst xmlns:a="http://schemas.openxmlformats.org/drawingml/2006/main">
              <a:ext uri="{FF2B5EF4-FFF2-40B4-BE49-F238E27FC236}">
                <a16:creationId xmlns:a16="http://schemas.microsoft.com/office/drawing/2014/main" id="{BB653A57-1A27-4C03-BC09-B69CA3311B77}"/>
              </a:ext>
            </a:extLst>
          </p:cNvPr>
          <p:cNvSpPr>
            <a:spLocks xmlns:a="http://schemas.openxmlformats.org/drawingml/2006/main" noGrp="1"/>
          </p:cNvSpPr>
          <p:nvPr/>
        </p:nvSpPr>
        <p:spPr>
          <a:xfrm xmlns:a="http://schemas.openxmlformats.org/drawingml/2006/main">
            <a:off x="4362450" y="2207419"/>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内容と価格の妥当性を判断できません。</a:t>
            </a:r>
          </a:p>
        </p:txBody>
      </p:sp>
      <p:sp>
        <p:nvSpPr>
          <p:cNvPr id="22" name="">
            <a:extLst xmlns:a="http://schemas.openxmlformats.org/drawingml/2006/main">
              <a:ext uri="{FF2B5EF4-FFF2-40B4-BE49-F238E27FC236}">
                <a16:creationId xmlns:a16="http://schemas.microsoft.com/office/drawing/2014/main" id="{92FAD3D0-2F00-498D-A829-9A22CB4DF29F}"/>
              </a:ext>
            </a:extLst>
          </p:cNvPr>
          <p:cNvSpPr>
            <a:spLocks xmlns:a="http://schemas.openxmlformats.org/drawingml/2006/main" noGrp="1"/>
          </p:cNvSpPr>
          <p:nvPr/>
        </p:nvSpPr>
        <p:spPr>
          <a:xfrm xmlns:a="http://schemas.openxmlformats.org/drawingml/2006/main">
            <a:off x="7848600" y="2150269"/>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3" name="">
            <a:extLst xmlns:a="http://schemas.openxmlformats.org/drawingml/2006/main">
              <a:ext uri="{FF2B5EF4-FFF2-40B4-BE49-F238E27FC236}">
                <a16:creationId xmlns:a16="http://schemas.microsoft.com/office/drawing/2014/main" id="{75259792-BAD4-4233-9E31-54EA86A4F393}"/>
              </a:ext>
            </a:extLst>
          </p:cNvPr>
          <p:cNvSpPr>
            <a:spLocks xmlns:a="http://schemas.openxmlformats.org/drawingml/2006/main" noGrp="1"/>
          </p:cNvSpPr>
          <p:nvPr/>
        </p:nvSpPr>
        <p:spPr>
          <a:xfrm xmlns:a="http://schemas.openxmlformats.org/drawingml/2006/main">
            <a:off x="7943850" y="2207419"/>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品名、仕様、数量、単価、作業項目を記載した内訳書または詳細見積書を追加します。</a:t>
            </a:r>
          </a:p>
        </p:txBody>
      </p:sp>
      <p:sp>
        <p:nvSpPr>
          <p:cNvPr id="24" name="">
            <a:extLst xmlns:a="http://schemas.openxmlformats.org/drawingml/2006/main">
              <a:ext uri="{FF2B5EF4-FFF2-40B4-BE49-F238E27FC236}">
                <a16:creationId xmlns:a16="http://schemas.microsoft.com/office/drawing/2014/main" id="{375AB815-20D6-4156-895A-84F1E4A83C5D}"/>
              </a:ext>
            </a:extLst>
          </p:cNvPr>
          <p:cNvSpPr>
            <a:spLocks xmlns:a="http://schemas.openxmlformats.org/drawingml/2006/main" noGrp="1"/>
          </p:cNvSpPr>
          <p:nvPr/>
        </p:nvSpPr>
        <p:spPr>
          <a:xfrm xmlns:a="http://schemas.openxmlformats.org/drawingml/2006/main">
            <a:off x="685800" y="2396728"/>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5" name="">
            <a:extLst xmlns:a="http://schemas.openxmlformats.org/drawingml/2006/main">
              <a:ext uri="{FF2B5EF4-FFF2-40B4-BE49-F238E27FC236}">
                <a16:creationId xmlns:a16="http://schemas.microsoft.com/office/drawing/2014/main" id="{9B04717E-55B0-44EE-B2A5-49973B791CB6}"/>
              </a:ext>
            </a:extLst>
          </p:cNvPr>
          <p:cNvSpPr>
            <a:spLocks xmlns:a="http://schemas.openxmlformats.org/drawingml/2006/main" noGrp="1"/>
          </p:cNvSpPr>
          <p:nvPr/>
        </p:nvSpPr>
        <p:spPr>
          <a:xfrm xmlns:a="http://schemas.openxmlformats.org/drawingml/2006/main">
            <a:off x="781050" y="2453878"/>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発注書がない</a:t>
            </a:r>
          </a:p>
        </p:txBody>
      </p:sp>
      <p:sp>
        <p:nvSpPr>
          <p:cNvPr id="26" name="">
            <a:extLst xmlns:a="http://schemas.openxmlformats.org/drawingml/2006/main">
              <a:ext uri="{FF2B5EF4-FFF2-40B4-BE49-F238E27FC236}">
                <a16:creationId xmlns:a16="http://schemas.microsoft.com/office/drawing/2014/main" id="{C604F0C3-CBFB-4BB8-A4B9-1ACA25D1A827}"/>
              </a:ext>
            </a:extLst>
          </p:cNvPr>
          <p:cNvSpPr>
            <a:spLocks xmlns:a="http://schemas.openxmlformats.org/drawingml/2006/main" noGrp="1"/>
          </p:cNvSpPr>
          <p:nvPr/>
        </p:nvSpPr>
        <p:spPr>
          <a:xfrm xmlns:a="http://schemas.openxmlformats.org/drawingml/2006/main">
            <a:off x="4267200" y="2396728"/>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7" name="">
            <a:extLst xmlns:a="http://schemas.openxmlformats.org/drawingml/2006/main">
              <a:ext uri="{FF2B5EF4-FFF2-40B4-BE49-F238E27FC236}">
                <a16:creationId xmlns:a16="http://schemas.microsoft.com/office/drawing/2014/main" id="{AB6D4DFD-96A0-4797-A53F-23B5B5AC16E3}"/>
              </a:ext>
            </a:extLst>
          </p:cNvPr>
          <p:cNvSpPr>
            <a:spLocks xmlns:a="http://schemas.openxmlformats.org/drawingml/2006/main" noGrp="1"/>
          </p:cNvSpPr>
          <p:nvPr/>
        </p:nvSpPr>
        <p:spPr>
          <a:xfrm xmlns:a="http://schemas.openxmlformats.org/drawingml/2006/main">
            <a:off x="4362450" y="2453878"/>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発注日が交付決定後か確認できません。</a:t>
            </a:r>
          </a:p>
        </p:txBody>
      </p:sp>
      <p:sp>
        <p:nvSpPr>
          <p:cNvPr id="28" name="">
            <a:extLst xmlns:a="http://schemas.openxmlformats.org/drawingml/2006/main">
              <a:ext uri="{FF2B5EF4-FFF2-40B4-BE49-F238E27FC236}">
                <a16:creationId xmlns:a16="http://schemas.microsoft.com/office/drawing/2014/main" id="{C1C43284-BAB5-41B5-BDE4-365EEF73F80D}"/>
              </a:ext>
            </a:extLst>
          </p:cNvPr>
          <p:cNvSpPr>
            <a:spLocks xmlns:a="http://schemas.openxmlformats.org/drawingml/2006/main" noGrp="1"/>
          </p:cNvSpPr>
          <p:nvPr/>
        </p:nvSpPr>
        <p:spPr>
          <a:xfrm xmlns:a="http://schemas.openxmlformats.org/drawingml/2006/main">
            <a:off x="7848600" y="2396728"/>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9" name="">
            <a:extLst xmlns:a="http://schemas.openxmlformats.org/drawingml/2006/main">
              <a:ext uri="{FF2B5EF4-FFF2-40B4-BE49-F238E27FC236}">
                <a16:creationId xmlns:a16="http://schemas.microsoft.com/office/drawing/2014/main" id="{4C9438B9-4664-460C-B578-1D7D4DDEDB16}"/>
              </a:ext>
            </a:extLst>
          </p:cNvPr>
          <p:cNvSpPr>
            <a:spLocks xmlns:a="http://schemas.openxmlformats.org/drawingml/2006/main" noGrp="1"/>
          </p:cNvSpPr>
          <p:nvPr/>
        </p:nvSpPr>
        <p:spPr>
          <a:xfrm xmlns:a="http://schemas.openxmlformats.org/drawingml/2006/main">
            <a:off x="7943850" y="2453878"/>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注文メール、注文履歴、契約書、受注確認書等を探します。取引先の新たな証明書だけで認められるとは限らないため、当時の客観…</a:t>
            </a:r>
          </a:p>
        </p:txBody>
      </p:sp>
      <p:sp>
        <p:nvSpPr>
          <p:cNvPr id="30" name="">
            <a:extLst xmlns:a="http://schemas.openxmlformats.org/drawingml/2006/main">
              <a:ext uri="{FF2B5EF4-FFF2-40B4-BE49-F238E27FC236}">
                <a16:creationId xmlns:a16="http://schemas.microsoft.com/office/drawing/2014/main" id="{D459D3B6-BF2D-426B-8D20-A6B3AE0233F2}"/>
              </a:ext>
            </a:extLst>
          </p:cNvPr>
          <p:cNvSpPr>
            <a:spLocks xmlns:a="http://schemas.openxmlformats.org/drawingml/2006/main" noGrp="1"/>
          </p:cNvSpPr>
          <p:nvPr/>
        </p:nvSpPr>
        <p:spPr>
          <a:xfrm xmlns:a="http://schemas.openxmlformats.org/drawingml/2006/main">
            <a:off x="685800" y="2643188"/>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1" name="">
            <a:extLst xmlns:a="http://schemas.openxmlformats.org/drawingml/2006/main">
              <a:ext uri="{FF2B5EF4-FFF2-40B4-BE49-F238E27FC236}">
                <a16:creationId xmlns:a16="http://schemas.microsoft.com/office/drawing/2014/main" id="{B8A4EF07-DFF4-4F02-BF12-65054E4E4BC5}"/>
              </a:ext>
            </a:extLst>
          </p:cNvPr>
          <p:cNvSpPr>
            <a:spLocks xmlns:a="http://schemas.openxmlformats.org/drawingml/2006/main" noGrp="1"/>
          </p:cNvSpPr>
          <p:nvPr/>
        </p:nvSpPr>
        <p:spPr>
          <a:xfrm xmlns:a="http://schemas.openxmlformats.org/drawingml/2006/main">
            <a:off x="781050" y="2700338"/>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納品書・完了報告書がない</a:t>
            </a:r>
          </a:p>
        </p:txBody>
      </p:sp>
      <p:sp>
        <p:nvSpPr>
          <p:cNvPr id="32" name="">
            <a:extLst xmlns:a="http://schemas.openxmlformats.org/drawingml/2006/main">
              <a:ext uri="{FF2B5EF4-FFF2-40B4-BE49-F238E27FC236}">
                <a16:creationId xmlns:a16="http://schemas.microsoft.com/office/drawing/2014/main" id="{4A5AAABA-2121-41B1-B567-88721C1B3C13}"/>
              </a:ext>
            </a:extLst>
          </p:cNvPr>
          <p:cNvSpPr>
            <a:spLocks xmlns:a="http://schemas.openxmlformats.org/drawingml/2006/main" noGrp="1"/>
          </p:cNvSpPr>
          <p:nvPr/>
        </p:nvSpPr>
        <p:spPr>
          <a:xfrm xmlns:a="http://schemas.openxmlformats.org/drawingml/2006/main">
            <a:off x="4267200" y="2643188"/>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3" name="">
            <a:extLst xmlns:a="http://schemas.openxmlformats.org/drawingml/2006/main">
              <a:ext uri="{FF2B5EF4-FFF2-40B4-BE49-F238E27FC236}">
                <a16:creationId xmlns:a16="http://schemas.microsoft.com/office/drawing/2014/main" id="{38AC19C1-9349-470D-8408-1AF789E041EE}"/>
              </a:ext>
            </a:extLst>
          </p:cNvPr>
          <p:cNvSpPr>
            <a:spLocks xmlns:a="http://schemas.openxmlformats.org/drawingml/2006/main" noGrp="1"/>
          </p:cNvSpPr>
          <p:nvPr/>
        </p:nvSpPr>
        <p:spPr>
          <a:xfrm xmlns:a="http://schemas.openxmlformats.org/drawingml/2006/main">
            <a:off x="4362450" y="2700338"/>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商品・役務を期間内に受け取ったか確認できません。</a:t>
            </a:r>
          </a:p>
        </p:txBody>
      </p:sp>
      <p:sp>
        <p:nvSpPr>
          <p:cNvPr id="34" name="">
            <a:extLst xmlns:a="http://schemas.openxmlformats.org/drawingml/2006/main">
              <a:ext uri="{FF2B5EF4-FFF2-40B4-BE49-F238E27FC236}">
                <a16:creationId xmlns:a16="http://schemas.microsoft.com/office/drawing/2014/main" id="{8B9475DE-F9F1-4D07-BF41-B24FA5209747}"/>
              </a:ext>
            </a:extLst>
          </p:cNvPr>
          <p:cNvSpPr>
            <a:spLocks xmlns:a="http://schemas.openxmlformats.org/drawingml/2006/main" noGrp="1"/>
          </p:cNvSpPr>
          <p:nvPr/>
        </p:nvSpPr>
        <p:spPr>
          <a:xfrm xmlns:a="http://schemas.openxmlformats.org/drawingml/2006/main">
            <a:off x="7848600" y="2643188"/>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5" name="">
            <a:extLst xmlns:a="http://schemas.openxmlformats.org/drawingml/2006/main">
              <a:ext uri="{FF2B5EF4-FFF2-40B4-BE49-F238E27FC236}">
                <a16:creationId xmlns:a16="http://schemas.microsoft.com/office/drawing/2014/main" id="{1C462759-12FE-44D1-8EFF-8D58440D7BD5}"/>
              </a:ext>
            </a:extLst>
          </p:cNvPr>
          <p:cNvSpPr>
            <a:spLocks xmlns:a="http://schemas.openxmlformats.org/drawingml/2006/main" noGrp="1"/>
          </p:cNvSpPr>
          <p:nvPr/>
        </p:nvSpPr>
        <p:spPr>
          <a:xfrm xmlns:a="http://schemas.openxmlformats.org/drawingml/2006/main">
            <a:off x="7943850" y="2700338"/>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取引先に納品書または完了報告書の発行を依頼します。ウェブ制作なら公開記録、成果物一覧、納品メールも添えます。</a:t>
            </a:r>
          </a:p>
        </p:txBody>
      </p:sp>
      <p:sp>
        <p:nvSpPr>
          <p:cNvPr id="36" name="">
            <a:extLst xmlns:a="http://schemas.openxmlformats.org/drawingml/2006/main">
              <a:ext uri="{FF2B5EF4-FFF2-40B4-BE49-F238E27FC236}">
                <a16:creationId xmlns:a16="http://schemas.microsoft.com/office/drawing/2014/main" id="{CB31BB76-5CBA-40B9-BFD7-5E60B2B15F12}"/>
              </a:ext>
            </a:extLst>
          </p:cNvPr>
          <p:cNvSpPr>
            <a:spLocks xmlns:a="http://schemas.openxmlformats.org/drawingml/2006/main" noGrp="1"/>
          </p:cNvSpPr>
          <p:nvPr/>
        </p:nvSpPr>
        <p:spPr>
          <a:xfrm xmlns:a="http://schemas.openxmlformats.org/drawingml/2006/main">
            <a:off x="685800" y="2889647"/>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7" name="">
            <a:extLst xmlns:a="http://schemas.openxmlformats.org/drawingml/2006/main">
              <a:ext uri="{FF2B5EF4-FFF2-40B4-BE49-F238E27FC236}">
                <a16:creationId xmlns:a16="http://schemas.microsoft.com/office/drawing/2014/main" id="{C514375E-4F1B-43D8-9D0A-53F5146A8D47}"/>
              </a:ext>
            </a:extLst>
          </p:cNvPr>
          <p:cNvSpPr>
            <a:spLocks xmlns:a="http://schemas.openxmlformats.org/drawingml/2006/main" noGrp="1"/>
          </p:cNvSpPr>
          <p:nvPr/>
        </p:nvSpPr>
        <p:spPr>
          <a:xfrm xmlns:a="http://schemas.openxmlformats.org/drawingml/2006/main">
            <a:off x="781050" y="2946797"/>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請求額と振込額が違う</a:t>
            </a:r>
          </a:p>
        </p:txBody>
      </p:sp>
      <p:sp>
        <p:nvSpPr>
          <p:cNvPr id="38" name="">
            <a:extLst xmlns:a="http://schemas.openxmlformats.org/drawingml/2006/main">
              <a:ext uri="{FF2B5EF4-FFF2-40B4-BE49-F238E27FC236}">
                <a16:creationId xmlns:a16="http://schemas.microsoft.com/office/drawing/2014/main" id="{E4A43CFE-494E-4EFE-BDBC-20DDF6E7F418}"/>
              </a:ext>
            </a:extLst>
          </p:cNvPr>
          <p:cNvSpPr>
            <a:spLocks xmlns:a="http://schemas.openxmlformats.org/drawingml/2006/main" noGrp="1"/>
          </p:cNvSpPr>
          <p:nvPr/>
        </p:nvSpPr>
        <p:spPr>
          <a:xfrm xmlns:a="http://schemas.openxmlformats.org/drawingml/2006/main">
            <a:off x="4267200" y="2889647"/>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9" name="">
            <a:extLst xmlns:a="http://schemas.openxmlformats.org/drawingml/2006/main">
              <a:ext uri="{FF2B5EF4-FFF2-40B4-BE49-F238E27FC236}">
                <a16:creationId xmlns:a16="http://schemas.microsoft.com/office/drawing/2014/main" id="{27DC2917-6ED5-44B4-A1D9-336C5A32B17B}"/>
              </a:ext>
            </a:extLst>
          </p:cNvPr>
          <p:cNvSpPr>
            <a:spLocks xmlns:a="http://schemas.openxmlformats.org/drawingml/2006/main" noGrp="1"/>
          </p:cNvSpPr>
          <p:nvPr/>
        </p:nvSpPr>
        <p:spPr>
          <a:xfrm xmlns:a="http://schemas.openxmlformats.org/drawingml/2006/main">
            <a:off x="4362450" y="2946797"/>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対象取引への支払いか判断できません。</a:t>
            </a:r>
          </a:p>
        </p:txBody>
      </p:sp>
      <p:sp>
        <p:nvSpPr>
          <p:cNvPr id="40" name="">
            <a:extLst xmlns:a="http://schemas.openxmlformats.org/drawingml/2006/main">
              <a:ext uri="{FF2B5EF4-FFF2-40B4-BE49-F238E27FC236}">
                <a16:creationId xmlns:a16="http://schemas.microsoft.com/office/drawing/2014/main" id="{BE81DABE-D27A-4C89-985B-CF5591FE65B4}"/>
              </a:ext>
            </a:extLst>
          </p:cNvPr>
          <p:cNvSpPr>
            <a:spLocks xmlns:a="http://schemas.openxmlformats.org/drawingml/2006/main" noGrp="1"/>
          </p:cNvSpPr>
          <p:nvPr/>
        </p:nvSpPr>
        <p:spPr>
          <a:xfrm xmlns:a="http://schemas.openxmlformats.org/drawingml/2006/main">
            <a:off x="7848600" y="2889647"/>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1" name="">
            <a:extLst xmlns:a="http://schemas.openxmlformats.org/drawingml/2006/main">
              <a:ext uri="{FF2B5EF4-FFF2-40B4-BE49-F238E27FC236}">
                <a16:creationId xmlns:a16="http://schemas.microsoft.com/office/drawing/2014/main" id="{430D0C42-E0BC-4C92-B32B-ED8E79CDE5B8}"/>
              </a:ext>
            </a:extLst>
          </p:cNvPr>
          <p:cNvSpPr>
            <a:spLocks xmlns:a="http://schemas.openxmlformats.org/drawingml/2006/main" noGrp="1"/>
          </p:cNvSpPr>
          <p:nvPr/>
        </p:nvSpPr>
        <p:spPr>
          <a:xfrm xmlns:a="http://schemas.openxmlformats.org/drawingml/2006/main">
            <a:off x="7943850" y="2946797"/>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振込手数料、相殺、複数請求の合算、値引き等の理由を説明し、内訳表と関連請求書を添付します。</a:t>
            </a:r>
          </a:p>
        </p:txBody>
      </p:sp>
      <p:sp>
        <p:nvSpPr>
          <p:cNvPr id="42" name="">
            <a:extLst xmlns:a="http://schemas.openxmlformats.org/drawingml/2006/main">
              <a:ext uri="{FF2B5EF4-FFF2-40B4-BE49-F238E27FC236}">
                <a16:creationId xmlns:a16="http://schemas.microsoft.com/office/drawing/2014/main" id="{DC170ABD-9AA5-4CD0-9B26-9A83C2EE47B7}"/>
              </a:ext>
            </a:extLst>
          </p:cNvPr>
          <p:cNvSpPr>
            <a:spLocks xmlns:a="http://schemas.openxmlformats.org/drawingml/2006/main" noGrp="1"/>
          </p:cNvSpPr>
          <p:nvPr/>
        </p:nvSpPr>
        <p:spPr>
          <a:xfrm xmlns:a="http://schemas.openxmlformats.org/drawingml/2006/main">
            <a:off x="685800" y="3136106"/>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3" name="">
            <a:extLst xmlns:a="http://schemas.openxmlformats.org/drawingml/2006/main">
              <a:ext uri="{FF2B5EF4-FFF2-40B4-BE49-F238E27FC236}">
                <a16:creationId xmlns:a16="http://schemas.microsoft.com/office/drawing/2014/main" id="{69E8D838-48BE-46CD-BA36-E4DE5A96B064}"/>
              </a:ext>
            </a:extLst>
          </p:cNvPr>
          <p:cNvSpPr>
            <a:spLocks xmlns:a="http://schemas.openxmlformats.org/drawingml/2006/main" noGrp="1"/>
          </p:cNvSpPr>
          <p:nvPr/>
        </p:nvSpPr>
        <p:spPr>
          <a:xfrm xmlns:a="http://schemas.openxmlformats.org/drawingml/2006/main">
            <a:off x="781050" y="3193256"/>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現金領収書だけを提出</a:t>
            </a:r>
          </a:p>
        </p:txBody>
      </p:sp>
      <p:sp>
        <p:nvSpPr>
          <p:cNvPr id="44" name="">
            <a:extLst xmlns:a="http://schemas.openxmlformats.org/drawingml/2006/main">
              <a:ext uri="{FF2B5EF4-FFF2-40B4-BE49-F238E27FC236}">
                <a16:creationId xmlns:a16="http://schemas.microsoft.com/office/drawing/2014/main" id="{4F3169C8-009F-45C1-83C5-DE1CC0513A69}"/>
              </a:ext>
            </a:extLst>
          </p:cNvPr>
          <p:cNvSpPr>
            <a:spLocks xmlns:a="http://schemas.openxmlformats.org/drawingml/2006/main" noGrp="1"/>
          </p:cNvSpPr>
          <p:nvPr/>
        </p:nvSpPr>
        <p:spPr>
          <a:xfrm xmlns:a="http://schemas.openxmlformats.org/drawingml/2006/main">
            <a:off x="4267200" y="3136106"/>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5" name="">
            <a:extLst xmlns:a="http://schemas.openxmlformats.org/drawingml/2006/main">
              <a:ext uri="{FF2B5EF4-FFF2-40B4-BE49-F238E27FC236}">
                <a16:creationId xmlns:a16="http://schemas.microsoft.com/office/drawing/2014/main" id="{28AB6E37-7C41-4D55-B57C-3989B838906E}"/>
              </a:ext>
            </a:extLst>
          </p:cNvPr>
          <p:cNvSpPr>
            <a:spLocks xmlns:a="http://schemas.openxmlformats.org/drawingml/2006/main" noGrp="1"/>
          </p:cNvSpPr>
          <p:nvPr/>
        </p:nvSpPr>
        <p:spPr>
          <a:xfrm xmlns:a="http://schemas.openxmlformats.org/drawingml/2006/main">
            <a:off x="4362450" y="3193256"/>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発注・納品の流れや対象経費の具体的内容が不足します。</a:t>
            </a:r>
          </a:p>
        </p:txBody>
      </p:sp>
      <p:sp>
        <p:nvSpPr>
          <p:cNvPr id="46" name="">
            <a:extLst xmlns:a="http://schemas.openxmlformats.org/drawingml/2006/main">
              <a:ext uri="{FF2B5EF4-FFF2-40B4-BE49-F238E27FC236}">
                <a16:creationId xmlns:a16="http://schemas.microsoft.com/office/drawing/2014/main" id="{58C8BB3E-1F81-44BE-AC29-548B6FA13AB7}"/>
              </a:ext>
            </a:extLst>
          </p:cNvPr>
          <p:cNvSpPr>
            <a:spLocks xmlns:a="http://schemas.openxmlformats.org/drawingml/2006/main" noGrp="1"/>
          </p:cNvSpPr>
          <p:nvPr/>
        </p:nvSpPr>
        <p:spPr>
          <a:xfrm xmlns:a="http://schemas.openxmlformats.org/drawingml/2006/main">
            <a:off x="7848600" y="3136106"/>
            <a:ext cx="3581400" cy="24645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7" name="">
            <a:extLst xmlns:a="http://schemas.openxmlformats.org/drawingml/2006/main">
              <a:ext uri="{FF2B5EF4-FFF2-40B4-BE49-F238E27FC236}">
                <a16:creationId xmlns:a16="http://schemas.microsoft.com/office/drawing/2014/main" id="{5B773235-AAAE-4C5C-B27F-FE6870D08A9F}"/>
              </a:ext>
            </a:extLst>
          </p:cNvPr>
          <p:cNvSpPr>
            <a:spLocks xmlns:a="http://schemas.openxmlformats.org/drawingml/2006/main" noGrp="1"/>
          </p:cNvSpPr>
          <p:nvPr/>
        </p:nvSpPr>
        <p:spPr>
          <a:xfrm xmlns:a="http://schemas.openxmlformats.org/drawingml/2006/main">
            <a:off x="7943850" y="3193256"/>
            <a:ext cx="3390900" cy="1321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見積、発注、納品、請求、商品写真を追加します。支払方法自体が認められるかも確認します。</a:t>
            </a:r>
          </a:p>
        </p:txBody>
      </p:sp>
    </p:spTree>
    <p:extLst>
      <p:ext uri="{BB962C8B-B14F-4D97-AF65-F5344CB8AC3E}">
        <p14:creationId xmlns:p14="http://schemas.microsoft.com/office/powerpoint/2010/main" val="1222503204"/>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490E2E-B181-4CDA-884B-61AE7DFDD39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C48B4C-1DAD-4203-969A-16CFF310A44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63E079CD-67B5-4B3A-91A9-57FD76CD63A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09</a:t>
            </a:r>
          </a:p>
        </p:txBody>
      </p:sp>
      <p:sp>
        <p:nvSpPr>
          <p:cNvPr id="4" name="">
            <a:extLst xmlns:a="http://schemas.openxmlformats.org/drawingml/2006/main">
              <a:ext uri="{FF2B5EF4-FFF2-40B4-BE49-F238E27FC236}">
                <a16:creationId xmlns:a16="http://schemas.microsoft.com/office/drawing/2014/main" id="{4C95FFB2-DBF5-43C0-98D1-7E76BB4D4A8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12</a:t>
            </a:r>
          </a:p>
        </p:txBody>
      </p:sp>
      <p:sp>
        <p:nvSpPr>
          <p:cNvPr id="5" name="">
            <a:extLst xmlns:a="http://schemas.openxmlformats.org/drawingml/2006/main">
              <a:ext uri="{FF2B5EF4-FFF2-40B4-BE49-F238E27FC236}">
                <a16:creationId xmlns:a16="http://schemas.microsoft.com/office/drawing/2014/main" id="{C73CB300-EA0D-4837-B29C-FFDD326DC3B3}"/>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不足書類を取引先へ頼む文例</a:t>
            </a:r>
          </a:p>
        </p:txBody>
      </p:sp>
      <p:sp>
        <p:nvSpPr>
          <p:cNvPr id="6" name="">
            <a:extLst xmlns:a="http://schemas.openxmlformats.org/drawingml/2006/main">
              <a:ext uri="{FF2B5EF4-FFF2-40B4-BE49-F238E27FC236}">
                <a16:creationId xmlns:a16="http://schemas.microsoft.com/office/drawing/2014/main" id="{596B34D5-AEF1-41E9-AFA7-50951CD27479}"/>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B246EE-81DE-44A1-86DB-8DA60DD6FE06}"/>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C95C8C12-920C-4E54-8927-CB3461D1C51C}"/>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A588B7-C061-49E8-8FE0-C708C0276DA1}"/>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件名：補助金実績報告に伴う書類発行のお願い株式会社〇〇 ご担当者様いつもお世話になっております。</a:t>
            </a:r>
          </a:p>
        </p:txBody>
      </p:sp>
      <p:sp>
        <p:nvSpPr>
          <p:cNvPr id="10" name="">
            <a:extLst xmlns:a="http://schemas.openxmlformats.org/drawingml/2006/main">
              <a:ext uri="{FF2B5EF4-FFF2-40B4-BE49-F238E27FC236}">
                <a16:creationId xmlns:a16="http://schemas.microsoft.com/office/drawing/2014/main" id="{4BC4C604-FE68-402C-8AEA-3E1A45F824DD}"/>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0200C01-2D9E-4EA0-8162-02CF77DD2CAC}"/>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〇月〇日に納品いただいた「〇〇」について、補助金の実績報告に必要なため、次の書類の発行をお願いいたします。</a:t>
            </a:r>
          </a:p>
        </p:txBody>
      </p:sp>
      <p:sp>
        <p:nvSpPr>
          <p:cNvPr id="12" name="">
            <a:extLst xmlns:a="http://schemas.openxmlformats.org/drawingml/2006/main">
              <a:ext uri="{FF2B5EF4-FFF2-40B4-BE49-F238E27FC236}">
                <a16:creationId xmlns:a16="http://schemas.microsoft.com/office/drawing/2014/main" id="{503D1BB6-6770-453B-A7B2-A5EA8D8194F1}"/>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B660BD2-D43C-420B-A7CB-95026DE16902}"/>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・納品日、宛名、品名、型番、数量が記載された納品書・作業内容と完了日が記載された完了報告書宛名は「株式会社△△」、対象取引は請求書番号〇〇です。</a:t>
            </a:r>
          </a:p>
        </p:txBody>
      </p:sp>
      <p:sp>
        <p:nvSpPr>
          <p:cNvPr id="14" name="">
            <a:extLst xmlns:a="http://schemas.openxmlformats.org/drawingml/2006/main">
              <a:ext uri="{FF2B5EF4-FFF2-40B4-BE49-F238E27FC236}">
                <a16:creationId xmlns:a16="http://schemas.microsoft.com/office/drawing/2014/main" id="{6DE9D460-3AE6-49D2-8D80-C74C8CC8C515}"/>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46917688"/>
      </p:ext>
    </p:extLst>
  </p:cSld>
</p:sld>
</file>

<file path=ppt/slides/slide1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AD2DD0-A7E7-4AB7-8208-9F4445F4961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30796B-099F-4A9B-92BA-B48EA255E9C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338AA987-251E-4511-A279-CD9114F579C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10</a:t>
            </a:r>
          </a:p>
        </p:txBody>
      </p:sp>
      <p:sp>
        <p:nvSpPr>
          <p:cNvPr id="4" name="">
            <a:extLst xmlns:a="http://schemas.openxmlformats.org/drawingml/2006/main">
              <a:ext uri="{FF2B5EF4-FFF2-40B4-BE49-F238E27FC236}">
                <a16:creationId xmlns:a16="http://schemas.microsoft.com/office/drawing/2014/main" id="{CFB0CF6D-4F01-4501-AAFF-6419ED6CA1C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13</a:t>
            </a:r>
          </a:p>
        </p:txBody>
      </p:sp>
      <p:sp>
        <p:nvSpPr>
          <p:cNvPr id="5" name="">
            <a:extLst xmlns:a="http://schemas.openxmlformats.org/drawingml/2006/main">
              <a:ext uri="{FF2B5EF4-FFF2-40B4-BE49-F238E27FC236}">
                <a16:creationId xmlns:a16="http://schemas.microsoft.com/office/drawing/2014/main" id="{F0B27255-8522-4541-A8DA-4E4604B98483}"/>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10</a:t>
            </a:r>
          </a:p>
        </p:txBody>
      </p:sp>
      <p:sp>
        <p:nvSpPr>
          <p:cNvPr id="6" name="">
            <a:extLst xmlns:a="http://schemas.openxmlformats.org/drawingml/2006/main">
              <a:ext uri="{FF2B5EF4-FFF2-40B4-BE49-F238E27FC236}">
                <a16:creationId xmlns:a16="http://schemas.microsoft.com/office/drawing/2014/main" id="{44AFD7C1-036F-4762-A559-98D8372588FA}"/>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差戻しが来たときの対応手順</a:t>
            </a:r>
          </a:p>
        </p:txBody>
      </p:sp>
      <p:sp>
        <p:nvSpPr>
          <p:cNvPr id="7" name="">
            <a:extLst xmlns:a="http://schemas.openxmlformats.org/drawingml/2006/main">
              <a:ext uri="{FF2B5EF4-FFF2-40B4-BE49-F238E27FC236}">
                <a16:creationId xmlns:a16="http://schemas.microsoft.com/office/drawing/2014/main" id="{B201E178-3E5E-43EE-AEF5-95E5B0CFFDDE}"/>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701DFAA-692E-45D2-8086-6E008169132F}"/>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443663892"/>
      </p:ext>
    </p:extLst>
  </p:cSld>
</p:sld>
</file>

<file path=ppt/slides/slide1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E60139-E297-4A68-8610-5AD67761839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5EC3F6-8119-499D-879A-99BB3F2C883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ECED2DC8-3E34-4143-AF88-D17E135B15A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10</a:t>
            </a:r>
          </a:p>
        </p:txBody>
      </p:sp>
      <p:sp>
        <p:nvSpPr>
          <p:cNvPr id="4" name="">
            <a:extLst xmlns:a="http://schemas.openxmlformats.org/drawingml/2006/main">
              <a:ext uri="{FF2B5EF4-FFF2-40B4-BE49-F238E27FC236}">
                <a16:creationId xmlns:a16="http://schemas.microsoft.com/office/drawing/2014/main" id="{9A9617FA-7B7D-43B5-B510-84500EA5A37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14</a:t>
            </a:r>
          </a:p>
        </p:txBody>
      </p:sp>
      <p:sp>
        <p:nvSpPr>
          <p:cNvPr id="5" name="">
            <a:extLst xmlns:a="http://schemas.openxmlformats.org/drawingml/2006/main">
              <a:ext uri="{FF2B5EF4-FFF2-40B4-BE49-F238E27FC236}">
                <a16:creationId xmlns:a16="http://schemas.microsoft.com/office/drawing/2014/main" id="{4EF4D236-F238-4759-A748-008B485A6295}"/>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差戻しが来たときの対応手順</a:t>
            </a:r>
          </a:p>
        </p:txBody>
      </p:sp>
      <p:sp>
        <p:nvSpPr>
          <p:cNvPr id="6" name="">
            <a:extLst xmlns:a="http://schemas.openxmlformats.org/drawingml/2006/main">
              <a:ext uri="{FF2B5EF4-FFF2-40B4-BE49-F238E27FC236}">
                <a16:creationId xmlns:a16="http://schemas.microsoft.com/office/drawing/2014/main" id="{D3B19E3E-30CE-4C1A-8A5D-0449789E5840}"/>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8D41EB-7431-44E5-B7AA-8C1B778CAA22}"/>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70C1DCD3-A2E5-4C5D-96C3-4B22A2A465A0}"/>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E68034B-FBEB-480C-B572-208F23E168D4}"/>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差戻しは、ただちに不採択や補助金取消しを意味するものではありません。</a:t>
            </a:r>
          </a:p>
        </p:txBody>
      </p:sp>
      <p:sp>
        <p:nvSpPr>
          <p:cNvPr id="10" name="">
            <a:extLst xmlns:a="http://schemas.openxmlformats.org/drawingml/2006/main">
              <a:ext uri="{FF2B5EF4-FFF2-40B4-BE49-F238E27FC236}">
                <a16:creationId xmlns:a16="http://schemas.microsoft.com/office/drawing/2014/main" id="{177F5400-BCF4-4501-B6AE-96160EE86FE8}"/>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FC3067-A977-49F6-A2FC-7711DC8A2AC1}"/>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事務局が資料だけでは確認できなかった点を示しています。</a:t>
            </a:r>
          </a:p>
        </p:txBody>
      </p:sp>
      <p:sp>
        <p:nvSpPr>
          <p:cNvPr id="12" name="">
            <a:extLst xmlns:a="http://schemas.openxmlformats.org/drawingml/2006/main">
              <a:ext uri="{FF2B5EF4-FFF2-40B4-BE49-F238E27FC236}">
                <a16:creationId xmlns:a16="http://schemas.microsoft.com/office/drawing/2014/main" id="{104FD5EE-094D-4C87-8487-B2569678921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651140-2CD5-4987-830F-7AEBC2C00FC7}"/>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ただし、回答期限を放置すると審査が進まないため、早めの対応が必要です。</a:t>
            </a:r>
          </a:p>
        </p:txBody>
      </p:sp>
      <p:sp>
        <p:nvSpPr>
          <p:cNvPr id="14" name="">
            <a:extLst xmlns:a="http://schemas.openxmlformats.org/drawingml/2006/main">
              <a:ext uri="{FF2B5EF4-FFF2-40B4-BE49-F238E27FC236}">
                <a16:creationId xmlns:a16="http://schemas.microsoft.com/office/drawing/2014/main" id="{72C6089C-99F1-4132-BAEE-74DD3D3842CF}"/>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3FF89CC-AD72-4B22-83CE-286BEA8DED48}"/>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通知文をそのまま一覧にする：「経費番号」「指摘内容」「必要な修正」「用意する資料」「担当」「期限」の表を作ります。一つの通知に複数の指摘がある場合、項目ごとに分けます。</a:t>
            </a:r>
          </a:p>
        </p:txBody>
      </p:sp>
      <p:sp>
        <p:nvSpPr>
          <p:cNvPr id="16" name="">
            <a:extLst xmlns:a="http://schemas.openxmlformats.org/drawingml/2006/main">
              <a:ext uri="{FF2B5EF4-FFF2-40B4-BE49-F238E27FC236}">
                <a16:creationId xmlns:a16="http://schemas.microsoft.com/office/drawing/2014/main" id="{D6A074BB-93A5-4816-A3A2-658660FA9E9B}"/>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130A0F-EC05-4383-AC26-29A725DF6580}"/>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事実と資料を照合する：指摘された経費の見積、発注、納品、請求、支払を日付順に並べます。不足なのか、不一致なのか、入力ミスなのかを切り分けます。</a:t>
            </a:r>
          </a:p>
        </p:txBody>
      </p:sp>
      <p:sp>
        <p:nvSpPr>
          <p:cNvPr id="18" name="">
            <a:extLst xmlns:a="http://schemas.openxmlformats.org/drawingml/2006/main">
              <a:ext uri="{FF2B5EF4-FFF2-40B4-BE49-F238E27FC236}">
                <a16:creationId xmlns:a16="http://schemas.microsoft.com/office/drawing/2014/main" id="{1ED381AC-1FE0-46D8-8190-435D59F64795}"/>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5C82FD1-0403-4D92-861A-C82C5AF123CB}"/>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元資料を改変せず、補足する：請求書の日付や金額を自分で書き換えてはいけません。取引先から正しい書類を再発行してもらうか、説明書、内訳表、計算表を別資料として作ります。</a:t>
            </a:r>
          </a:p>
        </p:txBody>
      </p:sp>
      <p:sp>
        <p:nvSpPr>
          <p:cNvPr id="20" name="">
            <a:extLst xmlns:a="http://schemas.openxmlformats.org/drawingml/2006/main">
              <a:ext uri="{FF2B5EF4-FFF2-40B4-BE49-F238E27FC236}">
                <a16:creationId xmlns:a16="http://schemas.microsoft.com/office/drawing/2014/main" id="{64B1259E-26BB-4523-A8CA-7EF751E91A59}"/>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96319847"/>
      </p:ext>
    </p:extLst>
  </p:cSld>
</p:sld>
</file>

<file path=ppt/slides/slide1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F373A9-0A20-4051-8D08-201A9698722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FFAC5F-ACBB-4FCF-A62E-9EAC360B8AB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7B8BDB0D-EFDA-4C43-9941-D5AEDDEC898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10</a:t>
            </a:r>
          </a:p>
        </p:txBody>
      </p:sp>
      <p:sp>
        <p:nvSpPr>
          <p:cNvPr id="4" name="">
            <a:extLst xmlns:a="http://schemas.openxmlformats.org/drawingml/2006/main">
              <a:ext uri="{FF2B5EF4-FFF2-40B4-BE49-F238E27FC236}">
                <a16:creationId xmlns:a16="http://schemas.microsoft.com/office/drawing/2014/main" id="{9F028A7C-42D1-452A-8FDF-0A45CB619B8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15</a:t>
            </a:r>
          </a:p>
        </p:txBody>
      </p:sp>
      <p:sp>
        <p:nvSpPr>
          <p:cNvPr id="5" name="">
            <a:extLst xmlns:a="http://schemas.openxmlformats.org/drawingml/2006/main">
              <a:ext uri="{FF2B5EF4-FFF2-40B4-BE49-F238E27FC236}">
                <a16:creationId xmlns:a16="http://schemas.microsoft.com/office/drawing/2014/main" id="{C32D41B4-AA4A-415A-8EBD-CEB965D9A6C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差戻しが来たときの対応手順</a:t>
            </a:r>
          </a:p>
        </p:txBody>
      </p:sp>
      <p:sp>
        <p:nvSpPr>
          <p:cNvPr id="6" name="">
            <a:extLst xmlns:a="http://schemas.openxmlformats.org/drawingml/2006/main">
              <a:ext uri="{FF2B5EF4-FFF2-40B4-BE49-F238E27FC236}">
                <a16:creationId xmlns:a16="http://schemas.microsoft.com/office/drawing/2014/main" id="{0962FBC2-979B-442C-BE4B-9A62A28C1A9E}"/>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A95B3C-752F-47F0-9CBC-5B913A8367F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91BFE88B-F5FA-44C3-9AC7-BA065F9C9D5C}"/>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36E1C9F-FB7D-4E4B-BAE8-E7349B8B796E}"/>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絶対にしない実際と異なる日付の作成、取引先になりすました書類作成、画像編集による金額変更、存在しない納品や配布の記載は、不正受給を疑われる重大な問題になります。</a:t>
            </a:r>
          </a:p>
        </p:txBody>
      </p:sp>
      <p:sp>
        <p:nvSpPr>
          <p:cNvPr id="10" name="">
            <a:extLst xmlns:a="http://schemas.openxmlformats.org/drawingml/2006/main">
              <a:ext uri="{FF2B5EF4-FFF2-40B4-BE49-F238E27FC236}">
                <a16:creationId xmlns:a16="http://schemas.microsoft.com/office/drawing/2014/main" id="{B76BF170-1A77-4186-B91F-2AA88546E2A1}"/>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B9473DB-0CF5-4115-AC82-81C1BBCA7D4E}"/>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認められない経費は、無理に通そうとせず対象外として整理することが正しい対応です。</a:t>
            </a:r>
          </a:p>
        </p:txBody>
      </p:sp>
      <p:sp>
        <p:nvSpPr>
          <p:cNvPr id="12" name="">
            <a:extLst xmlns:a="http://schemas.openxmlformats.org/drawingml/2006/main">
              <a:ext uri="{FF2B5EF4-FFF2-40B4-BE49-F238E27FC236}">
                <a16:creationId xmlns:a16="http://schemas.microsoft.com/office/drawing/2014/main" id="{7B80D8B4-49F8-41A5-B796-399117310A59}"/>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362292706"/>
      </p:ext>
    </p:extLst>
  </p:cSld>
</p:sld>
</file>

<file path=ppt/slides/slide1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E2E6AF-2F7B-4EA4-8A99-B080FDCA28A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7F0955-C926-4A4F-BD19-B3C421FDBAD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8A6CF10E-DDE2-4E40-B1FB-6846CCCC8A7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91E660A6-80ED-429B-9691-69FB74A24DB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16</a:t>
            </a:r>
          </a:p>
        </p:txBody>
      </p:sp>
      <p:sp>
        <p:nvSpPr>
          <p:cNvPr id="5" name="">
            <a:extLst xmlns:a="http://schemas.openxmlformats.org/drawingml/2006/main">
              <a:ext uri="{FF2B5EF4-FFF2-40B4-BE49-F238E27FC236}">
                <a16:creationId xmlns:a16="http://schemas.microsoft.com/office/drawing/2014/main" id="{72E552C0-1AC6-4760-87D9-F9C89ED59EFA}"/>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11</a:t>
            </a:r>
          </a:p>
        </p:txBody>
      </p:sp>
      <p:sp>
        <p:nvSpPr>
          <p:cNvPr id="6" name="">
            <a:extLst xmlns:a="http://schemas.openxmlformats.org/drawingml/2006/main">
              <a:ext uri="{FF2B5EF4-FFF2-40B4-BE49-F238E27FC236}">
                <a16:creationId xmlns:a16="http://schemas.microsoft.com/office/drawing/2014/main" id="{4816D3E2-C02F-404F-91BB-DE63E340A229}"/>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確定通知の後は、精算払請求を忘れない</a:t>
            </a:r>
          </a:p>
        </p:txBody>
      </p:sp>
      <p:sp>
        <p:nvSpPr>
          <p:cNvPr id="7" name="">
            <a:extLst xmlns:a="http://schemas.openxmlformats.org/drawingml/2006/main">
              <a:ext uri="{FF2B5EF4-FFF2-40B4-BE49-F238E27FC236}">
                <a16:creationId xmlns:a16="http://schemas.microsoft.com/office/drawing/2014/main" id="{18D59A09-B82A-448B-A9E5-6B2A6CF41AF8}"/>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4D85DE-FD0E-48ED-B8D8-A4C7F3A32955}"/>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253904465"/>
      </p:ext>
    </p:extLst>
  </p:cSld>
</p:sld>
</file>

<file path=ppt/slides/slide1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805716-6F21-4DF3-A2B3-8C15EBCA8C7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1D7799-9B5F-4744-BF89-C08E8D72BEA7}"/>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6CC3D56E-73EE-4894-9C5A-60B0454E54D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ECD770C9-59E9-4174-ADE4-FD6E0E948A94}"/>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17</a:t>
            </a:r>
          </a:p>
        </p:txBody>
      </p:sp>
      <p:sp>
        <p:nvSpPr>
          <p:cNvPr id="5" name="">
            <a:extLst xmlns:a="http://schemas.openxmlformats.org/drawingml/2006/main">
              <a:ext uri="{FF2B5EF4-FFF2-40B4-BE49-F238E27FC236}">
                <a16:creationId xmlns:a16="http://schemas.microsoft.com/office/drawing/2014/main" id="{1C0C5ACF-477F-489D-AD0B-521502CE4B48}"/>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確定通知の後は、精算払請求を忘れない</a:t>
            </a:r>
          </a:p>
        </p:txBody>
      </p:sp>
      <p:sp>
        <p:nvSpPr>
          <p:cNvPr id="6" name="">
            <a:extLst xmlns:a="http://schemas.openxmlformats.org/drawingml/2006/main">
              <a:ext uri="{FF2B5EF4-FFF2-40B4-BE49-F238E27FC236}">
                <a16:creationId xmlns:a16="http://schemas.microsoft.com/office/drawing/2014/main" id="{8F5A2C09-7653-407A-98BE-5CCFD3C1D5F6}"/>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EC789A1-E4DE-4128-B950-DBA6B65EC590}"/>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76D50C78-2E60-4CD8-9137-01026E98944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83D35A-5A1A-4476-B787-54F41F827D4F}"/>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実績報告の審査が終わると、補助金額の確定通知書が通知されます。</a:t>
            </a:r>
          </a:p>
        </p:txBody>
      </p:sp>
      <p:sp>
        <p:nvSpPr>
          <p:cNvPr id="10" name="">
            <a:extLst xmlns:a="http://schemas.openxmlformats.org/drawingml/2006/main">
              <a:ext uri="{FF2B5EF4-FFF2-40B4-BE49-F238E27FC236}">
                <a16:creationId xmlns:a16="http://schemas.microsoft.com/office/drawing/2014/main" id="{13787E0B-7182-4F78-B2B7-CF0E43612B53}"/>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6880755-AD34-4978-AB96-E222419ACA2E}"/>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確定通知は、最終的に認められた補助金額を示す書類です。</a:t>
            </a:r>
          </a:p>
        </p:txBody>
      </p:sp>
      <p:sp>
        <p:nvSpPr>
          <p:cNvPr id="12" name="">
            <a:extLst xmlns:a="http://schemas.openxmlformats.org/drawingml/2006/main">
              <a:ext uri="{FF2B5EF4-FFF2-40B4-BE49-F238E27FC236}">
                <a16:creationId xmlns:a16="http://schemas.microsoft.com/office/drawing/2014/main" id="{3F515308-E3EB-4C0F-84A7-E95BBC309A73}"/>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1012C7-63C1-4B81-901A-16FAB08C6356}"/>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ここで終わりではなく、精算払請求が必要です。</a:t>
            </a:r>
          </a:p>
        </p:txBody>
      </p:sp>
      <p:sp>
        <p:nvSpPr>
          <p:cNvPr id="14" name="">
            <a:extLst xmlns:a="http://schemas.openxmlformats.org/drawingml/2006/main">
              <a:ext uri="{FF2B5EF4-FFF2-40B4-BE49-F238E27FC236}">
                <a16:creationId xmlns:a16="http://schemas.microsoft.com/office/drawing/2014/main" id="{5F7D3EFA-641A-4956-B39C-52DEC32FE28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886912469"/>
      </p:ext>
    </p:extLst>
  </p:cSld>
</p:sld>
</file>

<file path=ppt/slides/slide1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C91583-3BAE-4EB0-9445-8FEAA5CB626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611BD4-2912-4F2D-96B2-F56FFCA13DE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A3A3BE61-B7EC-43B2-8B00-EFA3882D644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47C2EE8F-4205-4992-9594-F695D4A6BD5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18</a:t>
            </a:r>
          </a:p>
        </p:txBody>
      </p:sp>
      <p:sp>
        <p:nvSpPr>
          <p:cNvPr id="5" name="">
            <a:extLst xmlns:a="http://schemas.openxmlformats.org/drawingml/2006/main">
              <a:ext uri="{FF2B5EF4-FFF2-40B4-BE49-F238E27FC236}">
                <a16:creationId xmlns:a16="http://schemas.microsoft.com/office/drawing/2014/main" id="{01ABD434-165D-44E7-95D2-6D4936ED1B57}"/>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確定通知書を確認する</a:t>
            </a:r>
          </a:p>
        </p:txBody>
      </p:sp>
      <p:sp>
        <p:nvSpPr>
          <p:cNvPr id="6" name="">
            <a:extLst xmlns:a="http://schemas.openxmlformats.org/drawingml/2006/main">
              <a:ext uri="{FF2B5EF4-FFF2-40B4-BE49-F238E27FC236}">
                <a16:creationId xmlns:a16="http://schemas.microsoft.com/office/drawing/2014/main" id="{493033FF-7285-4BB6-9F7E-5D6F63F9DAF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2048450-67B9-4BFA-945D-A7627F76F83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51A5EAF9-488C-4225-928F-EFA9B5DFFD27}"/>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7E0FBA-268A-4B78-BF57-7C1142EA01EC}"/>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マイページの通知文書から、確定通知書を開き、確定額を確認・保存します。</a:t>
            </a:r>
          </a:p>
        </p:txBody>
      </p:sp>
      <p:sp>
        <p:nvSpPr>
          <p:cNvPr id="10" name="">
            <a:extLst xmlns:a="http://schemas.openxmlformats.org/drawingml/2006/main">
              <a:ext uri="{FF2B5EF4-FFF2-40B4-BE49-F238E27FC236}">
                <a16:creationId xmlns:a16="http://schemas.microsoft.com/office/drawing/2014/main" id="{FFE480E4-235D-4A5A-9FBA-60AA331BB920}"/>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8DCA7B-C6B6-4E51-825A-3A366A262027}"/>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申請額と確定額が違う場合は、対象外とされた経費や減額内容を確認します。</a:t>
            </a:r>
          </a:p>
        </p:txBody>
      </p:sp>
      <p:sp>
        <p:nvSpPr>
          <p:cNvPr id="12" name="">
            <a:extLst xmlns:a="http://schemas.openxmlformats.org/drawingml/2006/main">
              <a:ext uri="{FF2B5EF4-FFF2-40B4-BE49-F238E27FC236}">
                <a16:creationId xmlns:a16="http://schemas.microsoft.com/office/drawing/2014/main" id="{9130DFA9-D5B1-4597-8CC6-6E8B017B91A6}"/>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E74B665-EED5-4CF6-B1FF-13E0E0A46C77}"/>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通知文書は後日必要になることがあるため、PDFで保存してください。</a:t>
            </a:r>
          </a:p>
        </p:txBody>
      </p:sp>
      <p:sp>
        <p:nvSpPr>
          <p:cNvPr id="14" name="">
            <a:extLst xmlns:a="http://schemas.openxmlformats.org/drawingml/2006/main">
              <a:ext uri="{FF2B5EF4-FFF2-40B4-BE49-F238E27FC236}">
                <a16:creationId xmlns:a16="http://schemas.microsoft.com/office/drawing/2014/main" id="{365D02D3-A02E-4701-A60D-9EB9FE509746}"/>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658985017"/>
      </p:ext>
    </p:extLst>
  </p:cSld>
</p:sld>
</file>

<file path=ppt/slides/slide1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8A98D9-5B60-458A-9C79-7AFEFCC81B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24C1EC-AEB1-4453-862C-A0E23A731A0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9914EDF9-11A4-410E-BA3C-6A44BBC7E88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4BAFF104-DD6D-45BD-BFB5-E09C5152DBA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19</a:t>
            </a:r>
          </a:p>
        </p:txBody>
      </p:sp>
      <p:sp>
        <p:nvSpPr>
          <p:cNvPr id="5" name="">
            <a:extLst xmlns:a="http://schemas.openxmlformats.org/drawingml/2006/main">
              <a:ext uri="{FF2B5EF4-FFF2-40B4-BE49-F238E27FC236}">
                <a16:creationId xmlns:a16="http://schemas.microsoft.com/office/drawing/2014/main" id="{3DD7962A-3039-4B9A-AB38-F6D38B992957}"/>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精算払請求を開始する</a:t>
            </a:r>
          </a:p>
        </p:txBody>
      </p:sp>
      <p:sp>
        <p:nvSpPr>
          <p:cNvPr id="6" name="">
            <a:extLst xmlns:a="http://schemas.openxmlformats.org/drawingml/2006/main">
              <a:ext uri="{FF2B5EF4-FFF2-40B4-BE49-F238E27FC236}">
                <a16:creationId xmlns:a16="http://schemas.microsoft.com/office/drawing/2014/main" id="{A722B24A-9ECC-4D71-9827-DC80805F654E}"/>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6895b4b366407b"/>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A75B27-2CB4-4E05-8AAE-434413ABD8C4}"/>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操作画面：確定通知後、マイページから「精算払請求を開始する」を選択。</a:t>
            </a:r>
          </a:p>
        </p:txBody>
      </p:sp>
    </p:spTree>
    <p:extLst>
      <p:ext uri="{BB962C8B-B14F-4D97-AF65-F5344CB8AC3E}">
        <p14:creationId xmlns:p14="http://schemas.microsoft.com/office/powerpoint/2010/main" val="342794511"/>
      </p:ext>
    </p:extLst>
  </p:cSld>
</p:sld>
</file>

<file path=ppt/slides/slide2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3A814D-9650-4641-9686-00D890FF99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7E354C-30BF-4D74-B0C6-0A45D482347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DDFF7580-03EC-42BC-A894-8A0D3E78160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43B17FB0-9800-41C1-B44C-862616EB6B6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20</a:t>
            </a:r>
          </a:p>
        </p:txBody>
      </p:sp>
      <p:sp>
        <p:nvSpPr>
          <p:cNvPr id="5" name="">
            <a:extLst xmlns:a="http://schemas.openxmlformats.org/drawingml/2006/main">
              <a:ext uri="{FF2B5EF4-FFF2-40B4-BE49-F238E27FC236}">
                <a16:creationId xmlns:a16="http://schemas.microsoft.com/office/drawing/2014/main" id="{1F8454BC-33E6-4609-B73C-1AC3DB9CEBC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精算払請求を開始する</a:t>
            </a:r>
          </a:p>
        </p:txBody>
      </p:sp>
      <p:sp>
        <p:nvSpPr>
          <p:cNvPr id="6" name="">
            <a:extLst xmlns:a="http://schemas.openxmlformats.org/drawingml/2006/main">
              <a:ext uri="{FF2B5EF4-FFF2-40B4-BE49-F238E27FC236}">
                <a16:creationId xmlns:a16="http://schemas.microsoft.com/office/drawing/2014/main" id="{5520E44C-00A7-4B35-BDA9-229F02974EBB}"/>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705111-C920-48C1-B1F1-963D9BD92B59}"/>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1C1B384-2F70-466A-B3FA-7A1F09992D0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BA9517-A8BF-447C-90E8-FF90B09F0A48}"/>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事業者情報、申請日、確定した補助金額と請求額を確認します。</a:t>
            </a:r>
          </a:p>
        </p:txBody>
      </p:sp>
      <p:sp>
        <p:nvSpPr>
          <p:cNvPr id="10" name="">
            <a:extLst xmlns:a="http://schemas.openxmlformats.org/drawingml/2006/main">
              <a:ext uri="{FF2B5EF4-FFF2-40B4-BE49-F238E27FC236}">
                <a16:creationId xmlns:a16="http://schemas.microsoft.com/office/drawing/2014/main" id="{72DF77A1-5548-4DA6-9A65-0ADC93A671E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40F61A-4F1C-4D56-9300-5656ECECC02F}"/>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振込先は、交付決定を受けた補助事業者の名義に限られます。</a:t>
            </a:r>
          </a:p>
        </p:txBody>
      </p:sp>
      <p:sp>
        <p:nvSpPr>
          <p:cNvPr id="12" name="">
            <a:extLst xmlns:a="http://schemas.openxmlformats.org/drawingml/2006/main">
              <a:ext uri="{FF2B5EF4-FFF2-40B4-BE49-F238E27FC236}">
                <a16:creationId xmlns:a16="http://schemas.microsoft.com/office/drawing/2014/main" id="{99D2F5DB-39E8-4B28-A8DB-5A3F3211C775}"/>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F2CFD5F-A966-4E96-A0A3-09FC42840C95}"/>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法人なら法人名義、個人事業主なら申請者本人名義の口座を使用します。</a:t>
            </a:r>
          </a:p>
        </p:txBody>
      </p:sp>
      <p:sp>
        <p:nvSpPr>
          <p:cNvPr id="14" name="">
            <a:extLst xmlns:a="http://schemas.openxmlformats.org/drawingml/2006/main">
              <a:ext uri="{FF2B5EF4-FFF2-40B4-BE49-F238E27FC236}">
                <a16:creationId xmlns:a16="http://schemas.microsoft.com/office/drawing/2014/main" id="{676A68AC-EC67-4667-8D19-FE1772996008}"/>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713360947"/>
      </p:ext>
    </p:extLst>
  </p:cSld>
</p:sld>
</file>

<file path=ppt/slides/slide2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4DAFA3-BBE8-4885-AB7C-E38FA60682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AAC97B-46A5-423C-997A-831923270B9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67F96479-0AE4-441C-9108-503DF0C1D18F}"/>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C67AE643-96FF-4521-8346-77CE02E2086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21</a:t>
            </a:r>
          </a:p>
        </p:txBody>
      </p:sp>
      <p:sp>
        <p:nvSpPr>
          <p:cNvPr id="5" name="">
            <a:extLst xmlns:a="http://schemas.openxmlformats.org/drawingml/2006/main">
              <a:ext uri="{FF2B5EF4-FFF2-40B4-BE49-F238E27FC236}">
                <a16:creationId xmlns:a16="http://schemas.microsoft.com/office/drawing/2014/main" id="{D3714699-4278-4FF3-88A2-E45A4796B96E}"/>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口座情報を入力・添付する</a:t>
            </a:r>
          </a:p>
        </p:txBody>
      </p:sp>
      <p:sp>
        <p:nvSpPr>
          <p:cNvPr id="6" name="">
            <a:extLst xmlns:a="http://schemas.openxmlformats.org/drawingml/2006/main">
              <a:ext uri="{FF2B5EF4-FFF2-40B4-BE49-F238E27FC236}">
                <a16:creationId xmlns:a16="http://schemas.microsoft.com/office/drawing/2014/main" id="{1605C57E-DCA3-460E-A6C9-1C8A00C299AA}"/>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1DE2C1-A497-4EED-A047-51BCB4625FA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375C3A98-1F86-4C96-BE59-2C2B97B65C3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CC4323E-EB2D-4EB9-934E-85F5E47F2593}"/>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金融機関名、金融機関コード、支店名、支店コード、預貯金種別、口座番号、口座名義のカタカナ・漢字を入力します。</a:t>
            </a:r>
          </a:p>
        </p:txBody>
      </p:sp>
      <p:sp>
        <p:nvSpPr>
          <p:cNvPr id="10" name="">
            <a:extLst xmlns:a="http://schemas.openxmlformats.org/drawingml/2006/main">
              <a:ext uri="{FF2B5EF4-FFF2-40B4-BE49-F238E27FC236}">
                <a16:creationId xmlns:a16="http://schemas.microsoft.com/office/drawing/2014/main" id="{B1D65AB4-30E7-4EEE-B5C5-48257BABC444}"/>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20F103-BEA2-4306-92F8-6D6ED070C400}"/>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通帳表紙だけでは支店や口座番号が確認できないことがあります。</a:t>
            </a:r>
          </a:p>
        </p:txBody>
      </p:sp>
      <p:sp>
        <p:nvSpPr>
          <p:cNvPr id="12" name="">
            <a:extLst xmlns:a="http://schemas.openxmlformats.org/drawingml/2006/main">
              <a:ext uri="{FF2B5EF4-FFF2-40B4-BE49-F238E27FC236}">
                <a16:creationId xmlns:a16="http://schemas.microsoft.com/office/drawing/2014/main" id="{F46A6F33-05B9-4FA4-A8AA-332E4260249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F98C774-8570-434C-8070-3BB362A1D078}"/>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通帳の見開き、ネット銀行の口座情報画面など、必要項目がすべて鮮明に表示された資料を添付します。</a:t>
            </a:r>
          </a:p>
        </p:txBody>
      </p:sp>
      <p:sp>
        <p:nvSpPr>
          <p:cNvPr id="14" name="">
            <a:extLst xmlns:a="http://schemas.openxmlformats.org/drawingml/2006/main">
              <a:ext uri="{FF2B5EF4-FFF2-40B4-BE49-F238E27FC236}">
                <a16:creationId xmlns:a16="http://schemas.microsoft.com/office/drawing/2014/main" id="{4B867C46-18AC-4CAC-A652-37BE9D2E8F0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551436740"/>
      </p:ext>
    </p:extLst>
  </p:cSld>
</p:sld>
</file>

<file path=ppt/slides/slide2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E8C2C4-0CDD-45E1-8B13-C3312E951D6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199967-14AA-4F80-B8AD-E50E0F85D60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681A0532-EB24-476D-AE76-07C07132C05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7C1E89DE-B87D-4609-8971-56F7AF01385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22</a:t>
            </a:r>
          </a:p>
        </p:txBody>
      </p:sp>
      <p:sp>
        <p:nvSpPr>
          <p:cNvPr id="5" name="">
            <a:extLst xmlns:a="http://schemas.openxmlformats.org/drawingml/2006/main">
              <a:ext uri="{FF2B5EF4-FFF2-40B4-BE49-F238E27FC236}">
                <a16:creationId xmlns:a16="http://schemas.microsoft.com/office/drawing/2014/main" id="{4C5BEC26-7447-404C-BD95-58A04C21525B}"/>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口座情報を入力・添付する</a:t>
            </a:r>
          </a:p>
        </p:txBody>
      </p:sp>
      <p:sp>
        <p:nvSpPr>
          <p:cNvPr id="6" name="">
            <a:extLst xmlns:a="http://schemas.openxmlformats.org/drawingml/2006/main">
              <a:ext uri="{FF2B5EF4-FFF2-40B4-BE49-F238E27FC236}">
                <a16:creationId xmlns:a16="http://schemas.microsoft.com/office/drawing/2014/main" id="{5F5B24C9-0A97-4266-A359-AE4447EFE5CA}"/>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dad0ad8cbe4e40"/>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51754F4-D23F-4726-825E-0300C7DE7D1E}"/>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操作画面：預貯金種別、口座番号、口座名義を入力し、口座情報資料を添付。</a:t>
            </a:r>
          </a:p>
        </p:txBody>
      </p:sp>
    </p:spTree>
    <p:extLst>
      <p:ext uri="{BB962C8B-B14F-4D97-AF65-F5344CB8AC3E}">
        <p14:creationId xmlns:p14="http://schemas.microsoft.com/office/powerpoint/2010/main" val="1665633578"/>
      </p:ext>
    </p:extLst>
  </p:cSld>
</p:sld>
</file>

<file path=ppt/slides/slide2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581DC2-5A67-4BCD-B1B4-DF8076D8F3C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9F73A7-1E0C-45D2-A855-B575858B36D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実績報告マニュアル｜第5分冊</a:t>
            </a:r>
          </a:p>
        </p:txBody>
      </p:sp>
      <p:sp>
        <p:nvSpPr>
          <p:cNvPr id="3" name="">
            <a:extLst xmlns:a="http://schemas.openxmlformats.org/drawingml/2006/main">
              <a:ext uri="{FF2B5EF4-FFF2-40B4-BE49-F238E27FC236}">
                <a16:creationId xmlns:a16="http://schemas.microsoft.com/office/drawing/2014/main" id="{EBE0FF23-7464-44CC-9A0A-6AC21BACAC9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11</a:t>
            </a:r>
          </a:p>
        </p:txBody>
      </p:sp>
      <p:sp>
        <p:nvSpPr>
          <p:cNvPr id="4" name="">
            <a:extLst xmlns:a="http://schemas.openxmlformats.org/drawingml/2006/main">
              <a:ext uri="{FF2B5EF4-FFF2-40B4-BE49-F238E27FC236}">
                <a16:creationId xmlns:a16="http://schemas.microsoft.com/office/drawing/2014/main" id="{1F880361-29EC-4CDF-BFC0-E4A624C2EC0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23</a:t>
            </a:r>
          </a:p>
        </p:txBody>
      </p:sp>
      <p:sp>
        <p:nvSpPr>
          <p:cNvPr id="5" name="">
            <a:extLst xmlns:a="http://schemas.openxmlformats.org/drawingml/2006/main">
              <a:ext uri="{FF2B5EF4-FFF2-40B4-BE49-F238E27FC236}">
                <a16:creationId xmlns:a16="http://schemas.microsoft.com/office/drawing/2014/main" id="{1F03F778-2049-42AD-9D33-CC3B9C43D5A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口座情報を入力・添付する</a:t>
            </a:r>
          </a:p>
        </p:txBody>
      </p:sp>
      <p:sp>
        <p:nvSpPr>
          <p:cNvPr id="6" name="">
            <a:extLst xmlns:a="http://schemas.openxmlformats.org/drawingml/2006/main">
              <a:ext uri="{FF2B5EF4-FFF2-40B4-BE49-F238E27FC236}">
                <a16:creationId xmlns:a16="http://schemas.microsoft.com/office/drawing/2014/main" id="{A3C9908D-764F-47D7-BC9E-C001CBE4008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9B2BFC-6E31-49FE-84EC-74076A0912E2}"/>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0E2C92BD-EC5F-48BC-9EC2-E4298DBD8F6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6663C3D-4A57-425C-A5D0-F5D70CF0A547}"/>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入力した金融機関名と添付資料が一致している</a:t>
            </a:r>
          </a:p>
        </p:txBody>
      </p:sp>
      <p:sp>
        <p:nvSpPr>
          <p:cNvPr id="10" name="">
            <a:extLst xmlns:a="http://schemas.openxmlformats.org/drawingml/2006/main">
              <a:ext uri="{FF2B5EF4-FFF2-40B4-BE49-F238E27FC236}">
                <a16:creationId xmlns:a16="http://schemas.microsoft.com/office/drawing/2014/main" id="{A43C5285-74C2-4E8C-9E8C-0B4A4CE195D5}"/>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E51DA4C-AC32-4E76-BDC0-A0CECAD515E1}"/>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支店名・支店コードが一致している</a:t>
            </a:r>
          </a:p>
        </p:txBody>
      </p:sp>
      <p:sp>
        <p:nvSpPr>
          <p:cNvPr id="12" name="">
            <a:extLst xmlns:a="http://schemas.openxmlformats.org/drawingml/2006/main">
              <a:ext uri="{FF2B5EF4-FFF2-40B4-BE49-F238E27FC236}">
                <a16:creationId xmlns:a16="http://schemas.microsoft.com/office/drawing/2014/main" id="{50D24BBF-0337-4287-B6FB-13ABB13B6AF3}"/>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45639C-9B01-4884-9D99-70A414DC5E34}"/>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口座番号の桁数に誤りがない</a:t>
            </a:r>
          </a:p>
        </p:txBody>
      </p:sp>
      <p:sp>
        <p:nvSpPr>
          <p:cNvPr id="14" name="">
            <a:extLst xmlns:a="http://schemas.openxmlformats.org/drawingml/2006/main">
              <a:ext uri="{FF2B5EF4-FFF2-40B4-BE49-F238E27FC236}">
                <a16:creationId xmlns:a16="http://schemas.microsoft.com/office/drawing/2014/main" id="{FBB4C0CF-A069-4C2B-9D55-E9A5CC0E9D8F}"/>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DCBA56F-3872-49F7-B411-C812DA982917}"/>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口座名義は資料どおりで、スペースも一致している</a:t>
            </a:r>
          </a:p>
        </p:txBody>
      </p:sp>
      <p:sp>
        <p:nvSpPr>
          <p:cNvPr id="16" name="">
            <a:extLst xmlns:a="http://schemas.openxmlformats.org/drawingml/2006/main">
              <a:ext uri="{FF2B5EF4-FFF2-40B4-BE49-F238E27FC236}">
                <a16:creationId xmlns:a16="http://schemas.microsoft.com/office/drawing/2014/main" id="{4A6C45C5-2696-47A4-99F2-C38825A247D4}"/>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B20B40B-2A69-4D45-8253-3B94CAE94E10}"/>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補助事業者本人の口座である</a:t>
            </a:r>
          </a:p>
        </p:txBody>
      </p:sp>
      <p:sp>
        <p:nvSpPr>
          <p:cNvPr id="18" name="">
            <a:extLst xmlns:a="http://schemas.openxmlformats.org/drawingml/2006/main">
              <a:ext uri="{FF2B5EF4-FFF2-40B4-BE49-F238E27FC236}">
                <a16:creationId xmlns:a16="http://schemas.microsoft.com/office/drawing/2014/main" id="{577940A2-2B1B-46F4-B96A-CF858425E607}"/>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B390D98-9E31-446F-85FC-3A909114EF4C}"/>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画像にピントが合い、文字が切れていない</a:t>
            </a:r>
          </a:p>
        </p:txBody>
      </p:sp>
      <p:sp>
        <p:nvSpPr>
          <p:cNvPr id="20" name="">
            <a:extLst xmlns:a="http://schemas.openxmlformats.org/drawingml/2006/main">
              <a:ext uri="{FF2B5EF4-FFF2-40B4-BE49-F238E27FC236}">
                <a16:creationId xmlns:a16="http://schemas.microsoft.com/office/drawing/2014/main" id="{F87B20B4-C246-48B9-865C-4E8C143E813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046163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2026-07-23T07:22:39.9980000Z</dcterms:created>
  <dcterms:modified xsi:type="dcterms:W3CDTF">2026-07-23T07:22:39.9980000Z</dcterms:modified>
</coreProperties>
</file>
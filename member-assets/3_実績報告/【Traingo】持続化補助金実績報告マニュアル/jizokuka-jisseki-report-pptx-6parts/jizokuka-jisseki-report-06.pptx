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d86628811f4ed5" /><Relationship Type="http://schemas.openxmlformats.org/officeDocument/2006/relationships/extended-properties" Target="/docProps/app.xml" Id="R352bf4fafe604500" /><Relationship Type="http://schemas.openxmlformats.org/officeDocument/2006/relationships/officeDocument" Target="/ppt/presentation.xml" Id="R403155741a494f0e" /></Relationships>
</file>

<file path=ppt/presentation.xml><?xml version="1.0" encoding="utf-8"?>
<p:presentation xmlns:p="http://schemas.openxmlformats.org/presentationml/2006/main">
  <p:sldMasterIdLst>
    <p:sldMasterId xmlns:r="http://schemas.openxmlformats.org/officeDocument/2006/relationships" id="2147483648" r:id="R212f5dce55504cbb"/>
  </p:sldMasterIdLst>
  <p:notesMasterIdLst>
    <p:notesMasterId xmlns:r="http://schemas.openxmlformats.org/officeDocument/2006/relationships" r:id="R09fa69731efd49a3"/>
  </p:notesMasterIdLst>
  <p:sldIdLst>
    <p:sldId xmlns:r="http://schemas.openxmlformats.org/officeDocument/2006/relationships" id="256" r:id="Reaaa31aed7124f3d"/>
    <p:sldId xmlns:r="http://schemas.openxmlformats.org/officeDocument/2006/relationships" id="257" r:id="R83f7d05fe5ff47b6"/>
    <p:sldId xmlns:r="http://schemas.openxmlformats.org/officeDocument/2006/relationships" id="258" r:id="R5b625ddd7ebb461a"/>
    <p:sldId xmlns:r="http://schemas.openxmlformats.org/officeDocument/2006/relationships" id="259" r:id="Rff0c184736854299"/>
    <p:sldId xmlns:r="http://schemas.openxmlformats.org/officeDocument/2006/relationships" id="260" r:id="R241d285b7cee4787"/>
    <p:sldId xmlns:r="http://schemas.openxmlformats.org/officeDocument/2006/relationships" id="261" r:id="R1095246a2cdd4160"/>
    <p:sldId xmlns:r="http://schemas.openxmlformats.org/officeDocument/2006/relationships" id="262" r:id="R223aa0bdeb4648d3"/>
    <p:sldId xmlns:r="http://schemas.openxmlformats.org/officeDocument/2006/relationships" id="263" r:id="Rc82fdc6931d24cc7"/>
    <p:sldId xmlns:r="http://schemas.openxmlformats.org/officeDocument/2006/relationships" id="264" r:id="R9176e83d5a2447ea"/>
    <p:sldId xmlns:r="http://schemas.openxmlformats.org/officeDocument/2006/relationships" id="265" r:id="R6b689f2923ff4cd7"/>
    <p:sldId xmlns:r="http://schemas.openxmlformats.org/officeDocument/2006/relationships" id="266" r:id="R8e619236f3ae4448"/>
    <p:sldId xmlns:r="http://schemas.openxmlformats.org/officeDocument/2006/relationships" id="267" r:id="Rfef78462747d4cee"/>
    <p:sldId xmlns:r="http://schemas.openxmlformats.org/officeDocument/2006/relationships" id="268" r:id="R678f857fffad4b38"/>
    <p:sldId xmlns:r="http://schemas.openxmlformats.org/officeDocument/2006/relationships" id="269" r:id="Rd52fe16be7344473"/>
    <p:sldId xmlns:r="http://schemas.openxmlformats.org/officeDocument/2006/relationships" id="270" r:id="Ra9bb4abb157a4d50"/>
    <p:sldId xmlns:r="http://schemas.openxmlformats.org/officeDocument/2006/relationships" id="271" r:id="Rc775b229b62f42ed"/>
    <p:sldId xmlns:r="http://schemas.openxmlformats.org/officeDocument/2006/relationships" id="272" r:id="R1c24b67b504642b1"/>
    <p:sldId xmlns:r="http://schemas.openxmlformats.org/officeDocument/2006/relationships" id="273" r:id="R53ef411342dc4301"/>
    <p:sldId xmlns:r="http://schemas.openxmlformats.org/officeDocument/2006/relationships" id="274" r:id="R8c3acd1f23d0453e"/>
    <p:sldId xmlns:r="http://schemas.openxmlformats.org/officeDocument/2006/relationships" id="275" r:id="Rbf1f64bc11a24fc8"/>
    <p:sldId xmlns:r="http://schemas.openxmlformats.org/officeDocument/2006/relationships" id="276" r:id="R9898e9deac20470e"/>
    <p:sldId xmlns:r="http://schemas.openxmlformats.org/officeDocument/2006/relationships" id="277" r:id="Rb2e25e4e824f480a"/>
    <p:sldId xmlns:r="http://schemas.openxmlformats.org/officeDocument/2006/relationships" id="278" r:id="R1136af91525d4bb4"/>
    <p:sldId xmlns:r="http://schemas.openxmlformats.org/officeDocument/2006/relationships" id="279" r:id="R1d375fcd5f864c41"/>
    <p:sldId xmlns:r="http://schemas.openxmlformats.org/officeDocument/2006/relationships" id="280" r:id="R24179fcd582745b5"/>
    <p:sldId xmlns:r="http://schemas.openxmlformats.org/officeDocument/2006/relationships" id="281" r:id="R487da69ba8b94273"/>
    <p:sldId xmlns:r="http://schemas.openxmlformats.org/officeDocument/2006/relationships" id="282" r:id="Rd642cce0a3a1465f"/>
    <p:sldId xmlns:r="http://schemas.openxmlformats.org/officeDocument/2006/relationships" id="283" r:id="R319570af0c144768"/>
    <p:sldId xmlns:r="http://schemas.openxmlformats.org/officeDocument/2006/relationships" id="284" r:id="R89b228886fc744b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8491cc710b4faf" /><Relationship Type="http://schemas.openxmlformats.org/officeDocument/2006/relationships/slideMaster" Target="/ppt/slideMasters/slideMaster1.xml" Id="R212f5dce55504cbb" /><Relationship Type="http://schemas.openxmlformats.org/officeDocument/2006/relationships/notesMaster" Target="/ppt/notesMasters/notesMaster1.xml" Id="R09fa69731efd49a3" /><Relationship Type="http://schemas.openxmlformats.org/officeDocument/2006/relationships/presProps" Target="/ppt/presProps.xml" Id="Reae22b7a3e234282" /><Relationship Type="http://schemas.openxmlformats.org/officeDocument/2006/relationships/tableStyles" Target="/ppt/tableStyles.xml" Id="R8bfce0decc624e73" /><Relationship Type="http://schemas.openxmlformats.org/officeDocument/2006/relationships/slide" Target="/ppt/slides/slide1.xml" Id="Reaaa31aed7124f3d" /><Relationship Type="http://schemas.openxmlformats.org/officeDocument/2006/relationships/slide" Target="/ppt/slides/slide2.xml" Id="R83f7d05fe5ff47b6" /><Relationship Type="http://schemas.openxmlformats.org/officeDocument/2006/relationships/slide" Target="/ppt/slides/slide3.xml" Id="R5b625ddd7ebb461a" /><Relationship Type="http://schemas.openxmlformats.org/officeDocument/2006/relationships/slide" Target="/ppt/slides/slide4.xml" Id="Rff0c184736854299" /><Relationship Type="http://schemas.openxmlformats.org/officeDocument/2006/relationships/slide" Target="/ppt/slides/slide5.xml" Id="R241d285b7cee4787" /><Relationship Type="http://schemas.openxmlformats.org/officeDocument/2006/relationships/slide" Target="/ppt/slides/slide6.xml" Id="R1095246a2cdd4160" /><Relationship Type="http://schemas.openxmlformats.org/officeDocument/2006/relationships/slide" Target="/ppt/slides/slide7.xml" Id="R223aa0bdeb4648d3" /><Relationship Type="http://schemas.openxmlformats.org/officeDocument/2006/relationships/slide" Target="/ppt/slides/slide8.xml" Id="Rc82fdc6931d24cc7" /><Relationship Type="http://schemas.openxmlformats.org/officeDocument/2006/relationships/slide" Target="/ppt/slides/slide9.xml" Id="R9176e83d5a2447ea" /><Relationship Type="http://schemas.openxmlformats.org/officeDocument/2006/relationships/slide" Target="/ppt/slides/slide10.xml" Id="R6b689f2923ff4cd7" /><Relationship Type="http://schemas.openxmlformats.org/officeDocument/2006/relationships/slide" Target="/ppt/slides/slide11.xml" Id="R8e619236f3ae4448" /><Relationship Type="http://schemas.openxmlformats.org/officeDocument/2006/relationships/slide" Target="/ppt/slides/slide12.xml" Id="Rfef78462747d4cee" /><Relationship Type="http://schemas.openxmlformats.org/officeDocument/2006/relationships/slide" Target="/ppt/slides/slide13.xml" Id="R678f857fffad4b38" /><Relationship Type="http://schemas.openxmlformats.org/officeDocument/2006/relationships/slide" Target="/ppt/slides/slide14.xml" Id="Rd52fe16be7344473" /><Relationship Type="http://schemas.openxmlformats.org/officeDocument/2006/relationships/slide" Target="/ppt/slides/slide15.xml" Id="Ra9bb4abb157a4d50" /><Relationship Type="http://schemas.openxmlformats.org/officeDocument/2006/relationships/slide" Target="/ppt/slides/slide16.xml" Id="Rc775b229b62f42ed" /><Relationship Type="http://schemas.openxmlformats.org/officeDocument/2006/relationships/slide" Target="/ppt/slides/slide17.xml" Id="R1c24b67b504642b1" /><Relationship Type="http://schemas.openxmlformats.org/officeDocument/2006/relationships/slide" Target="/ppt/slides/slide18.xml" Id="R53ef411342dc4301" /><Relationship Type="http://schemas.openxmlformats.org/officeDocument/2006/relationships/slide" Target="/ppt/slides/slide19.xml" Id="R8c3acd1f23d0453e" /><Relationship Type="http://schemas.openxmlformats.org/officeDocument/2006/relationships/slide" Target="/ppt/slides/slide20.xml" Id="Rbf1f64bc11a24fc8" /><Relationship Type="http://schemas.openxmlformats.org/officeDocument/2006/relationships/slide" Target="/ppt/slides/slide21.xml" Id="R9898e9deac20470e" /><Relationship Type="http://schemas.openxmlformats.org/officeDocument/2006/relationships/slide" Target="/ppt/slides/slide22.xml" Id="Rb2e25e4e824f480a" /><Relationship Type="http://schemas.openxmlformats.org/officeDocument/2006/relationships/slide" Target="/ppt/slides/slide23.xml" Id="R1136af91525d4bb4" /><Relationship Type="http://schemas.openxmlformats.org/officeDocument/2006/relationships/slide" Target="/ppt/slides/slide24.xml" Id="R1d375fcd5f864c41" /><Relationship Type="http://schemas.openxmlformats.org/officeDocument/2006/relationships/slide" Target="/ppt/slides/slide25.xml" Id="R24179fcd582745b5" /><Relationship Type="http://schemas.openxmlformats.org/officeDocument/2006/relationships/slide" Target="/ppt/slides/slide26.xml" Id="R487da69ba8b94273" /><Relationship Type="http://schemas.openxmlformats.org/officeDocument/2006/relationships/slide" Target="/ppt/slides/slide27.xml" Id="Rd642cce0a3a1465f" /><Relationship Type="http://schemas.openxmlformats.org/officeDocument/2006/relationships/slide" Target="/ppt/slides/slide28.xml" Id="R319570af0c144768" /><Relationship Type="http://schemas.openxmlformats.org/officeDocument/2006/relationships/slide" Target="/ppt/slides/slide29.xml" Id="R89b228886fc744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194ce9adce49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1f6318b602486d" /><Relationship Type="http://schemas.openxmlformats.org/officeDocument/2006/relationships/notesMaster" Target="/ppt/notesMasters/notesMaster1.xml" Id="Ra8c20dca7c1347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becf8ca6664051" /><Relationship Type="http://schemas.openxmlformats.org/officeDocument/2006/relationships/notesMaster" Target="/ppt/notesMasters/notesMaster1.xml" Id="R23c86d07afbf40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79bcc502cb451d" /><Relationship Type="http://schemas.openxmlformats.org/officeDocument/2006/relationships/notesMaster" Target="/ppt/notesMasters/notesMaster1.xml" Id="R96d0732ccdb346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f14553cffb45f6" /><Relationship Type="http://schemas.openxmlformats.org/officeDocument/2006/relationships/notesMaster" Target="/ppt/notesMasters/notesMaster1.xml" Id="Rd822a83a1d7243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0a176108b64c94" /><Relationship Type="http://schemas.openxmlformats.org/officeDocument/2006/relationships/notesMaster" Target="/ppt/notesMasters/notesMaster1.xml" Id="Redc3a003a7224f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585699b6e943fb" /><Relationship Type="http://schemas.openxmlformats.org/officeDocument/2006/relationships/notesMaster" Target="/ppt/notesMasters/notesMaster1.xml" Id="Ra17f964cb6eb4e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9218cf084d479c" /><Relationship Type="http://schemas.openxmlformats.org/officeDocument/2006/relationships/notesMaster" Target="/ppt/notesMasters/notesMaster1.xml" Id="R9cc34ae0ef9c4c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986605bbbf4cae" /><Relationship Type="http://schemas.openxmlformats.org/officeDocument/2006/relationships/notesMaster" Target="/ppt/notesMasters/notesMaster1.xml" Id="R876e1606a315473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0be07d13964df5" /><Relationship Type="http://schemas.openxmlformats.org/officeDocument/2006/relationships/notesMaster" Target="/ppt/notesMasters/notesMaster1.xml" Id="Rc2a1484c5eb74f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16ec863fc14d4f" /><Relationship Type="http://schemas.openxmlformats.org/officeDocument/2006/relationships/notesMaster" Target="/ppt/notesMasters/notesMaster1.xml" Id="Rd7bc9f5dd9df426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a5e8eae8894c4f" /><Relationship Type="http://schemas.openxmlformats.org/officeDocument/2006/relationships/notesMaster" Target="/ppt/notesMasters/notesMaster1.xml" Id="Rdb69504900614c1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c3264bba3b44dd" /><Relationship Type="http://schemas.openxmlformats.org/officeDocument/2006/relationships/notesMaster" Target="/ppt/notesMasters/notesMaster1.xml" Id="R5aefa6c4dadd47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6a5ac42137c4d40" /><Relationship Type="http://schemas.openxmlformats.org/officeDocument/2006/relationships/notesMaster" Target="/ppt/notesMasters/notesMaster1.xml" Id="R9de75ec7400f467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7ba3a3a992146d9" /><Relationship Type="http://schemas.openxmlformats.org/officeDocument/2006/relationships/notesMaster" Target="/ppt/notesMasters/notesMaster1.xml" Id="Rb6d1849ec4f348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71755d49bd84290" /><Relationship Type="http://schemas.openxmlformats.org/officeDocument/2006/relationships/notesMaster" Target="/ppt/notesMasters/notesMaster1.xml" Id="Raf42ba03f2a845d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f16f929d94249d9" /><Relationship Type="http://schemas.openxmlformats.org/officeDocument/2006/relationships/notesMaster" Target="/ppt/notesMasters/notesMaster1.xml" Id="R9160654144e2446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8375f8d1f11452a" /><Relationship Type="http://schemas.openxmlformats.org/officeDocument/2006/relationships/notesMaster" Target="/ppt/notesMasters/notesMaster1.xml" Id="Rb3c8a89ee67c478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dcad54088974afb" /><Relationship Type="http://schemas.openxmlformats.org/officeDocument/2006/relationships/notesMaster" Target="/ppt/notesMasters/notesMaster1.xml" Id="R23091b934c50453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cc7580d215445a" /><Relationship Type="http://schemas.openxmlformats.org/officeDocument/2006/relationships/notesMaster" Target="/ppt/notesMasters/notesMaster1.xml" Id="Reb5e3987ee2849f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9ef75061bfc4eea" /><Relationship Type="http://schemas.openxmlformats.org/officeDocument/2006/relationships/notesMaster" Target="/ppt/notesMasters/notesMaster1.xml" Id="R2cc9c6ced0064f2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e04fe79ea764f47" /><Relationship Type="http://schemas.openxmlformats.org/officeDocument/2006/relationships/notesMaster" Target="/ppt/notesMasters/notesMaster1.xml" Id="Re45a85a6fe25466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a878dc3eb504c7b" /><Relationship Type="http://schemas.openxmlformats.org/officeDocument/2006/relationships/notesMaster" Target="/ppt/notesMasters/notesMaster1.xml" Id="Ra7ebd231c8a34ed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0f40cc54f5c46c0" /><Relationship Type="http://schemas.openxmlformats.org/officeDocument/2006/relationships/notesMaster" Target="/ppt/notesMasters/notesMaster1.xml" Id="R96a6a901fa9e459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737aeeb165648cb" /><Relationship Type="http://schemas.openxmlformats.org/officeDocument/2006/relationships/notesMaster" Target="/ppt/notesMasters/notesMaster1.xml" Id="Ra3c691b6ac5b444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8364142b6ba4fd8" /><Relationship Type="http://schemas.openxmlformats.org/officeDocument/2006/relationships/notesMaster" Target="/ppt/notesMasters/notesMaster1.xml" Id="R60fc14c78d824ff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cbd5cbe33ad4934" /><Relationship Type="http://schemas.openxmlformats.org/officeDocument/2006/relationships/notesMaster" Target="/ppt/notesMasters/notesMaster1.xml" Id="R0a04c0ca4c5a4e3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f18ac3a0d864be3" /><Relationship Type="http://schemas.openxmlformats.org/officeDocument/2006/relationships/notesMaster" Target="/ppt/notesMasters/notesMaster1.xml" Id="R908aa058fce942e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14fdb73d5684996" /><Relationship Type="http://schemas.openxmlformats.org/officeDocument/2006/relationships/notesMaster" Target="/ppt/notesMasters/notesMaster1.xml" Id="R05c371dea98446a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86681f7d2dd4e7e" /><Relationship Type="http://schemas.openxmlformats.org/officeDocument/2006/relationships/notesMaster" Target="/ppt/notesMasters/notesMaster1.xml" Id="Red8e584673834b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本資料は、持続化補助金の実績報告を、初めての方でも順番に進められるように整理した講義用スライドです。</a:t>
            </a:r>
          </a:p>
          <a:p xmlns:a="http://schemas.openxmlformats.org/drawingml/2006/main">
            <a:r>
              <a:t/>
            </a:r>
          </a:p>
          <a:p xmlns:a="http://schemas.openxmlformats.org/drawingml/2006/main">
            <a:r>
              <a:t>この第6分冊では「最終確認・入金後・FAQ」を扱います。</a:t>
            </a:r>
          </a:p>
          <a:p xmlns:a="http://schemas.openxmlformats.org/drawingml/2006/main">
            <a:r>
              <a:t/>
            </a:r>
          </a:p>
          <a:p xmlns:a="http://schemas.openxmlformats.org/drawingml/2006/main">
            <a:r>
              <a:t>画面に表示している要点に加え、スピーカーノートへ元のHTMLマニュアルの詳しい説明を収録しています。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CHAPTER 12</a:t>
            </a:r>
          </a:p>
          <a:p xmlns:a="http://schemas.openxmlformats.org/drawingml/2006/main">
            <a:r>
              <a:t>提出前の完全チェックリスト</a:t>
            </a:r>
          </a:p>
          <a:p xmlns:a="http://schemas.openxmlformats.org/drawingml/2006/main">
            <a:r>
              <a:t/>
            </a:r>
          </a:p>
          <a:p xmlns:a="http://schemas.openxmlformats.org/drawingml/2006/main">
            <a:r>
              <a:t>この章の内容を、実務の流れに沿って説明します。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期間と手続き</a:t>
            </a:r>
          </a:p>
          <a:p xmlns:a="http://schemas.openxmlformats.org/drawingml/2006/main">
            <a:r>
              <a:t/>
            </a:r>
          </a:p>
          <a:p xmlns:a="http://schemas.openxmlformats.org/drawingml/2006/main">
            <a:r>
              <a:t>・交付決定日以後に発注・申込み・契約をしている</a:t>
            </a:r>
          </a:p>
          <a:p xmlns:a="http://schemas.openxmlformats.org/drawingml/2006/main">
            <a:r>
              <a:t>・補助事業終了日までに納品・完了・検収が終わっている</a:t>
            </a:r>
          </a:p>
          <a:p xmlns:a="http://schemas.openxmlformats.org/drawingml/2006/main">
            <a:r>
              <a:t>・補助事業終了日までに支払い・口座引落しが終わっている</a:t>
            </a:r>
          </a:p>
          <a:p xmlns:a="http://schemas.openxmlformats.org/drawingml/2006/main">
            <a:r>
              <a:t>・チラシ配布、機械使用、サイト公開等の計画した取組が完了している</a:t>
            </a:r>
          </a:p>
          <a:p xmlns:a="http://schemas.openxmlformats.org/drawingml/2006/main">
            <a:r>
              <a:t>・実績報告期限をマイページと公式資料で確認した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取引ごとの証拠書類</a:t>
            </a:r>
          </a:p>
          <a:p xmlns:a="http://schemas.openxmlformats.org/drawingml/2006/main">
            <a:r>
              <a:t/>
            </a:r>
          </a:p>
          <a:p xmlns:a="http://schemas.openxmlformats.org/drawingml/2006/main">
            <a:r>
              <a:t>・見積書がある</a:t>
            </a:r>
          </a:p>
          <a:p xmlns:a="http://schemas.openxmlformats.org/drawingml/2006/main">
            <a:r>
              <a:t>・税込100万円を超える発注は相見積または必要な選定理由書がある</a:t>
            </a:r>
          </a:p>
          <a:p xmlns:a="http://schemas.openxmlformats.org/drawingml/2006/main">
            <a:r>
              <a:t>・発注日がわかる発注書・契約書・注文記録がある</a:t>
            </a:r>
          </a:p>
          <a:p xmlns:a="http://schemas.openxmlformats.org/drawingml/2006/main">
            <a:r>
              <a:t>・納品書・完了報告書・検収書がある</a:t>
            </a:r>
          </a:p>
          <a:p xmlns:a="http://schemas.openxmlformats.org/drawingml/2006/main">
            <a:r>
              <a:t>・請求書がある</a:t>
            </a:r>
          </a:p>
          <a:p xmlns:a="http://schemas.openxmlformats.org/drawingml/2006/main">
            <a:r>
              <a:t>・銀行振込明細、通帳等の支払資料がある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・写真、チラシ、公開画面、配布一覧等の実施証拠がある</a:t>
            </a:r>
          </a:p>
          <a:p xmlns:a="http://schemas.openxmlformats.org/drawingml/2006/main">
            <a:r>
              <a:t>・すべての資料で宛名、相手先、品名、数量、金額がつながっている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申請システム</a:t>
            </a:r>
          </a:p>
          <a:p xmlns:a="http://schemas.openxmlformats.org/drawingml/2006/main">
            <a:r>
              <a:t/>
            </a:r>
          </a:p>
          <a:p xmlns:a="http://schemas.openxmlformats.org/drawingml/2006/main">
            <a:r>
              <a:t>・実績報告日、事業開始日、事業終了日が正しい</a:t>
            </a:r>
          </a:p>
          <a:p xmlns:a="http://schemas.openxmlformats.org/drawingml/2006/main">
            <a:r>
              <a:t>・具体的な取組、成果、効果を実績に基づいて書いた</a:t>
            </a:r>
          </a:p>
          <a:p xmlns:a="http://schemas.openxmlformats.org/drawingml/2006/main">
            <a:r>
              <a:t>・費目が交付決定の内容と一致している</a:t>
            </a:r>
          </a:p>
          <a:p xmlns:a="http://schemas.openxmlformats.org/drawingml/2006/main">
            <a:r>
              <a:t>・実支払額と補助対象額を分けて正しく入力した</a:t>
            </a:r>
          </a:p>
          <a:p xmlns:a="http://schemas.openxmlformats.org/drawingml/2006/main">
            <a:r>
              <a:t>・発注日、支払日、支払先、支払内容が証拠書類と一致している</a:t>
            </a:r>
          </a:p>
          <a:p xmlns:a="http://schemas.openxmlformats.org/drawingml/2006/main">
            <a:r>
              <a:t>・証憑を該当経費へ関連付けた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・収益納付の回答と計算根拠を確認した</a:t>
            </a:r>
          </a:p>
          <a:p xmlns:a="http://schemas.openxmlformats.org/drawingml/2006/main">
            <a:r>
              <a:t>・必要な賃金引上げ資料を添付した</a:t>
            </a:r>
          </a:p>
          <a:p xmlns:a="http://schemas.openxmlformats.org/drawingml/2006/main">
            <a:r>
              <a:t>・税抜50万円以上の財産等を取得財産等管理明細表へ登録した</a:t>
            </a:r>
          </a:p>
          <a:p xmlns:a="http://schemas.openxmlformats.org/drawingml/2006/main">
            <a:r>
              <a:t>・最終確認後、「提出する」を押し、完了画面を確認した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精算払請求</a:t>
            </a:r>
          </a:p>
          <a:p xmlns:a="http://schemas.openxmlformats.org/drawingml/2006/main">
            <a:r>
              <a:t/>
            </a:r>
          </a:p>
          <a:p xmlns:a="http://schemas.openxmlformats.org/drawingml/2006/main">
            <a:r>
              <a:t>・確定通知書を保存した</a:t>
            </a:r>
          </a:p>
          <a:p xmlns:a="http://schemas.openxmlformats.org/drawingml/2006/main">
            <a:r>
              <a:t>・確定額を確認した</a:t>
            </a:r>
          </a:p>
          <a:p xmlns:a="http://schemas.openxmlformats.org/drawingml/2006/main">
            <a:r>
              <a:t>・補助事業者本人名義の口座を登録した</a:t>
            </a:r>
          </a:p>
          <a:p xmlns:a="http://schemas.openxmlformats.org/drawingml/2006/main">
            <a:r>
              <a:t>・金融機関、支店、口座番号、名義が添付資料と一致している</a:t>
            </a:r>
          </a:p>
          <a:p xmlns:a="http://schemas.openxmlformats.org/drawingml/2006/main">
            <a:r>
              <a:t>・精算払請求の完了画面を確認した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CHAPTER 13</a:t>
            </a:r>
          </a:p>
          <a:p xmlns:a="http://schemas.openxmlformats.org/drawingml/2006/main">
            <a:r>
              <a:t>入金後も必要な、書類保存と事業効果報告</a:t>
            </a:r>
          </a:p>
          <a:p xmlns:a="http://schemas.openxmlformats.org/drawingml/2006/main">
            <a:r>
              <a:t/>
            </a:r>
          </a:p>
          <a:p xmlns:a="http://schemas.openxmlformats.org/drawingml/2006/main">
            <a:r>
              <a:t>この章の内容を、実務の流れに沿って説明します。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補助金が振り込まれた時点で、すべての義務が終わるわけではありません。補助事業の関係書類を保存し、定められた時期に事業効果等の状況を報告し、取得した財産を適切に管理します。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関係書類を一つの保存場所へまとめる</a:t>
            </a:r>
          </a:p>
          <a:p xmlns:a="http://schemas.openxmlformats.org/drawingml/2006/main">
            <a:r>
              <a:t/>
            </a:r>
          </a:p>
          <a:p xmlns:a="http://schemas.openxmlformats.org/drawingml/2006/main">
            <a:r>
              <a:t>応募申請書、採択通知書、交付決定通知書、変更承認関係、実績報告書、確定通知書、精算払請求書、入金記録、見積書、契約書、納品書、請求書、支払資料、写真、成果物、事務局との連絡を、一つの事業フォルダへまとめます。電子データだけで受領した書類は、メール本文やダウンロード日時が重要になる場合があるため、添付ファイルだけでなくメールも保存します。</a:t>
            </a:r>
          </a:p>
          <a:p xmlns:a="http://schemas.openxmlformats.org/drawingml/2006/main">
            <a:r>
              <a:t/>
            </a:r>
          </a:p>
          <a:p xmlns:a="http://schemas.openxmlformats.org/drawingml/2006/main">
            <a:r>
              <a:t>書類の保存期間は、採択回の交付規程と補助事業の手引きで確認します。補助金の検査は実績報告の審査時だけとは限りません。後日の検査で、原本、会計帳簿、通帳、取得財産の現物、使用状況等を確認される可能性があります。担当者の退職やパソコンの故障があっても確認できるよう、会社管理の保存先とバックアップを用意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保存フォルダの例00_申請・交付決定01_変更手続き02_経費別証拠書類03_実績報告提出データ04_差戻し・事務局連絡05_確定通知・精算払請求06_入金確認07_取得財産管理08_事業効果等状況報告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事業効果等状況報告を忘れない</a:t>
            </a:r>
          </a:p>
          <a:p xmlns:a="http://schemas.openxmlformats.org/drawingml/2006/main">
            <a:r>
              <a:t/>
            </a:r>
          </a:p>
          <a:p xmlns:a="http://schemas.openxmlformats.org/drawingml/2006/main">
            <a:r>
              <a:t>補助事業者は、補助事業終了後の一定期間について、補助事業がもたらした効果、売上、賃金引上げ等の状況を報告する必要があります。提出できる時期や対象期間は採択回の手引きで確認します。提出がない場合、今後の補助金申請に制約が生じることがあります。</a:t>
            </a:r>
          </a:p>
          <a:p xmlns:a="http://schemas.openxmlformats.org/drawingml/2006/main">
            <a:r>
              <a:t/>
            </a:r>
          </a:p>
          <a:p xmlns:a="http://schemas.openxmlformats.org/drawingml/2006/main">
            <a:r>
              <a:t>報告時期になってから数字を集めるのではなく、補助事業終了後から、月ごとの売上、対象商品・サービスの販売数、問い合わせ件数、新規顧客数、作業時間、雇用人数、賃金等を記録します。補助事業と無関係な全社売上だけでは効果が見えにくいため、可能な範囲で対象事業の数値を分け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記録する項目｜記録方法｜確認資料</a:t>
            </a:r>
          </a:p>
          <a:p xmlns:a="http://schemas.openxmlformats.org/drawingml/2006/main">
            <a:r>
              <a:t>対象商品・サービスの売上｜月別、商品別に集計｜売上台帳、会計データ、請求書</a:t>
            </a:r>
          </a:p>
          <a:p xmlns:a="http://schemas.openxmlformats.org/drawingml/2006/main">
            <a:r>
              <a:t>問い合わせ・商談・受注｜日付、流入経路、結果を記録｜問い合わせ一覧、商談記録、受注表</a:t>
            </a:r>
          </a:p>
          <a:p xmlns:a="http://schemas.openxmlformats.org/drawingml/2006/main">
            <a:r>
              <a:t>生産性・作業時間｜導入前後で同じ作業を比較｜作業日報、製造記録、予約台帳</a:t>
            </a:r>
          </a:p>
          <a:p xmlns:a="http://schemas.openxmlformats.org/drawingml/2006/main">
            <a:r>
              <a:t>ウェブの効果｜アクセス、フォーム送信、購入を月別集計｜アクセス解析、広告管理画面</a:t>
            </a:r>
          </a:p>
          <a:p xmlns:a="http://schemas.openxmlformats.org/drawingml/2006/main">
            <a:r>
              <a:t>賃金・雇用｜対象者と算定根拠を毎月保存｜賃金台帳、雇用契約書、労働者名簿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取得財産を処分する前に確認する</a:t>
            </a:r>
          </a:p>
          <a:p xmlns:a="http://schemas.openxmlformats.org/drawingml/2006/main">
            <a:r>
              <a:t/>
            </a:r>
          </a:p>
          <a:p xmlns:a="http://schemas.openxmlformats.org/drawingml/2006/main">
            <a:r>
              <a:t>処分制限の対象となる機械、設備、改装等は、一定期間、補助事業の目的に沿って管理する必要があります。売却、譲渡、廃棄、貸付け、担保設定、別事業への転用、設置場所の大幅な変更などを検討するときは、先に承認の要否を確認します。壊れたから廃棄する、閉店するから売るという場合でも、自己判断で処分しないでください。</a:t>
            </a:r>
          </a:p>
          <a:p xmlns:a="http://schemas.openxmlformats.org/drawingml/2006/main">
            <a:r>
              <a:t/>
            </a:r>
          </a:p>
          <a:p xmlns:a="http://schemas.openxmlformats.org/drawingml/2006/main">
            <a:r>
              <a:t>財産管理台帳には、財産名、規格、取得日、取得価格、保管場所、管理責任者、現況を記録します。定期的に現物を確認し、採択回表示が外れていないか、補助事業で使用されているか、移動・故障・修理がないかを記録します。写真を毎年残しておくと、継続使用の説明がしやすくなります。</a:t>
            </a:r>
          </a:p>
          <a:p xmlns:a="http://schemas.openxmlformats.org/drawingml/2006/main">
            <a:r>
              <a:t/>
            </a:r>
          </a:p>
          <a:p xmlns:a="http://schemas.openxmlformats.org/drawingml/2006/main">
            <a:r>
              <a:t>最後まで一つの手続き申請、採択、交付決定、事業実施、実績報告、確定通知、精算払請求、入金、事業効果報告、財産管理は、別々の作業ではなく一続きです。申請時の計画と、実際の支出・成果・その後の効果がつながるように記録して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CHAPTER 14</a:t>
            </a:r>
          </a:p>
          <a:p xmlns:a="http://schemas.openxmlformats.org/drawingml/2006/main">
            <a:r>
              <a:t>よくある質問</a:t>
            </a:r>
          </a:p>
          <a:p xmlns:a="http://schemas.openxmlformats.org/drawingml/2006/main">
            <a:r>
              <a:t/>
            </a:r>
          </a:p>
          <a:p xmlns:a="http://schemas.openxmlformats.org/drawingml/2006/main">
            <a:r>
              <a:t>この章の内容を、実務の流れに沿って説明します。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質問：領収書があれば、ほかの書類はいりませんか。</a:t>
            </a:r>
          </a:p>
          <a:p xmlns:a="http://schemas.openxmlformats.org/drawingml/2006/main">
            <a:r>
              <a:t>回答：原則として足りません。領収書は支払いの一部を証明しますが、発注日、注文内容、納品・完了を説明できません。見積書、発注・契約資料、納品・完了資料、請求書、支払資料、成果物等を取引の流れに沿ってそろえ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質問：見積書と請求書の金額が違います。</a:t>
            </a:r>
          </a:p>
          <a:p xmlns:a="http://schemas.openxmlformats.org/drawingml/2006/main">
            <a:r>
              <a:t>回答：変更理由を説明できる資料が必要です。数量変更、仕様変更、値引き、追加作業などの事実に応じ、変更見積書、変更契約書、メール、内訳表を用意します。変更内容が交付決定された計画の範囲内かも確認して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質問：インターネット通販で発注書や納品書がありません。</a:t>
            </a:r>
          </a:p>
          <a:p xmlns:a="http://schemas.openxmlformats.org/drawingml/2006/main">
            <a:r>
              <a:t>回答：注文確定画面、注文履歴、確認メール、出荷メール、配送完了画面、購入明細を保存します。注文日、商品名、数量、金額、販売者、納品日が確認できる資料を組み合わせます。取引後に画面が消えることがあるため、購入時点でPDF保存やスクリーンショットを行うことが重要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質問：交付決定前に注文してしまいました。</a:t>
            </a:r>
          </a:p>
          <a:p xmlns:a="http://schemas.openxmlformats.org/drawingml/2006/main">
            <a:r>
              <a:t>回答：原則として補助対象外です。実際の日付を変更することはできません。例外が明記された手続き以外は、当該経費を補助対象から外す方向で整理し、必要に応じて事務局または専門家へ確認して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質問：事業終了日までにカード代金が引き落とされません。</a:t>
            </a:r>
          </a:p>
          <a:p xmlns:a="http://schemas.openxmlformats.org/drawingml/2006/main">
            <a:r>
              <a:t>回答：カード利用日だけでなく、口座引落日まで補助事業期間内であることが求められます。引落日が期間外の場合、対象外となる可能性が高いため、事実に沿って申告し、採択回の手引きで確認して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質問：チラシは納品されましたが、まだ配っていません。</a:t>
            </a:r>
          </a:p>
          <a:p xmlns:a="http://schemas.openxmlformats.org/drawingml/2006/main">
            <a:r>
              <a:t>回答：印刷しただけでは、販路開拓の取組が完了していないと判断される可能性があります。補助事業期間内に計画した配布を行い、配布日、配布数、配布先、委託先の完了報告等を残してください。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質問：ウェブサイトを作りましたが、検索しても出てきません。</a:t>
            </a:r>
          </a:p>
          <a:p xmlns:a="http://schemas.openxmlformats.org/drawingml/2006/main">
            <a:r>
              <a:t>回答：検索順位そのものより、期間内に公開され、誰でもURLへアクセスでき、補助事業で対象とした商品・サービスや取組が確認できることが重要です。URL、公開画面、公開日、制作範囲、必要に応じて管理画面やアクセス記録を提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質問：差戻しが来たら、補助金はもらえませんか。</a:t>
            </a:r>
          </a:p>
          <a:p xmlns:a="http://schemas.openxmlformats.org/drawingml/2006/main">
            <a:r>
              <a:t>回答：差戻しだけで直ちに受給できないと決まるわけではありません。事務局が確認できなかった点を期限内に修正・補足します。ただし、期間外支出や実施していない取組など、後から解消できない事実は対象外になることが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質問：実績報告を提出したら、あとは入金を待つだけですか。</a:t>
            </a:r>
          </a:p>
          <a:p xmlns:a="http://schemas.openxmlformats.org/drawingml/2006/main">
            <a:r>
              <a:t>回答：いいえ。審査後に確定通知書が届いたら、精算払請求を提出します。補助事業者本人名義の口座を登録し、口座情報資料を添付して提出が完了した後、入金手続きへ進みます。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質問：補助金で買った機械を売却してもよいですか。</a:t>
            </a:r>
          </a:p>
          <a:p xmlns:a="http://schemas.openxmlformats.org/drawingml/2006/main">
            <a:r>
              <a:t>回答：自由に処分できない場合があります。税抜50万円以上の機械装置等などは処分制限財産となり、売却、廃棄、譲渡、目的外使用等に事前承認や返還が必要になることがあります。処分前に必ず確認して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&amp; NOTICE</a:t>
            </a:r>
          </a:p>
          <a:p xmlns:a="http://schemas.openxmlformats.org/drawingml/2006/main">
            <a:r>
              <a:t>本マニュアルの資料と注意事項</a:t>
            </a:r>
          </a:p>
          <a:p xmlns:a="http://schemas.openxmlformats.org/drawingml/2006/main">
            <a:r>
              <a:t/>
            </a:r>
          </a:p>
          <a:p xmlns:a="http://schemas.openxmlformats.org/drawingml/2006/main">
            <a:r>
              <a:t>この章の内容を、実務の流れに沿って説明します。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主な参照資料：小規模事業者持続化補助金＜一般型 通常枠＞「補助事業の手引き（第17回受付締切分・第1版 2025年9月26日）」「補助事業の手引き（第18回受付締切分・第2版 2026年3月17日）」「申請システム操作手引き 実績報告・精算払請求（2026年3月12日）」「申請システム操作手引き 通知文書」「申請システム操作手引き 採択～交付決定」「見積書等の提出のご案内」。掲載画面は資料作成時点のもので、申請システムの表示は変更される可能性があります。本マニュアルは一般的な整理方法を示すもので、個別案件の補助対象性を保証するもの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実績報告を、入金まで確実に進めたい方へ</a:t>
            </a:r>
          </a:p>
          <a:p xmlns:a="http://schemas.openxmlformats.org/drawingml/2006/main">
            <a:r>
              <a:t/>
            </a:r>
          </a:p>
          <a:p xmlns:a="http://schemas.openxmlformats.org/drawingml/2006/main">
            <a:r>
              <a:t>書類が足りるか不安、差戻しの直し方がわからない、申請システムへの入力で止まっている場合は、ご相談ください。完全オンラインで対応しています。</a:t>
            </a:r>
          </a:p>
          <a:p xmlns:a="http://schemas.openxmlformats.org/drawingml/2006/main">
            <a:r>
              <a:t/>
            </a:r>
          </a:p>
          <a:p xmlns:a="http://schemas.openxmlformats.org/drawingml/2006/main">
            <a:r>
              <a:t>会社名：Well Consultant合同会社</a:t>
            </a:r>
          </a:p>
          <a:p xmlns:a="http://schemas.openxmlformats.org/drawingml/2006/main">
            <a:r>
              <a:t/>
            </a:r>
          </a:p>
          <a:p xmlns:a="http://schemas.openxmlformats.org/drawingml/2006/main">
            <a:r>
              <a:t>メール：info@fp-1.info</a:t>
            </a:r>
          </a:p>
          <a:p xmlns:a="http://schemas.openxmlformats.org/drawingml/2006/main">
            <a:r>
              <a:t/>
            </a:r>
          </a:p>
          <a:p xmlns:a="http://schemas.openxmlformats.org/drawingml/2006/main">
            <a:r>
              <a:t>所在地：埼玉県熊谷市石原641-3</a:t>
            </a:r>
          </a:p>
          <a:p xmlns:a="http://schemas.openxmlformats.org/drawingml/2006/main">
            <a:r>
              <a:t/>
            </a:r>
          </a:p>
          <a:p xmlns:a="http://schemas.openxmlformats.org/drawingml/2006/main">
            <a:r>
              <a:t>対応方法：完全オンライン対応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538efc928542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1beaa40a274f10" /><Relationship Type="http://schemas.openxmlformats.org/officeDocument/2006/relationships/slideLayout" Target="/ppt/slideLayouts/slideLayout1.xml" Id="Rf6e2030c658748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e2030c658748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abbf7e75014e41" /><Relationship Type="http://schemas.openxmlformats.org/officeDocument/2006/relationships/notesSlide" Target="/ppt/notesSlides/notesSlide1.xml" Id="Rc5be74ee68a14a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cbed93562b43a2" /><Relationship Type="http://schemas.openxmlformats.org/officeDocument/2006/relationships/notesSlide" Target="/ppt/notesSlides/notesSlide2.xml" Id="R288cf40b544c41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792ceeb8d44096" /><Relationship Type="http://schemas.openxmlformats.org/officeDocument/2006/relationships/notesSlide" Target="/ppt/notesSlides/notesSlide3.xml" Id="R279b0462efc045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46807b893d4032" /><Relationship Type="http://schemas.openxmlformats.org/officeDocument/2006/relationships/notesSlide" Target="/ppt/notesSlides/notesSlide4.xml" Id="R52c0b758626649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057a1097714b84" /><Relationship Type="http://schemas.openxmlformats.org/officeDocument/2006/relationships/notesSlide" Target="/ppt/notesSlides/notesSlide5.xml" Id="R17f33a1c2bc641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57c84bbde54044" /><Relationship Type="http://schemas.openxmlformats.org/officeDocument/2006/relationships/notesSlide" Target="/ppt/notesSlides/notesSlide6.xml" Id="Rbab43576608b45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2948b0eff22427f" /><Relationship Type="http://schemas.openxmlformats.org/officeDocument/2006/relationships/notesSlide" Target="/ppt/notesSlides/notesSlide7.xml" Id="R1f13f38298c042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827d8e3a9484f3b" /><Relationship Type="http://schemas.openxmlformats.org/officeDocument/2006/relationships/notesSlide" Target="/ppt/notesSlides/notesSlide8.xml" Id="Rba599a8d209245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0e3bedd22664509" /><Relationship Type="http://schemas.openxmlformats.org/officeDocument/2006/relationships/notesSlide" Target="/ppt/notesSlides/notesSlide9.xml" Id="R2d6a863ab25c40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3d91644e7f94929" /><Relationship Type="http://schemas.openxmlformats.org/officeDocument/2006/relationships/notesSlide" Target="/ppt/notesSlides/notesSlide10.xml" Id="Rf26fdff4425a48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f6c113b5c83459e" /><Relationship Type="http://schemas.openxmlformats.org/officeDocument/2006/relationships/notesSlide" Target="/ppt/notesSlides/notesSlide11.xml" Id="R3fce43969de04a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6d0e581cf3a4264" /><Relationship Type="http://schemas.openxmlformats.org/officeDocument/2006/relationships/notesSlide" Target="/ppt/notesSlides/notesSlide12.xml" Id="Rdf1d93300d64451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026ee3b182f40c5" /><Relationship Type="http://schemas.openxmlformats.org/officeDocument/2006/relationships/notesSlide" Target="/ppt/notesSlides/notesSlide13.xml" Id="Rcde464bbd1a9417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1829419761945c0" /><Relationship Type="http://schemas.openxmlformats.org/officeDocument/2006/relationships/notesSlide" Target="/ppt/notesSlides/notesSlide14.xml" Id="R5e893bdf66314df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05974b661f74dd6" /><Relationship Type="http://schemas.openxmlformats.org/officeDocument/2006/relationships/notesSlide" Target="/ppt/notesSlides/notesSlide15.xml" Id="R47002b034904428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dc2c1226aff4472" /><Relationship Type="http://schemas.openxmlformats.org/officeDocument/2006/relationships/notesSlide" Target="/ppt/notesSlides/notesSlide16.xml" Id="R00ed3a5c09fa439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3fea5eed2874c8c" /><Relationship Type="http://schemas.openxmlformats.org/officeDocument/2006/relationships/notesSlide" Target="/ppt/notesSlides/notesSlide17.xml" Id="R59d7b79dd2ed429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d5f894b06874229" /><Relationship Type="http://schemas.openxmlformats.org/officeDocument/2006/relationships/notesSlide" Target="/ppt/notesSlides/notesSlide18.xml" Id="R2c9491aee1624dd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fc7673bb47c4032" /><Relationship Type="http://schemas.openxmlformats.org/officeDocument/2006/relationships/notesSlide" Target="/ppt/notesSlides/notesSlide19.xml" Id="R4abe871d2f9845a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c99d7f09d134a72" /><Relationship Type="http://schemas.openxmlformats.org/officeDocument/2006/relationships/notesSlide" Target="/ppt/notesSlides/notesSlide20.xml" Id="R8c3c919aa3bf478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6af61e577344fec" /><Relationship Type="http://schemas.openxmlformats.org/officeDocument/2006/relationships/notesSlide" Target="/ppt/notesSlides/notesSlide21.xml" Id="R8e9e86e1081148a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f8c7913e61446f2" /><Relationship Type="http://schemas.openxmlformats.org/officeDocument/2006/relationships/notesSlide" Target="/ppt/notesSlides/notesSlide22.xml" Id="R88c1f1f8d2f74da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6d0c6eb28084523" /><Relationship Type="http://schemas.openxmlformats.org/officeDocument/2006/relationships/notesSlide" Target="/ppt/notesSlides/notesSlide23.xml" Id="R5cad62681758426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06b3f3d6b4248c3" /><Relationship Type="http://schemas.openxmlformats.org/officeDocument/2006/relationships/notesSlide" Target="/ppt/notesSlides/notesSlide24.xml" Id="Reb7635a22aa24d4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2d0b697825e48c1" /><Relationship Type="http://schemas.openxmlformats.org/officeDocument/2006/relationships/notesSlide" Target="/ppt/notesSlides/notesSlide25.xml" Id="R6efd9f26f21c47f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c564f7963fa434d" /><Relationship Type="http://schemas.openxmlformats.org/officeDocument/2006/relationships/notesSlide" Target="/ppt/notesSlides/notesSlide26.xml" Id="R8363f60e171e4ff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13f25e419b54177" /><Relationship Type="http://schemas.openxmlformats.org/officeDocument/2006/relationships/notesSlide" Target="/ppt/notesSlides/notesSlide27.xml" Id="R40a063783b964a4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11dd0dae26046eb" /><Relationship Type="http://schemas.openxmlformats.org/officeDocument/2006/relationships/notesSlide" Target="/ppt/notesSlides/notesSlide28.xml" Id="R086010c9ad554a0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320d5e801114ccf" /><Relationship Type="http://schemas.openxmlformats.org/officeDocument/2006/relationships/notesSlide" Target="/ppt/notesSlides/notesSlide29.xml" Id="R1060ee498bbe4460" /></Relationships>
</file>

<file path=ppt/slides/slide1.xml><?xml version="1.0" encoding="utf-8"?>
<p:sld xmlns:p="http://schemas.openxmlformats.org/presentationml/2006/main">
  <p:cSld>
    <p:bg>
      <p:bgPr>
        <a:solidFill xmlns:a="http://schemas.openxmlformats.org/drawingml/2006/main">
          <a:srgbClr val="17372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63767D-A9C7-4721-8C21-716E7926222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6C976B5-4F0D-4BBE-BB38-05B2A255AFE9}"/>
              </a:ext>
            </a:extLst>
          </p:cNvPr>
          <p:cNvSpPr>
            <a:spLocks xmlns:a="http://schemas.openxmlformats.org/drawingml/2006/main" noGrp="1"/>
          </p:cNvSpPr>
          <p:nvPr/>
        </p:nvSpPr>
        <p:spPr>
          <a:xfrm xmlns:a="http://schemas.openxmlformats.org/drawingml/2006/main">
            <a:off x="819150" y="857250"/>
            <a:ext cx="495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a:solidFill>
                  <a:srgbClr val="FFFFFF"/>
                </a:solidFill>
              </a:defRPr>
            </a:pPr>
            <a:r>
              <a:rPr sz="4050" b="1">
                <a:solidFill>
                  <a:srgbClr val="FFFFFF"/>
                </a:solidFill>
              </a:rPr>
              <a:t>持続化補助金</a:t>
            </a:r>
          </a:p>
          <a:p xmlns:a="http://schemas.openxmlformats.org/drawingml/2006/main">
            <a:pPr algn="l">
              <a:defRPr sz="4050" b="1">
                <a:solidFill>
                  <a:srgbClr val="FFFFFF"/>
                </a:solidFill>
              </a:defRPr>
            </a:pPr>
            <a:r>
              <a:rPr sz="4050" b="1">
                <a:solidFill>
                  <a:srgbClr val="FFFFFF"/>
                </a:solidFill>
              </a:rPr>
              <a:t>実績報告</a:t>
            </a:r>
          </a:p>
        </p:txBody>
      </p:sp>
      <p:sp>
        <p:nvSpPr>
          <p:cNvPr id="3" name="">
            <a:extLst xmlns:a="http://schemas.openxmlformats.org/drawingml/2006/main">
              <a:ext uri="{FF2B5EF4-FFF2-40B4-BE49-F238E27FC236}">
                <a16:creationId xmlns:a16="http://schemas.microsoft.com/office/drawing/2014/main" id="{7DD6A966-06B6-49BA-AEA1-CFD17C18E521}"/>
              </a:ext>
            </a:extLst>
          </p:cNvPr>
          <p:cNvSpPr>
            <a:spLocks xmlns:a="http://schemas.openxmlformats.org/drawingml/2006/main" noGrp="1"/>
          </p:cNvSpPr>
          <p:nvPr/>
        </p:nvSpPr>
        <p:spPr>
          <a:xfrm xmlns:a="http://schemas.openxmlformats.org/drawingml/2006/main">
            <a:off x="819150" y="224790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E7C98C"/>
                </a:solidFill>
              </a:defRPr>
            </a:pPr>
            <a:r>
              <a:rPr sz="2700" b="1">
                <a:solidFill>
                  <a:srgbClr val="E7C98C"/>
                </a:solidFill>
              </a:rPr>
              <a:t>やさしい手順と</a:t>
            </a:r>
          </a:p>
          <a:p xmlns:a="http://schemas.openxmlformats.org/drawingml/2006/main">
            <a:pPr algn="l">
              <a:defRPr sz="2700" b="1">
                <a:solidFill>
                  <a:srgbClr val="E7C98C"/>
                </a:solidFill>
              </a:defRPr>
            </a:pPr>
            <a:r>
              <a:rPr sz="2700" b="1">
                <a:solidFill>
                  <a:srgbClr val="E7C98C"/>
                </a:solidFill>
              </a:rPr>
              <a:t>よくある不備解消マニュアル</a:t>
            </a:r>
          </a:p>
        </p:txBody>
      </p:sp>
      <p:sp>
        <p:nvSpPr>
          <p:cNvPr id="4" name="">
            <a:extLst xmlns:a="http://schemas.openxmlformats.org/drawingml/2006/main">
              <a:ext uri="{FF2B5EF4-FFF2-40B4-BE49-F238E27FC236}">
                <a16:creationId xmlns:a16="http://schemas.microsoft.com/office/drawing/2014/main" id="{689B6830-7355-4AC4-B6BB-6F792FD074F1}"/>
              </a:ext>
            </a:extLst>
          </p:cNvPr>
          <p:cNvSpPr>
            <a:spLocks xmlns:a="http://schemas.openxmlformats.org/drawingml/2006/main" noGrp="1"/>
          </p:cNvSpPr>
          <p:nvPr/>
        </p:nvSpPr>
        <p:spPr>
          <a:xfrm xmlns:a="http://schemas.openxmlformats.org/drawingml/2006/main">
            <a:off x="7524750" y="838200"/>
            <a:ext cx="3562350" cy="4229100"/>
          </a:xfrm>
          <a:prstGeom xmlns:a="http://schemas.openxmlformats.org/drawingml/2006/main" prst="roundRect">
            <a:avLst>
              <a:gd name="adj" fmla="val 3209"/>
            </a:avLst>
          </a:prstGeom>
          <a:solidFill xmlns:a="http://schemas.openxmlformats.org/drawingml/2006/main">
            <a:srgbClr val="21483D"/>
          </a:solidFill>
          <a:ln xmlns:a="http://schemas.openxmlformats.org/drawingml/2006/main" w="9525">
            <a:solidFill>
              <a:srgbClr val="4A7165"/>
            </a:solidFill>
            <a:prstDash val="solid"/>
          </a:ln>
        </p:spPr>
      </p:sp>
      <p:sp>
        <p:nvSpPr>
          <p:cNvPr id="5" name="">
            <a:extLst xmlns:a="http://schemas.openxmlformats.org/drawingml/2006/main">
              <a:ext uri="{FF2B5EF4-FFF2-40B4-BE49-F238E27FC236}">
                <a16:creationId xmlns:a16="http://schemas.microsoft.com/office/drawing/2014/main" id="{5571BB88-EE0C-45FE-92D0-C5C364708A36}"/>
              </a:ext>
            </a:extLst>
          </p:cNvPr>
          <p:cNvSpPr>
            <a:spLocks xmlns:a="http://schemas.openxmlformats.org/drawingml/2006/main" noGrp="1"/>
          </p:cNvSpPr>
          <p:nvPr/>
        </p:nvSpPr>
        <p:spPr>
          <a:xfrm xmlns:a="http://schemas.openxmlformats.org/drawingml/2006/main">
            <a:off x="8020050" y="1371600"/>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E7C98C"/>
                </a:solidFill>
              </a:defRPr>
            </a:pPr>
            <a:r>
              <a:rPr sz="1950" b="1">
                <a:solidFill>
                  <a:srgbClr val="E7C98C"/>
                </a:solidFill>
              </a:rPr>
              <a:t>第6分冊</a:t>
            </a:r>
          </a:p>
        </p:txBody>
      </p:sp>
      <p:sp>
        <p:nvSpPr>
          <p:cNvPr id="6" name="">
            <a:extLst xmlns:a="http://schemas.openxmlformats.org/drawingml/2006/main">
              <a:ext uri="{FF2B5EF4-FFF2-40B4-BE49-F238E27FC236}">
                <a16:creationId xmlns:a16="http://schemas.microsoft.com/office/drawing/2014/main" id="{2AFA842A-F301-423E-BDE0-9E35615495B4}"/>
              </a:ext>
            </a:extLst>
          </p:cNvPr>
          <p:cNvSpPr>
            <a:spLocks xmlns:a="http://schemas.openxmlformats.org/drawingml/2006/main" noGrp="1"/>
          </p:cNvSpPr>
          <p:nvPr/>
        </p:nvSpPr>
        <p:spPr>
          <a:xfrm xmlns:a="http://schemas.openxmlformats.org/drawingml/2006/main">
            <a:off x="7981950" y="21336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FFFFF"/>
                </a:solidFill>
              </a:defRPr>
            </a:pPr>
            <a:r>
              <a:rPr sz="2550" b="1">
                <a:solidFill>
                  <a:srgbClr val="FFFFFF"/>
                </a:solidFill>
              </a:rPr>
              <a:t>最終確認・入金後・FAQ</a:t>
            </a:r>
          </a:p>
        </p:txBody>
      </p:sp>
      <p:sp>
        <p:nvSpPr>
          <p:cNvPr id="7" name="">
            <a:extLst xmlns:a="http://schemas.openxmlformats.org/drawingml/2006/main">
              <a:ext uri="{FF2B5EF4-FFF2-40B4-BE49-F238E27FC236}">
                <a16:creationId xmlns:a16="http://schemas.microsoft.com/office/drawing/2014/main" id="{03E5F6C8-9C89-47E3-8FB9-01DC9C04BBE8}"/>
              </a:ext>
            </a:extLst>
          </p:cNvPr>
          <p:cNvSpPr>
            <a:spLocks xmlns:a="http://schemas.openxmlformats.org/drawingml/2006/main" noGrp="1"/>
          </p:cNvSpPr>
          <p:nvPr/>
        </p:nvSpPr>
        <p:spPr>
          <a:xfrm xmlns:a="http://schemas.openxmlformats.org/drawingml/2006/main">
            <a:off x="8020050" y="38862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C8D9D1"/>
                </a:solidFill>
              </a:defRPr>
            </a:pPr>
            <a:r>
              <a:rPr sz="1425" b="0">
                <a:solidFill>
                  <a:srgbClr val="C8D9D1"/>
                </a:solidFill>
              </a:rPr>
              <a:t>第12章〜第14章＋資料・相談先</a:t>
            </a:r>
          </a:p>
        </p:txBody>
      </p:sp>
      <p:sp>
        <p:nvSpPr>
          <p:cNvPr id="8" name="">
            <a:extLst xmlns:a="http://schemas.openxmlformats.org/drawingml/2006/main">
              <a:ext uri="{FF2B5EF4-FFF2-40B4-BE49-F238E27FC236}">
                <a16:creationId xmlns:a16="http://schemas.microsoft.com/office/drawing/2014/main" id="{40B5CF53-A191-420D-BFCE-C8A3A4B3FB3E}"/>
              </a:ext>
            </a:extLst>
          </p:cNvPr>
          <p:cNvSpPr>
            <a:spLocks xmlns:a="http://schemas.openxmlformats.org/drawingml/2006/main" noGrp="1"/>
          </p:cNvSpPr>
          <p:nvPr/>
        </p:nvSpPr>
        <p:spPr>
          <a:xfrm xmlns:a="http://schemas.openxmlformats.org/drawingml/2006/main">
            <a:off x="819150" y="6000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C8D9D1"/>
                </a:solidFill>
              </a:defRPr>
            </a:pPr>
            <a:r>
              <a:rPr sz="1200" b="0">
                <a:solidFill>
                  <a:srgbClr val="C8D9D1"/>
                </a:solidFill>
              </a:rPr>
              <a:t>Well Consultant合同会社｜完全オンライン対応</a:t>
            </a:r>
          </a:p>
        </p:txBody>
      </p:sp>
    </p:spTree>
    <p:extLst>
      <p:ext uri="{BB962C8B-B14F-4D97-AF65-F5344CB8AC3E}">
        <p14:creationId xmlns:p14="http://schemas.microsoft.com/office/powerpoint/2010/main" val="1588045191"/>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ACC1FB7-B4E5-47CF-A7C7-D63F58CFFE9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CA2EE02-8BBE-4474-BAB1-EB3437ED1D3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8FAD8DFF-45E3-4CE7-A954-25A5E5B41403}"/>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12</a:t>
            </a:r>
          </a:p>
        </p:txBody>
      </p:sp>
      <p:sp>
        <p:nvSpPr>
          <p:cNvPr id="4" name="">
            <a:extLst xmlns:a="http://schemas.openxmlformats.org/drawingml/2006/main">
              <a:ext uri="{FF2B5EF4-FFF2-40B4-BE49-F238E27FC236}">
                <a16:creationId xmlns:a16="http://schemas.microsoft.com/office/drawing/2014/main" id="{9812D2BB-123D-4E0F-A83A-D73E8CD793C8}"/>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02</a:t>
            </a:r>
          </a:p>
        </p:txBody>
      </p:sp>
      <p:sp>
        <p:nvSpPr>
          <p:cNvPr id="5" name="">
            <a:extLst xmlns:a="http://schemas.openxmlformats.org/drawingml/2006/main">
              <a:ext uri="{FF2B5EF4-FFF2-40B4-BE49-F238E27FC236}">
                <a16:creationId xmlns:a16="http://schemas.microsoft.com/office/drawing/2014/main" id="{C41D3A5F-9A81-4154-BA95-BE4EC3DCA6D6}"/>
              </a:ext>
            </a:extLst>
          </p:cNvPr>
          <p:cNvSpPr>
            <a:spLocks xmlns:a="http://schemas.openxmlformats.org/drawingml/2006/main" noGrp="1"/>
          </p:cNvSpPr>
          <p:nvPr/>
        </p:nvSpPr>
        <p:spPr>
          <a:xfrm xmlns:a="http://schemas.openxmlformats.org/drawingml/2006/main">
            <a:off x="8191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7791F"/>
                </a:solidFill>
              </a:defRPr>
            </a:pPr>
            <a:r>
              <a:rPr sz="1350" b="1">
                <a:solidFill>
                  <a:srgbClr val="B7791F"/>
                </a:solidFill>
              </a:rPr>
              <a:t>CHAPTER 12</a:t>
            </a:r>
          </a:p>
        </p:txBody>
      </p:sp>
      <p:sp>
        <p:nvSpPr>
          <p:cNvPr id="6" name="">
            <a:extLst xmlns:a="http://schemas.openxmlformats.org/drawingml/2006/main">
              <a:ext uri="{FF2B5EF4-FFF2-40B4-BE49-F238E27FC236}">
                <a16:creationId xmlns:a16="http://schemas.microsoft.com/office/drawing/2014/main" id="{6E75F9FA-F4FE-4A4D-A028-741C5E3D0F40}"/>
              </a:ext>
            </a:extLst>
          </p:cNvPr>
          <p:cNvSpPr>
            <a:spLocks xmlns:a="http://schemas.openxmlformats.org/drawingml/2006/main" noGrp="1"/>
          </p:cNvSpPr>
          <p:nvPr/>
        </p:nvSpPr>
        <p:spPr>
          <a:xfrm xmlns:a="http://schemas.openxmlformats.org/drawingml/2006/main">
            <a:off x="800100" y="20764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72F"/>
                </a:solidFill>
              </a:defRPr>
            </a:pPr>
            <a:r>
              <a:rPr sz="3600" b="1">
                <a:solidFill>
                  <a:srgbClr val="17372F"/>
                </a:solidFill>
              </a:rPr>
              <a:t>提出前の完全チェックリスト</a:t>
            </a:r>
          </a:p>
        </p:txBody>
      </p:sp>
      <p:sp>
        <p:nvSpPr>
          <p:cNvPr id="7" name="">
            <a:extLst xmlns:a="http://schemas.openxmlformats.org/drawingml/2006/main">
              <a:ext uri="{FF2B5EF4-FFF2-40B4-BE49-F238E27FC236}">
                <a16:creationId xmlns:a16="http://schemas.microsoft.com/office/drawing/2014/main" id="{9C6DDFFB-BA25-456C-98B3-2B6E6B71B395}"/>
              </a:ext>
            </a:extLst>
          </p:cNvPr>
          <p:cNvSpPr>
            <a:spLocks xmlns:a="http://schemas.openxmlformats.org/drawingml/2006/main" noGrp="1"/>
          </p:cNvSpPr>
          <p:nvPr/>
        </p:nvSpPr>
        <p:spPr>
          <a:xfrm xmlns:a="http://schemas.openxmlformats.org/drawingml/2006/main">
            <a:off x="819150" y="4114800"/>
            <a:ext cx="2381250" cy="76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6B02E98-48EA-4665-9EBA-50D264A6B729}"/>
              </a:ext>
            </a:extLst>
          </p:cNvPr>
          <p:cNvSpPr>
            <a:spLocks xmlns:a="http://schemas.openxmlformats.org/drawingml/2006/main" noGrp="1"/>
          </p:cNvSpPr>
          <p:nvPr/>
        </p:nvSpPr>
        <p:spPr>
          <a:xfrm xmlns:a="http://schemas.openxmlformats.org/drawingml/2006/main">
            <a:off x="819150" y="4552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964"/>
                </a:solidFill>
              </a:defRPr>
            </a:pPr>
            <a:r>
              <a:rPr sz="1650" b="0">
                <a:solidFill>
                  <a:srgbClr val="5D6964"/>
                </a:solidFill>
              </a:rPr>
              <a:t>必要な資料と判断基準を、実務の順番で確認します。</a:t>
            </a:r>
          </a:p>
        </p:txBody>
      </p:sp>
    </p:spTree>
    <p:extLst>
      <p:ext uri="{BB962C8B-B14F-4D97-AF65-F5344CB8AC3E}">
        <p14:creationId xmlns:p14="http://schemas.microsoft.com/office/powerpoint/2010/main" val="49932875"/>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91DC10-27FC-41DC-A6ED-FD4E2A93399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5222F1-816F-420D-92DB-9422A2A38BCB}"/>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4DFE665D-14FA-4941-BC2E-98A5F50AFCD0}"/>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12</a:t>
            </a:r>
          </a:p>
        </p:txBody>
      </p:sp>
      <p:sp>
        <p:nvSpPr>
          <p:cNvPr id="4" name="">
            <a:extLst xmlns:a="http://schemas.openxmlformats.org/drawingml/2006/main">
              <a:ext uri="{FF2B5EF4-FFF2-40B4-BE49-F238E27FC236}">
                <a16:creationId xmlns:a16="http://schemas.microsoft.com/office/drawing/2014/main" id="{049A68C9-7812-4E6D-8F84-C9A1CDE11B4C}"/>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03</a:t>
            </a:r>
          </a:p>
        </p:txBody>
      </p:sp>
      <p:sp>
        <p:nvSpPr>
          <p:cNvPr id="5" name="">
            <a:extLst xmlns:a="http://schemas.openxmlformats.org/drawingml/2006/main">
              <a:ext uri="{FF2B5EF4-FFF2-40B4-BE49-F238E27FC236}">
                <a16:creationId xmlns:a16="http://schemas.microsoft.com/office/drawing/2014/main" id="{9C9879BA-C209-48DF-97F0-2F94C719FEDF}"/>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期間と手続き</a:t>
            </a:r>
          </a:p>
        </p:txBody>
      </p:sp>
      <p:sp>
        <p:nvSpPr>
          <p:cNvPr id="6" name="">
            <a:extLst xmlns:a="http://schemas.openxmlformats.org/drawingml/2006/main">
              <a:ext uri="{FF2B5EF4-FFF2-40B4-BE49-F238E27FC236}">
                <a16:creationId xmlns:a16="http://schemas.microsoft.com/office/drawing/2014/main" id="{E08D6F4B-C788-4C71-AFD1-65C2BBA69534}"/>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00A202C-D249-4902-84D5-C3123BD1C7AB}"/>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F545751C-2A10-4B26-9EAD-0ECA90190EBE}"/>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08125C1-095E-4273-88DA-0A5D629C2381}"/>
              </a:ext>
            </a:extLst>
          </p:cNvPr>
          <p:cNvSpPr>
            <a:spLocks xmlns:a="http://schemas.openxmlformats.org/drawingml/2006/main" noGrp="1"/>
          </p:cNvSpPr>
          <p:nvPr/>
        </p:nvSpPr>
        <p:spPr>
          <a:xfrm xmlns:a="http://schemas.openxmlformats.org/drawingml/2006/main">
            <a:off x="1333500" y="241935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交付決定日以後に発注・申込み・契約をしている</a:t>
            </a:r>
          </a:p>
        </p:txBody>
      </p:sp>
      <p:sp>
        <p:nvSpPr>
          <p:cNvPr id="10" name="">
            <a:extLst xmlns:a="http://schemas.openxmlformats.org/drawingml/2006/main">
              <a:ext uri="{FF2B5EF4-FFF2-40B4-BE49-F238E27FC236}">
                <a16:creationId xmlns:a16="http://schemas.microsoft.com/office/drawing/2014/main" id="{87D89163-1126-427D-8C53-6FFEF34C2546}"/>
              </a:ext>
            </a:extLst>
          </p:cNvPr>
          <p:cNvSpPr>
            <a:spLocks xmlns:a="http://schemas.openxmlformats.org/drawingml/2006/main" noGrp="1"/>
          </p:cNvSpPr>
          <p:nvPr/>
        </p:nvSpPr>
        <p:spPr>
          <a:xfrm xmlns:a="http://schemas.openxmlformats.org/drawingml/2006/main">
            <a:off x="1028700" y="322897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ECFE668-39C3-4E53-950C-52B7B31B659B}"/>
              </a:ext>
            </a:extLst>
          </p:cNvPr>
          <p:cNvSpPr>
            <a:spLocks xmlns:a="http://schemas.openxmlformats.org/drawingml/2006/main" noGrp="1"/>
          </p:cNvSpPr>
          <p:nvPr/>
        </p:nvSpPr>
        <p:spPr>
          <a:xfrm xmlns:a="http://schemas.openxmlformats.org/drawingml/2006/main">
            <a:off x="1333500" y="300990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補助事業終了日までに納品・完了・検収が終わっている</a:t>
            </a:r>
          </a:p>
        </p:txBody>
      </p:sp>
      <p:sp>
        <p:nvSpPr>
          <p:cNvPr id="12" name="">
            <a:extLst xmlns:a="http://schemas.openxmlformats.org/drawingml/2006/main">
              <a:ext uri="{FF2B5EF4-FFF2-40B4-BE49-F238E27FC236}">
                <a16:creationId xmlns:a16="http://schemas.microsoft.com/office/drawing/2014/main" id="{1A42CD82-D722-4D8A-B04E-6BFC585397C5}"/>
              </a:ext>
            </a:extLst>
          </p:cNvPr>
          <p:cNvSpPr>
            <a:spLocks xmlns:a="http://schemas.openxmlformats.org/drawingml/2006/main" noGrp="1"/>
          </p:cNvSpPr>
          <p:nvPr/>
        </p:nvSpPr>
        <p:spPr>
          <a:xfrm xmlns:a="http://schemas.openxmlformats.org/drawingml/2006/main">
            <a:off x="1028700" y="38195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BC5A598-CAF0-42BC-994A-BB0A82551A6E}"/>
              </a:ext>
            </a:extLst>
          </p:cNvPr>
          <p:cNvSpPr>
            <a:spLocks xmlns:a="http://schemas.openxmlformats.org/drawingml/2006/main" noGrp="1"/>
          </p:cNvSpPr>
          <p:nvPr/>
        </p:nvSpPr>
        <p:spPr>
          <a:xfrm xmlns:a="http://schemas.openxmlformats.org/drawingml/2006/main">
            <a:off x="1333500" y="360045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補助事業終了日までに支払い・口座引落しが終わっている</a:t>
            </a:r>
          </a:p>
        </p:txBody>
      </p:sp>
      <p:sp>
        <p:nvSpPr>
          <p:cNvPr id="14" name="">
            <a:extLst xmlns:a="http://schemas.openxmlformats.org/drawingml/2006/main">
              <a:ext uri="{FF2B5EF4-FFF2-40B4-BE49-F238E27FC236}">
                <a16:creationId xmlns:a16="http://schemas.microsoft.com/office/drawing/2014/main" id="{35CC3636-5F46-450D-A034-711F71378D6E}"/>
              </a:ext>
            </a:extLst>
          </p:cNvPr>
          <p:cNvSpPr>
            <a:spLocks xmlns:a="http://schemas.openxmlformats.org/drawingml/2006/main" noGrp="1"/>
          </p:cNvSpPr>
          <p:nvPr/>
        </p:nvSpPr>
        <p:spPr>
          <a:xfrm xmlns:a="http://schemas.openxmlformats.org/drawingml/2006/main">
            <a:off x="1028700" y="441007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7FF34A4-7BCE-4B04-9024-B1C8E6C3A4AC}"/>
              </a:ext>
            </a:extLst>
          </p:cNvPr>
          <p:cNvSpPr>
            <a:spLocks xmlns:a="http://schemas.openxmlformats.org/drawingml/2006/main" noGrp="1"/>
          </p:cNvSpPr>
          <p:nvPr/>
        </p:nvSpPr>
        <p:spPr>
          <a:xfrm xmlns:a="http://schemas.openxmlformats.org/drawingml/2006/main">
            <a:off x="1333500" y="419100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チラシ配布、機械使用、サイト公開等の計画した取組が完了している</a:t>
            </a:r>
          </a:p>
        </p:txBody>
      </p:sp>
      <p:sp>
        <p:nvSpPr>
          <p:cNvPr id="16" name="">
            <a:extLst xmlns:a="http://schemas.openxmlformats.org/drawingml/2006/main">
              <a:ext uri="{FF2B5EF4-FFF2-40B4-BE49-F238E27FC236}">
                <a16:creationId xmlns:a16="http://schemas.microsoft.com/office/drawing/2014/main" id="{C3C4C913-929F-4624-BD4D-0071AD1A09B9}"/>
              </a:ext>
            </a:extLst>
          </p:cNvPr>
          <p:cNvSpPr>
            <a:spLocks xmlns:a="http://schemas.openxmlformats.org/drawingml/2006/main" noGrp="1"/>
          </p:cNvSpPr>
          <p:nvPr/>
        </p:nvSpPr>
        <p:spPr>
          <a:xfrm xmlns:a="http://schemas.openxmlformats.org/drawingml/2006/main">
            <a:off x="1028700" y="5000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E39EB03-A3A4-4EA8-A85F-C9169AA46087}"/>
              </a:ext>
            </a:extLst>
          </p:cNvPr>
          <p:cNvSpPr>
            <a:spLocks xmlns:a="http://schemas.openxmlformats.org/drawingml/2006/main" noGrp="1"/>
          </p:cNvSpPr>
          <p:nvPr/>
        </p:nvSpPr>
        <p:spPr>
          <a:xfrm xmlns:a="http://schemas.openxmlformats.org/drawingml/2006/main">
            <a:off x="1333500" y="478155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実績報告期限をマイページと公式資料で確認した</a:t>
            </a:r>
          </a:p>
        </p:txBody>
      </p:sp>
      <p:sp>
        <p:nvSpPr>
          <p:cNvPr id="18" name="">
            <a:extLst xmlns:a="http://schemas.openxmlformats.org/drawingml/2006/main">
              <a:ext uri="{FF2B5EF4-FFF2-40B4-BE49-F238E27FC236}">
                <a16:creationId xmlns:a16="http://schemas.microsoft.com/office/drawing/2014/main" id="{5C507DA8-31C4-4EAC-8BEF-5718404AE886}"/>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546264064"/>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87062AE-A065-45B9-BE2E-8631EF27D30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3CB5A64-65F1-4BD4-810B-77D6C10B1649}"/>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70409BA0-EC44-4A10-B8EF-54EA29F7CD5D}"/>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12</a:t>
            </a:r>
          </a:p>
        </p:txBody>
      </p:sp>
      <p:sp>
        <p:nvSpPr>
          <p:cNvPr id="4" name="">
            <a:extLst xmlns:a="http://schemas.openxmlformats.org/drawingml/2006/main">
              <a:ext uri="{FF2B5EF4-FFF2-40B4-BE49-F238E27FC236}">
                <a16:creationId xmlns:a16="http://schemas.microsoft.com/office/drawing/2014/main" id="{797BE6D1-784F-4729-8354-135BB2211A87}"/>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04</a:t>
            </a:r>
          </a:p>
        </p:txBody>
      </p:sp>
      <p:sp>
        <p:nvSpPr>
          <p:cNvPr id="5" name="">
            <a:extLst xmlns:a="http://schemas.openxmlformats.org/drawingml/2006/main">
              <a:ext uri="{FF2B5EF4-FFF2-40B4-BE49-F238E27FC236}">
                <a16:creationId xmlns:a16="http://schemas.microsoft.com/office/drawing/2014/main" id="{72A30B9A-78C7-4E60-AFAB-172703B0C22B}"/>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取引ごとの証拠書類（1/2）</a:t>
            </a:r>
          </a:p>
        </p:txBody>
      </p:sp>
      <p:sp>
        <p:nvSpPr>
          <p:cNvPr id="6" name="">
            <a:extLst xmlns:a="http://schemas.openxmlformats.org/drawingml/2006/main">
              <a:ext uri="{FF2B5EF4-FFF2-40B4-BE49-F238E27FC236}">
                <a16:creationId xmlns:a16="http://schemas.microsoft.com/office/drawing/2014/main" id="{FB614EC0-0197-4B20-B927-521D15379786}"/>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91B9607-19A5-4C4B-8960-334DDC90A8A6}"/>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8191E843-8E75-4C33-8F98-B119E549BF92}"/>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2BC2673-C5F8-465C-869F-4CD7B7E39E5C}"/>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見積書がある</a:t>
            </a:r>
          </a:p>
        </p:txBody>
      </p:sp>
      <p:sp>
        <p:nvSpPr>
          <p:cNvPr id="10" name="">
            <a:extLst xmlns:a="http://schemas.openxmlformats.org/drawingml/2006/main">
              <a:ext uri="{FF2B5EF4-FFF2-40B4-BE49-F238E27FC236}">
                <a16:creationId xmlns:a16="http://schemas.microsoft.com/office/drawing/2014/main" id="{7699C44A-10A9-44FD-8CC6-850F290CE074}"/>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040512E-ED22-4624-A3B5-5C4326DACE60}"/>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税込100万円を超える発注は相見積または必要な選定理由書がある</a:t>
            </a:r>
          </a:p>
        </p:txBody>
      </p:sp>
      <p:sp>
        <p:nvSpPr>
          <p:cNvPr id="12" name="">
            <a:extLst xmlns:a="http://schemas.openxmlformats.org/drawingml/2006/main">
              <a:ext uri="{FF2B5EF4-FFF2-40B4-BE49-F238E27FC236}">
                <a16:creationId xmlns:a16="http://schemas.microsoft.com/office/drawing/2014/main" id="{B6F373C6-9730-4ECA-BE94-A231A8CAA8CE}"/>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3835DF6-33AA-46FD-8D16-0AA38CF6CCAC}"/>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発注日がわかる発注書・契約書・注文記録がある</a:t>
            </a:r>
          </a:p>
        </p:txBody>
      </p:sp>
      <p:sp>
        <p:nvSpPr>
          <p:cNvPr id="14" name="">
            <a:extLst xmlns:a="http://schemas.openxmlformats.org/drawingml/2006/main">
              <a:ext uri="{FF2B5EF4-FFF2-40B4-BE49-F238E27FC236}">
                <a16:creationId xmlns:a16="http://schemas.microsoft.com/office/drawing/2014/main" id="{30D3B397-C84D-40C8-B76C-C48F9D8BB931}"/>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2072B47-88C7-47C9-8590-A851BC57F813}"/>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納品書・完了報告書・検収書がある</a:t>
            </a:r>
          </a:p>
        </p:txBody>
      </p:sp>
      <p:sp>
        <p:nvSpPr>
          <p:cNvPr id="16" name="">
            <a:extLst xmlns:a="http://schemas.openxmlformats.org/drawingml/2006/main">
              <a:ext uri="{FF2B5EF4-FFF2-40B4-BE49-F238E27FC236}">
                <a16:creationId xmlns:a16="http://schemas.microsoft.com/office/drawing/2014/main" id="{8396DB65-833F-4F22-A29B-59CA9DE0EFAC}"/>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34E856E-AE36-4CDE-A5C6-7D31B84B4DFA}"/>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請求書がある</a:t>
            </a:r>
          </a:p>
        </p:txBody>
      </p:sp>
      <p:sp>
        <p:nvSpPr>
          <p:cNvPr id="18" name="">
            <a:extLst xmlns:a="http://schemas.openxmlformats.org/drawingml/2006/main">
              <a:ext uri="{FF2B5EF4-FFF2-40B4-BE49-F238E27FC236}">
                <a16:creationId xmlns:a16="http://schemas.microsoft.com/office/drawing/2014/main" id="{7ABDB52F-953C-4311-8312-D7C8FB74B515}"/>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92C81AE-D50B-4FEE-A810-7086DD4DEC67}"/>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銀行振込明細、通帳等の支払資料がある</a:t>
            </a:r>
          </a:p>
        </p:txBody>
      </p:sp>
      <p:sp>
        <p:nvSpPr>
          <p:cNvPr id="20" name="">
            <a:extLst xmlns:a="http://schemas.openxmlformats.org/drawingml/2006/main">
              <a:ext uri="{FF2B5EF4-FFF2-40B4-BE49-F238E27FC236}">
                <a16:creationId xmlns:a16="http://schemas.microsoft.com/office/drawing/2014/main" id="{0C772600-5089-4ACE-AFC1-0B5F8AC40F60}"/>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22768831"/>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4D26D7-36DF-4926-B3B1-80A31F84AC0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AF86C8-D89A-4105-A065-32A5E250F29B}"/>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1486756F-5942-4987-A2E3-E8F3AF897E22}"/>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12</a:t>
            </a:r>
          </a:p>
        </p:txBody>
      </p:sp>
      <p:sp>
        <p:nvSpPr>
          <p:cNvPr id="4" name="">
            <a:extLst xmlns:a="http://schemas.openxmlformats.org/drawingml/2006/main">
              <a:ext uri="{FF2B5EF4-FFF2-40B4-BE49-F238E27FC236}">
                <a16:creationId xmlns:a16="http://schemas.microsoft.com/office/drawing/2014/main" id="{B64E0203-4AE6-459F-9EC9-8FF32DADC696}"/>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05</a:t>
            </a:r>
          </a:p>
        </p:txBody>
      </p:sp>
      <p:sp>
        <p:nvSpPr>
          <p:cNvPr id="5" name="">
            <a:extLst xmlns:a="http://schemas.openxmlformats.org/drawingml/2006/main">
              <a:ext uri="{FF2B5EF4-FFF2-40B4-BE49-F238E27FC236}">
                <a16:creationId xmlns:a16="http://schemas.microsoft.com/office/drawing/2014/main" id="{EE25D546-E8C6-418B-887E-FF21AEF8132F}"/>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取引ごとの証拠書類（2/2）</a:t>
            </a:r>
          </a:p>
        </p:txBody>
      </p:sp>
      <p:sp>
        <p:nvSpPr>
          <p:cNvPr id="6" name="">
            <a:extLst xmlns:a="http://schemas.openxmlformats.org/drawingml/2006/main">
              <a:ext uri="{FF2B5EF4-FFF2-40B4-BE49-F238E27FC236}">
                <a16:creationId xmlns:a16="http://schemas.microsoft.com/office/drawing/2014/main" id="{A47779FA-D239-4452-A5DB-03C138E36BD2}"/>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2A78E7C-1FD0-4B2C-ABD8-0A3A93514491}"/>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A4FF3F5D-6EBF-4920-A79A-A1223EE6593F}"/>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15FE868-95CF-42F8-A54A-BF4110A009C0}"/>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写真、チラシ、公開画面、配布一覧等の実施証拠がある</a:t>
            </a:r>
          </a:p>
        </p:txBody>
      </p:sp>
      <p:sp>
        <p:nvSpPr>
          <p:cNvPr id="10" name="">
            <a:extLst xmlns:a="http://schemas.openxmlformats.org/drawingml/2006/main">
              <a:ext uri="{FF2B5EF4-FFF2-40B4-BE49-F238E27FC236}">
                <a16:creationId xmlns:a16="http://schemas.microsoft.com/office/drawing/2014/main" id="{7223D4A1-87DF-4671-B91D-6CDECFA3949F}"/>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73F85C2-E917-4616-B83A-536EF5A5F6CF}"/>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すべての資料で宛名、相手先、品名、数量、金額がつながっている</a:t>
            </a:r>
          </a:p>
        </p:txBody>
      </p:sp>
      <p:sp>
        <p:nvSpPr>
          <p:cNvPr id="12" name="">
            <a:extLst xmlns:a="http://schemas.openxmlformats.org/drawingml/2006/main">
              <a:ext uri="{FF2B5EF4-FFF2-40B4-BE49-F238E27FC236}">
                <a16:creationId xmlns:a16="http://schemas.microsoft.com/office/drawing/2014/main" id="{63DDE414-7937-4183-9F31-F9BD5169D7A3}"/>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174427702"/>
      </p:ext>
    </p:extLst>
  </p:cSld>
</p:sld>
</file>

<file path=ppt/slides/slide6.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277837C-80C1-4AE8-B79A-AE6541C2C52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88C6F13-25D7-4CE5-BB7D-8CF3BE312243}"/>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F2983C41-35FC-42E9-A9A0-48E30620BDA1}"/>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12</a:t>
            </a:r>
          </a:p>
        </p:txBody>
      </p:sp>
      <p:sp>
        <p:nvSpPr>
          <p:cNvPr id="4" name="">
            <a:extLst xmlns:a="http://schemas.openxmlformats.org/drawingml/2006/main">
              <a:ext uri="{FF2B5EF4-FFF2-40B4-BE49-F238E27FC236}">
                <a16:creationId xmlns:a16="http://schemas.microsoft.com/office/drawing/2014/main" id="{DE82B991-71B4-4432-84D4-6E965CB7DDC2}"/>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06</a:t>
            </a:r>
          </a:p>
        </p:txBody>
      </p:sp>
      <p:sp>
        <p:nvSpPr>
          <p:cNvPr id="5" name="">
            <a:extLst xmlns:a="http://schemas.openxmlformats.org/drawingml/2006/main">
              <a:ext uri="{FF2B5EF4-FFF2-40B4-BE49-F238E27FC236}">
                <a16:creationId xmlns:a16="http://schemas.microsoft.com/office/drawing/2014/main" id="{5FC7FDD8-5624-4861-B8A5-F883779DCA94}"/>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申請システム（1/2）</a:t>
            </a:r>
          </a:p>
        </p:txBody>
      </p:sp>
      <p:sp>
        <p:nvSpPr>
          <p:cNvPr id="6" name="">
            <a:extLst xmlns:a="http://schemas.openxmlformats.org/drawingml/2006/main">
              <a:ext uri="{FF2B5EF4-FFF2-40B4-BE49-F238E27FC236}">
                <a16:creationId xmlns:a16="http://schemas.microsoft.com/office/drawing/2014/main" id="{B0E5200D-2033-4329-8BF4-16E5DC599CF9}"/>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FE8DF23-BD71-4FD6-8550-2A00CF46E2EE}"/>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14BFE29A-EF1E-453A-A2DE-27DB63E1E3A5}"/>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A5CD0F1-6926-48EC-A70B-7588BEE4233E}"/>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実績報告日、事業開始日、事業終了日が正しい</a:t>
            </a:r>
          </a:p>
        </p:txBody>
      </p:sp>
      <p:sp>
        <p:nvSpPr>
          <p:cNvPr id="10" name="">
            <a:extLst xmlns:a="http://schemas.openxmlformats.org/drawingml/2006/main">
              <a:ext uri="{FF2B5EF4-FFF2-40B4-BE49-F238E27FC236}">
                <a16:creationId xmlns:a16="http://schemas.microsoft.com/office/drawing/2014/main" id="{D2D6B0E4-F5C2-42C8-AEF6-85F5CEB31B5D}"/>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4E8974D-6253-40A2-BA18-746AB27B948E}"/>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具体的な取組、成果、効果を実績に基づいて書いた</a:t>
            </a:r>
          </a:p>
        </p:txBody>
      </p:sp>
      <p:sp>
        <p:nvSpPr>
          <p:cNvPr id="12" name="">
            <a:extLst xmlns:a="http://schemas.openxmlformats.org/drawingml/2006/main">
              <a:ext uri="{FF2B5EF4-FFF2-40B4-BE49-F238E27FC236}">
                <a16:creationId xmlns:a16="http://schemas.microsoft.com/office/drawing/2014/main" id="{E7F3A1F5-4A0A-4A71-B9F5-CF22520F7F39}"/>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0CB2571-0F95-4FE7-8925-CD2837AC51D3}"/>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費目が交付決定の内容と一致している</a:t>
            </a:r>
          </a:p>
        </p:txBody>
      </p:sp>
      <p:sp>
        <p:nvSpPr>
          <p:cNvPr id="14" name="">
            <a:extLst xmlns:a="http://schemas.openxmlformats.org/drawingml/2006/main">
              <a:ext uri="{FF2B5EF4-FFF2-40B4-BE49-F238E27FC236}">
                <a16:creationId xmlns:a16="http://schemas.microsoft.com/office/drawing/2014/main" id="{E6FCC53E-3B0F-4A41-BD3C-E1C22D84A2C9}"/>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8E07F9D-06EC-4B2D-BA76-88D0F7D3231E}"/>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実支払額と補助対象額を分けて正しく入力した</a:t>
            </a:r>
          </a:p>
        </p:txBody>
      </p:sp>
      <p:sp>
        <p:nvSpPr>
          <p:cNvPr id="16" name="">
            <a:extLst xmlns:a="http://schemas.openxmlformats.org/drawingml/2006/main">
              <a:ext uri="{FF2B5EF4-FFF2-40B4-BE49-F238E27FC236}">
                <a16:creationId xmlns:a16="http://schemas.microsoft.com/office/drawing/2014/main" id="{50F22BBE-3EE8-4490-9A74-D5A5CC31E3BB}"/>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CE9505F-1913-4125-8440-E5267538BCCB}"/>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発注日、支払日、支払先、支払内容が証拠書類と一致している</a:t>
            </a:r>
          </a:p>
        </p:txBody>
      </p:sp>
      <p:sp>
        <p:nvSpPr>
          <p:cNvPr id="18" name="">
            <a:extLst xmlns:a="http://schemas.openxmlformats.org/drawingml/2006/main">
              <a:ext uri="{FF2B5EF4-FFF2-40B4-BE49-F238E27FC236}">
                <a16:creationId xmlns:a16="http://schemas.microsoft.com/office/drawing/2014/main" id="{53BEDB64-E451-4CAE-B28F-C0871C282F97}"/>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EC9A820-EB79-4897-A34A-7D2EAA2D20ED}"/>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証憑を該当経費へ関連付けた</a:t>
            </a:r>
          </a:p>
        </p:txBody>
      </p:sp>
      <p:sp>
        <p:nvSpPr>
          <p:cNvPr id="20" name="">
            <a:extLst xmlns:a="http://schemas.openxmlformats.org/drawingml/2006/main">
              <a:ext uri="{FF2B5EF4-FFF2-40B4-BE49-F238E27FC236}">
                <a16:creationId xmlns:a16="http://schemas.microsoft.com/office/drawing/2014/main" id="{DCF84121-F206-4F46-B2B6-B4AF117EDDCB}"/>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006723830"/>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95803E-5032-4D79-A262-1717C5D6C98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E9A537-8048-4F24-B3DB-23ECB412B7D8}"/>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10DEAB39-B300-4883-8D97-AF184A9FD835}"/>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12</a:t>
            </a:r>
          </a:p>
        </p:txBody>
      </p:sp>
      <p:sp>
        <p:nvSpPr>
          <p:cNvPr id="4" name="">
            <a:extLst xmlns:a="http://schemas.openxmlformats.org/drawingml/2006/main">
              <a:ext uri="{FF2B5EF4-FFF2-40B4-BE49-F238E27FC236}">
                <a16:creationId xmlns:a16="http://schemas.microsoft.com/office/drawing/2014/main" id="{EBCBA90C-1932-4E38-89E3-5104D0FB82DA}"/>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07</a:t>
            </a:r>
          </a:p>
        </p:txBody>
      </p:sp>
      <p:sp>
        <p:nvSpPr>
          <p:cNvPr id="5" name="">
            <a:extLst xmlns:a="http://schemas.openxmlformats.org/drawingml/2006/main">
              <a:ext uri="{FF2B5EF4-FFF2-40B4-BE49-F238E27FC236}">
                <a16:creationId xmlns:a16="http://schemas.microsoft.com/office/drawing/2014/main" id="{6280E72B-8909-4695-84F9-CB1CCBBB28E6}"/>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申請システム（2/2）</a:t>
            </a:r>
          </a:p>
        </p:txBody>
      </p:sp>
      <p:sp>
        <p:nvSpPr>
          <p:cNvPr id="6" name="">
            <a:extLst xmlns:a="http://schemas.openxmlformats.org/drawingml/2006/main">
              <a:ext uri="{FF2B5EF4-FFF2-40B4-BE49-F238E27FC236}">
                <a16:creationId xmlns:a16="http://schemas.microsoft.com/office/drawing/2014/main" id="{C6D705A3-9F5E-4996-ADF7-5A306EC08224}"/>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24F56A0-1C70-4BD3-A4E9-F457B7D3D521}"/>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096ABC7A-11FD-4699-897A-E2AF569399B3}"/>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3BFB2AF-8081-4E4D-AED9-94FB0E8EE1C4}"/>
              </a:ext>
            </a:extLst>
          </p:cNvPr>
          <p:cNvSpPr>
            <a:spLocks xmlns:a="http://schemas.openxmlformats.org/drawingml/2006/main" noGrp="1"/>
          </p:cNvSpPr>
          <p:nvPr/>
        </p:nvSpPr>
        <p:spPr>
          <a:xfrm xmlns:a="http://schemas.openxmlformats.org/drawingml/2006/main">
            <a:off x="1333500" y="2419350"/>
            <a:ext cx="9601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収益納付の回答と計算根拠を確認した</a:t>
            </a:r>
          </a:p>
        </p:txBody>
      </p:sp>
      <p:sp>
        <p:nvSpPr>
          <p:cNvPr id="10" name="">
            <a:extLst xmlns:a="http://schemas.openxmlformats.org/drawingml/2006/main">
              <a:ext uri="{FF2B5EF4-FFF2-40B4-BE49-F238E27FC236}">
                <a16:creationId xmlns:a16="http://schemas.microsoft.com/office/drawing/2014/main" id="{94A04AD1-510C-41D4-A49D-B98E5B9B15E4}"/>
              </a:ext>
            </a:extLst>
          </p:cNvPr>
          <p:cNvSpPr>
            <a:spLocks xmlns:a="http://schemas.openxmlformats.org/drawingml/2006/main" noGrp="1"/>
          </p:cNvSpPr>
          <p:nvPr/>
        </p:nvSpPr>
        <p:spPr>
          <a:xfrm xmlns:a="http://schemas.openxmlformats.org/drawingml/2006/main">
            <a:off x="1028700" y="338137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D4C2C51-FD27-46CE-9917-6CB581A8830A}"/>
              </a:ext>
            </a:extLst>
          </p:cNvPr>
          <p:cNvSpPr>
            <a:spLocks xmlns:a="http://schemas.openxmlformats.org/drawingml/2006/main" noGrp="1"/>
          </p:cNvSpPr>
          <p:nvPr/>
        </p:nvSpPr>
        <p:spPr>
          <a:xfrm xmlns:a="http://schemas.openxmlformats.org/drawingml/2006/main">
            <a:off x="1333500" y="3162300"/>
            <a:ext cx="9601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必要な賃金引上げ資料を添付した</a:t>
            </a:r>
          </a:p>
        </p:txBody>
      </p:sp>
      <p:sp>
        <p:nvSpPr>
          <p:cNvPr id="12" name="">
            <a:extLst xmlns:a="http://schemas.openxmlformats.org/drawingml/2006/main">
              <a:ext uri="{FF2B5EF4-FFF2-40B4-BE49-F238E27FC236}">
                <a16:creationId xmlns:a16="http://schemas.microsoft.com/office/drawing/2014/main" id="{3BD85015-2D11-46CF-86E6-993E15F7188E}"/>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68C9314-9045-4957-8F06-ACDFC89FCE5C}"/>
              </a:ext>
            </a:extLst>
          </p:cNvPr>
          <p:cNvSpPr>
            <a:spLocks xmlns:a="http://schemas.openxmlformats.org/drawingml/2006/main" noGrp="1"/>
          </p:cNvSpPr>
          <p:nvPr/>
        </p:nvSpPr>
        <p:spPr>
          <a:xfrm xmlns:a="http://schemas.openxmlformats.org/drawingml/2006/main">
            <a:off x="1333500" y="3905250"/>
            <a:ext cx="9601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税抜50万円以上の財産等を取得財産等管理明細表へ登録した</a:t>
            </a:r>
          </a:p>
        </p:txBody>
      </p:sp>
      <p:sp>
        <p:nvSpPr>
          <p:cNvPr id="14" name="">
            <a:extLst xmlns:a="http://schemas.openxmlformats.org/drawingml/2006/main">
              <a:ext uri="{FF2B5EF4-FFF2-40B4-BE49-F238E27FC236}">
                <a16:creationId xmlns:a16="http://schemas.microsoft.com/office/drawing/2014/main" id="{422D5E3E-7B60-44CC-90D1-E72153A0ED9E}"/>
              </a:ext>
            </a:extLst>
          </p:cNvPr>
          <p:cNvSpPr>
            <a:spLocks xmlns:a="http://schemas.openxmlformats.org/drawingml/2006/main" noGrp="1"/>
          </p:cNvSpPr>
          <p:nvPr/>
        </p:nvSpPr>
        <p:spPr>
          <a:xfrm xmlns:a="http://schemas.openxmlformats.org/drawingml/2006/main">
            <a:off x="1028700" y="486727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F4886C9-2FB2-4A49-A7D7-1D4E5B7BC0B3}"/>
              </a:ext>
            </a:extLst>
          </p:cNvPr>
          <p:cNvSpPr>
            <a:spLocks xmlns:a="http://schemas.openxmlformats.org/drawingml/2006/main" noGrp="1"/>
          </p:cNvSpPr>
          <p:nvPr/>
        </p:nvSpPr>
        <p:spPr>
          <a:xfrm xmlns:a="http://schemas.openxmlformats.org/drawingml/2006/main">
            <a:off x="1333500" y="4648200"/>
            <a:ext cx="9601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最終確認後、「提出する」を押し、完了画面を確認した</a:t>
            </a:r>
          </a:p>
        </p:txBody>
      </p:sp>
      <p:sp>
        <p:nvSpPr>
          <p:cNvPr id="16" name="">
            <a:extLst xmlns:a="http://schemas.openxmlformats.org/drawingml/2006/main">
              <a:ext uri="{FF2B5EF4-FFF2-40B4-BE49-F238E27FC236}">
                <a16:creationId xmlns:a16="http://schemas.microsoft.com/office/drawing/2014/main" id="{B9A4F14F-0735-4922-A2C7-6AC0AC9B8DC3}"/>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830261654"/>
      </p:ext>
    </p:extLst>
  </p:cSld>
</p:sld>
</file>

<file path=ppt/slides/slide8.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DC3DCF7-579D-44B3-98F4-7D37381592E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220C426-0C4F-4E8A-83FA-0B40A80A7C7A}"/>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3F1559E3-D0F0-4FCB-A560-6A33B10981F3}"/>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12</a:t>
            </a:r>
          </a:p>
        </p:txBody>
      </p:sp>
      <p:sp>
        <p:nvSpPr>
          <p:cNvPr id="4" name="">
            <a:extLst xmlns:a="http://schemas.openxmlformats.org/drawingml/2006/main">
              <a:ext uri="{FF2B5EF4-FFF2-40B4-BE49-F238E27FC236}">
                <a16:creationId xmlns:a16="http://schemas.microsoft.com/office/drawing/2014/main" id="{929FAA60-0CD4-412F-B713-4D65557DCFB7}"/>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08</a:t>
            </a:r>
          </a:p>
        </p:txBody>
      </p:sp>
      <p:sp>
        <p:nvSpPr>
          <p:cNvPr id="5" name="">
            <a:extLst xmlns:a="http://schemas.openxmlformats.org/drawingml/2006/main">
              <a:ext uri="{FF2B5EF4-FFF2-40B4-BE49-F238E27FC236}">
                <a16:creationId xmlns:a16="http://schemas.microsoft.com/office/drawing/2014/main" id="{7DD56297-5F97-4342-8E8A-D00A8859B4E1}"/>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精算払請求</a:t>
            </a:r>
          </a:p>
        </p:txBody>
      </p:sp>
      <p:sp>
        <p:nvSpPr>
          <p:cNvPr id="6" name="">
            <a:extLst xmlns:a="http://schemas.openxmlformats.org/drawingml/2006/main">
              <a:ext uri="{FF2B5EF4-FFF2-40B4-BE49-F238E27FC236}">
                <a16:creationId xmlns:a16="http://schemas.microsoft.com/office/drawing/2014/main" id="{1BC1E2C4-CFA0-4092-A795-46278FA51474}"/>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65C23F4-D5A3-4E31-B10A-CAB3A0A3ECE8}"/>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238360A0-D358-474A-B705-D6CC5753FA49}"/>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7823706-70BA-4055-B37C-81C45329AAE0}"/>
              </a:ext>
            </a:extLst>
          </p:cNvPr>
          <p:cNvSpPr>
            <a:spLocks xmlns:a="http://schemas.openxmlformats.org/drawingml/2006/main" noGrp="1"/>
          </p:cNvSpPr>
          <p:nvPr/>
        </p:nvSpPr>
        <p:spPr>
          <a:xfrm xmlns:a="http://schemas.openxmlformats.org/drawingml/2006/main">
            <a:off x="1333500" y="241935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確定通知書を保存した</a:t>
            </a:r>
          </a:p>
        </p:txBody>
      </p:sp>
      <p:sp>
        <p:nvSpPr>
          <p:cNvPr id="10" name="">
            <a:extLst xmlns:a="http://schemas.openxmlformats.org/drawingml/2006/main">
              <a:ext uri="{FF2B5EF4-FFF2-40B4-BE49-F238E27FC236}">
                <a16:creationId xmlns:a16="http://schemas.microsoft.com/office/drawing/2014/main" id="{96364AAB-2976-4BFE-8245-F9D89C2DE3EF}"/>
              </a:ext>
            </a:extLst>
          </p:cNvPr>
          <p:cNvSpPr>
            <a:spLocks xmlns:a="http://schemas.openxmlformats.org/drawingml/2006/main" noGrp="1"/>
          </p:cNvSpPr>
          <p:nvPr/>
        </p:nvSpPr>
        <p:spPr>
          <a:xfrm xmlns:a="http://schemas.openxmlformats.org/drawingml/2006/main">
            <a:off x="1028700" y="322897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165E041-1A25-49B6-AFD9-A2E06AEC90AF}"/>
              </a:ext>
            </a:extLst>
          </p:cNvPr>
          <p:cNvSpPr>
            <a:spLocks xmlns:a="http://schemas.openxmlformats.org/drawingml/2006/main" noGrp="1"/>
          </p:cNvSpPr>
          <p:nvPr/>
        </p:nvSpPr>
        <p:spPr>
          <a:xfrm xmlns:a="http://schemas.openxmlformats.org/drawingml/2006/main">
            <a:off x="1333500" y="300990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確定額を確認した</a:t>
            </a:r>
          </a:p>
        </p:txBody>
      </p:sp>
      <p:sp>
        <p:nvSpPr>
          <p:cNvPr id="12" name="">
            <a:extLst xmlns:a="http://schemas.openxmlformats.org/drawingml/2006/main">
              <a:ext uri="{FF2B5EF4-FFF2-40B4-BE49-F238E27FC236}">
                <a16:creationId xmlns:a16="http://schemas.microsoft.com/office/drawing/2014/main" id="{8EC1ADB3-57B3-418D-9811-9C8379FBD105}"/>
              </a:ext>
            </a:extLst>
          </p:cNvPr>
          <p:cNvSpPr>
            <a:spLocks xmlns:a="http://schemas.openxmlformats.org/drawingml/2006/main" noGrp="1"/>
          </p:cNvSpPr>
          <p:nvPr/>
        </p:nvSpPr>
        <p:spPr>
          <a:xfrm xmlns:a="http://schemas.openxmlformats.org/drawingml/2006/main">
            <a:off x="1028700" y="38195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F19C3F1-B329-406D-B27F-523861603309}"/>
              </a:ext>
            </a:extLst>
          </p:cNvPr>
          <p:cNvSpPr>
            <a:spLocks xmlns:a="http://schemas.openxmlformats.org/drawingml/2006/main" noGrp="1"/>
          </p:cNvSpPr>
          <p:nvPr/>
        </p:nvSpPr>
        <p:spPr>
          <a:xfrm xmlns:a="http://schemas.openxmlformats.org/drawingml/2006/main">
            <a:off x="1333500" y="360045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補助事業者本人名義の口座を登録した</a:t>
            </a:r>
          </a:p>
        </p:txBody>
      </p:sp>
      <p:sp>
        <p:nvSpPr>
          <p:cNvPr id="14" name="">
            <a:extLst xmlns:a="http://schemas.openxmlformats.org/drawingml/2006/main">
              <a:ext uri="{FF2B5EF4-FFF2-40B4-BE49-F238E27FC236}">
                <a16:creationId xmlns:a16="http://schemas.microsoft.com/office/drawing/2014/main" id="{C236F49E-59A3-4903-B9D8-8FA9E325763E}"/>
              </a:ext>
            </a:extLst>
          </p:cNvPr>
          <p:cNvSpPr>
            <a:spLocks xmlns:a="http://schemas.openxmlformats.org/drawingml/2006/main" noGrp="1"/>
          </p:cNvSpPr>
          <p:nvPr/>
        </p:nvSpPr>
        <p:spPr>
          <a:xfrm xmlns:a="http://schemas.openxmlformats.org/drawingml/2006/main">
            <a:off x="1028700" y="441007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CC37491-4259-4A00-88C1-DB0F27F706D9}"/>
              </a:ext>
            </a:extLst>
          </p:cNvPr>
          <p:cNvSpPr>
            <a:spLocks xmlns:a="http://schemas.openxmlformats.org/drawingml/2006/main" noGrp="1"/>
          </p:cNvSpPr>
          <p:nvPr/>
        </p:nvSpPr>
        <p:spPr>
          <a:xfrm xmlns:a="http://schemas.openxmlformats.org/drawingml/2006/main">
            <a:off x="1333500" y="419100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金融機関、支店、口座番号、名義が添付資料と一致している</a:t>
            </a:r>
          </a:p>
        </p:txBody>
      </p:sp>
      <p:sp>
        <p:nvSpPr>
          <p:cNvPr id="16" name="">
            <a:extLst xmlns:a="http://schemas.openxmlformats.org/drawingml/2006/main">
              <a:ext uri="{FF2B5EF4-FFF2-40B4-BE49-F238E27FC236}">
                <a16:creationId xmlns:a16="http://schemas.microsoft.com/office/drawing/2014/main" id="{0E9C305E-4573-48BB-9CED-9C393DE19AA7}"/>
              </a:ext>
            </a:extLst>
          </p:cNvPr>
          <p:cNvSpPr>
            <a:spLocks xmlns:a="http://schemas.openxmlformats.org/drawingml/2006/main" noGrp="1"/>
          </p:cNvSpPr>
          <p:nvPr/>
        </p:nvSpPr>
        <p:spPr>
          <a:xfrm xmlns:a="http://schemas.openxmlformats.org/drawingml/2006/main">
            <a:off x="1028700" y="5000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6FDC9E7-9489-42D6-A35E-2581DADFB50B}"/>
              </a:ext>
            </a:extLst>
          </p:cNvPr>
          <p:cNvSpPr>
            <a:spLocks xmlns:a="http://schemas.openxmlformats.org/drawingml/2006/main" noGrp="1"/>
          </p:cNvSpPr>
          <p:nvPr/>
        </p:nvSpPr>
        <p:spPr>
          <a:xfrm xmlns:a="http://schemas.openxmlformats.org/drawingml/2006/main">
            <a:off x="1333500" y="478155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精算払請求の完了画面を確認した</a:t>
            </a:r>
          </a:p>
        </p:txBody>
      </p:sp>
      <p:sp>
        <p:nvSpPr>
          <p:cNvPr id="18" name="">
            <a:extLst xmlns:a="http://schemas.openxmlformats.org/drawingml/2006/main">
              <a:ext uri="{FF2B5EF4-FFF2-40B4-BE49-F238E27FC236}">
                <a16:creationId xmlns:a16="http://schemas.microsoft.com/office/drawing/2014/main" id="{2946587D-E90A-40EE-B299-7747B29995C8}"/>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754643402"/>
      </p:ext>
    </p:extLst>
  </p:cSld>
</p:sld>
</file>

<file path=ppt/slides/slide9.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064928-AD19-417B-933E-AA56CCCD1C7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BF7B21-0CC0-4400-B486-2B8B5BF115F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B43D994C-F472-482B-8E71-4B8C08721525}"/>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13</a:t>
            </a:r>
          </a:p>
        </p:txBody>
      </p:sp>
      <p:sp>
        <p:nvSpPr>
          <p:cNvPr id="4" name="">
            <a:extLst xmlns:a="http://schemas.openxmlformats.org/drawingml/2006/main">
              <a:ext uri="{FF2B5EF4-FFF2-40B4-BE49-F238E27FC236}">
                <a16:creationId xmlns:a16="http://schemas.microsoft.com/office/drawing/2014/main" id="{60AF022B-FA37-4FDF-84BD-8CC3E758419A}"/>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09</a:t>
            </a:r>
          </a:p>
        </p:txBody>
      </p:sp>
      <p:sp>
        <p:nvSpPr>
          <p:cNvPr id="5" name="">
            <a:extLst xmlns:a="http://schemas.openxmlformats.org/drawingml/2006/main">
              <a:ext uri="{FF2B5EF4-FFF2-40B4-BE49-F238E27FC236}">
                <a16:creationId xmlns:a16="http://schemas.microsoft.com/office/drawing/2014/main" id="{3F343C4B-BAA2-4240-9C1E-EA85A317FFEB}"/>
              </a:ext>
            </a:extLst>
          </p:cNvPr>
          <p:cNvSpPr>
            <a:spLocks xmlns:a="http://schemas.openxmlformats.org/drawingml/2006/main" noGrp="1"/>
          </p:cNvSpPr>
          <p:nvPr/>
        </p:nvSpPr>
        <p:spPr>
          <a:xfrm xmlns:a="http://schemas.openxmlformats.org/drawingml/2006/main">
            <a:off x="8191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7791F"/>
                </a:solidFill>
              </a:defRPr>
            </a:pPr>
            <a:r>
              <a:rPr sz="1350" b="1">
                <a:solidFill>
                  <a:srgbClr val="B7791F"/>
                </a:solidFill>
              </a:rPr>
              <a:t>CHAPTER 13</a:t>
            </a:r>
          </a:p>
        </p:txBody>
      </p:sp>
      <p:sp>
        <p:nvSpPr>
          <p:cNvPr id="6" name="">
            <a:extLst xmlns:a="http://schemas.openxmlformats.org/drawingml/2006/main">
              <a:ext uri="{FF2B5EF4-FFF2-40B4-BE49-F238E27FC236}">
                <a16:creationId xmlns:a16="http://schemas.microsoft.com/office/drawing/2014/main" id="{40557B09-285B-44C0-AA7E-BA2628711C29}"/>
              </a:ext>
            </a:extLst>
          </p:cNvPr>
          <p:cNvSpPr>
            <a:spLocks xmlns:a="http://schemas.openxmlformats.org/drawingml/2006/main" noGrp="1"/>
          </p:cNvSpPr>
          <p:nvPr/>
        </p:nvSpPr>
        <p:spPr>
          <a:xfrm xmlns:a="http://schemas.openxmlformats.org/drawingml/2006/main">
            <a:off x="800100" y="20764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72F"/>
                </a:solidFill>
              </a:defRPr>
            </a:pPr>
            <a:r>
              <a:rPr sz="3600" b="1">
                <a:solidFill>
                  <a:srgbClr val="17372F"/>
                </a:solidFill>
              </a:rPr>
              <a:t>入金後も必要な、書類保存と事業効果報告</a:t>
            </a:r>
          </a:p>
        </p:txBody>
      </p:sp>
      <p:sp>
        <p:nvSpPr>
          <p:cNvPr id="7" name="">
            <a:extLst xmlns:a="http://schemas.openxmlformats.org/drawingml/2006/main">
              <a:ext uri="{FF2B5EF4-FFF2-40B4-BE49-F238E27FC236}">
                <a16:creationId xmlns:a16="http://schemas.microsoft.com/office/drawing/2014/main" id="{D2C1B84C-8B10-41CA-802C-C1899802B5A6}"/>
              </a:ext>
            </a:extLst>
          </p:cNvPr>
          <p:cNvSpPr>
            <a:spLocks xmlns:a="http://schemas.openxmlformats.org/drawingml/2006/main" noGrp="1"/>
          </p:cNvSpPr>
          <p:nvPr/>
        </p:nvSpPr>
        <p:spPr>
          <a:xfrm xmlns:a="http://schemas.openxmlformats.org/drawingml/2006/main">
            <a:off x="819150" y="4114800"/>
            <a:ext cx="2381250" cy="76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36E8C7D-C1C9-4D4A-AAEB-F266F2DF96CB}"/>
              </a:ext>
            </a:extLst>
          </p:cNvPr>
          <p:cNvSpPr>
            <a:spLocks xmlns:a="http://schemas.openxmlformats.org/drawingml/2006/main" noGrp="1"/>
          </p:cNvSpPr>
          <p:nvPr/>
        </p:nvSpPr>
        <p:spPr>
          <a:xfrm xmlns:a="http://schemas.openxmlformats.org/drawingml/2006/main">
            <a:off x="819150" y="4552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964"/>
                </a:solidFill>
              </a:defRPr>
            </a:pPr>
            <a:r>
              <a:rPr sz="1650" b="0">
                <a:solidFill>
                  <a:srgbClr val="5D6964"/>
                </a:solidFill>
              </a:rPr>
              <a:t>必要な資料と判断基準を、実務の順番で確認します。</a:t>
            </a:r>
          </a:p>
        </p:txBody>
      </p:sp>
    </p:spTree>
    <p:extLst>
      <p:ext uri="{BB962C8B-B14F-4D97-AF65-F5344CB8AC3E}">
        <p14:creationId xmlns:p14="http://schemas.microsoft.com/office/powerpoint/2010/main" val="1755864417"/>
      </p:ext>
    </p:extLst>
  </p:cSld>
</p:sld>
</file>

<file path=ppt/slides/slide10.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FE27ECF-02DA-4527-8848-C312E30C95E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1D53FDE-8578-498F-BB4D-CA14CF0ADB39}"/>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0A9BC28E-11E1-4DBA-877A-E4F136126FB4}"/>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13</a:t>
            </a:r>
          </a:p>
        </p:txBody>
      </p:sp>
      <p:sp>
        <p:nvSpPr>
          <p:cNvPr id="4" name="">
            <a:extLst xmlns:a="http://schemas.openxmlformats.org/drawingml/2006/main">
              <a:ext uri="{FF2B5EF4-FFF2-40B4-BE49-F238E27FC236}">
                <a16:creationId xmlns:a16="http://schemas.microsoft.com/office/drawing/2014/main" id="{48D647FE-325C-489F-BF37-0E135A7445DA}"/>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10</a:t>
            </a:r>
          </a:p>
        </p:txBody>
      </p:sp>
      <p:sp>
        <p:nvSpPr>
          <p:cNvPr id="5" name="">
            <a:extLst xmlns:a="http://schemas.openxmlformats.org/drawingml/2006/main">
              <a:ext uri="{FF2B5EF4-FFF2-40B4-BE49-F238E27FC236}">
                <a16:creationId xmlns:a16="http://schemas.microsoft.com/office/drawing/2014/main" id="{73A65957-AF45-40F1-AC34-BF7748361925}"/>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入金後も必要な、書類保存と事業効果報告</a:t>
            </a:r>
          </a:p>
        </p:txBody>
      </p:sp>
      <p:sp>
        <p:nvSpPr>
          <p:cNvPr id="6" name="">
            <a:extLst xmlns:a="http://schemas.openxmlformats.org/drawingml/2006/main">
              <a:ext uri="{FF2B5EF4-FFF2-40B4-BE49-F238E27FC236}">
                <a16:creationId xmlns:a16="http://schemas.microsoft.com/office/drawing/2014/main" id="{C8B20C7C-716D-4C98-9867-8259933A3ED4}"/>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8788E31-71B5-445E-A8F4-52B95D607B01}"/>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D25FBDD7-AD9D-4009-92B3-CD6903DD9E1E}"/>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537E027-9C4D-4860-8D9B-877BF82EC57B}"/>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補助金が振り込まれた時点で、すべての義務が終わるわけではありません。</a:t>
            </a:r>
          </a:p>
        </p:txBody>
      </p:sp>
      <p:sp>
        <p:nvSpPr>
          <p:cNvPr id="10" name="">
            <a:extLst xmlns:a="http://schemas.openxmlformats.org/drawingml/2006/main">
              <a:ext uri="{FF2B5EF4-FFF2-40B4-BE49-F238E27FC236}">
                <a16:creationId xmlns:a16="http://schemas.microsoft.com/office/drawing/2014/main" id="{313BF1A6-ADA9-4A06-A38F-E1690EABDF3D}"/>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1340A5D-1A90-42CB-874E-9772BA777852}"/>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補助事業の関係書類を保存し、定められた時期に事業効果等の状況を報告し、取得した財産を適切に管理します。</a:t>
            </a:r>
          </a:p>
        </p:txBody>
      </p:sp>
      <p:sp>
        <p:nvSpPr>
          <p:cNvPr id="12" name="">
            <a:extLst xmlns:a="http://schemas.openxmlformats.org/drawingml/2006/main">
              <a:ext uri="{FF2B5EF4-FFF2-40B4-BE49-F238E27FC236}">
                <a16:creationId xmlns:a16="http://schemas.microsoft.com/office/drawing/2014/main" id="{4C67DEA2-42DC-448E-88F5-73EE63DDEDEA}"/>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437053866"/>
      </p:ext>
    </p:extLst>
  </p:cSld>
</p:sld>
</file>

<file path=ppt/slides/slide1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592832-FE79-433B-8468-F9D1D43E559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123C50B-0594-48C8-B66E-F51B4A771594}"/>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240B514E-2D54-4F80-86CE-FCF4DA0EA536}"/>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13</a:t>
            </a:r>
          </a:p>
        </p:txBody>
      </p:sp>
      <p:sp>
        <p:nvSpPr>
          <p:cNvPr id="4" name="">
            <a:extLst xmlns:a="http://schemas.openxmlformats.org/drawingml/2006/main">
              <a:ext uri="{FF2B5EF4-FFF2-40B4-BE49-F238E27FC236}">
                <a16:creationId xmlns:a16="http://schemas.microsoft.com/office/drawing/2014/main" id="{82EF2380-A704-4A18-B14C-B63F7DD2BF38}"/>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11</a:t>
            </a:r>
          </a:p>
        </p:txBody>
      </p:sp>
      <p:sp>
        <p:nvSpPr>
          <p:cNvPr id="5" name="">
            <a:extLst xmlns:a="http://schemas.openxmlformats.org/drawingml/2006/main">
              <a:ext uri="{FF2B5EF4-FFF2-40B4-BE49-F238E27FC236}">
                <a16:creationId xmlns:a16="http://schemas.microsoft.com/office/drawing/2014/main" id="{81CABB53-15DB-4209-ADBD-6558BE48665A}"/>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関係書類を一つの保存場所へまとめる</a:t>
            </a:r>
          </a:p>
        </p:txBody>
      </p:sp>
      <p:sp>
        <p:nvSpPr>
          <p:cNvPr id="6" name="">
            <a:extLst xmlns:a="http://schemas.openxmlformats.org/drawingml/2006/main">
              <a:ext uri="{FF2B5EF4-FFF2-40B4-BE49-F238E27FC236}">
                <a16:creationId xmlns:a16="http://schemas.microsoft.com/office/drawing/2014/main" id="{4EE28B73-9F27-4D9D-9048-FB25B97F1B11}"/>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CDC2D4F-EDEB-4D3D-8D4D-89BE53880473}"/>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E8EA26E7-27AB-4831-B124-C6F69356F5D7}"/>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DAB1244-D124-489D-BA8C-3149AC7F4119}"/>
              </a:ext>
            </a:extLst>
          </p:cNvPr>
          <p:cNvSpPr>
            <a:spLocks xmlns:a="http://schemas.openxmlformats.org/drawingml/2006/main" noGrp="1"/>
          </p:cNvSpPr>
          <p:nvPr/>
        </p:nvSpPr>
        <p:spPr>
          <a:xfrm xmlns:a="http://schemas.openxmlformats.org/drawingml/2006/main">
            <a:off x="1333500" y="241935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応募申請書、採択通知書、交付決定通知書、変更承認関係、実績報告書、確定通知書、精算払請求書、入金記録、見積書、契約書、納品書、請求書、支払資料、写真、成果物、事務局との連絡を、一つの事業フォルダへまとめます。</a:t>
            </a:r>
          </a:p>
        </p:txBody>
      </p:sp>
      <p:sp>
        <p:nvSpPr>
          <p:cNvPr id="10" name="">
            <a:extLst xmlns:a="http://schemas.openxmlformats.org/drawingml/2006/main">
              <a:ext uri="{FF2B5EF4-FFF2-40B4-BE49-F238E27FC236}">
                <a16:creationId xmlns:a16="http://schemas.microsoft.com/office/drawing/2014/main" id="{D63D7728-765A-46E9-803B-7725877AF071}"/>
              </a:ext>
            </a:extLst>
          </p:cNvPr>
          <p:cNvSpPr>
            <a:spLocks xmlns:a="http://schemas.openxmlformats.org/drawingml/2006/main" noGrp="1"/>
          </p:cNvSpPr>
          <p:nvPr/>
        </p:nvSpPr>
        <p:spPr>
          <a:xfrm xmlns:a="http://schemas.openxmlformats.org/drawingml/2006/main">
            <a:off x="1028700" y="322897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EE34E33-E20A-4D9A-A7B4-BED3DB33D4EE}"/>
              </a:ext>
            </a:extLst>
          </p:cNvPr>
          <p:cNvSpPr>
            <a:spLocks xmlns:a="http://schemas.openxmlformats.org/drawingml/2006/main" noGrp="1"/>
          </p:cNvSpPr>
          <p:nvPr/>
        </p:nvSpPr>
        <p:spPr>
          <a:xfrm xmlns:a="http://schemas.openxmlformats.org/drawingml/2006/main">
            <a:off x="1333500" y="300990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電子データだけで受領した書類は、メール本文やダウンロード日時が重要になる場合があるため、添付ファイルだけでなくメールも保存します。</a:t>
            </a:r>
          </a:p>
        </p:txBody>
      </p:sp>
      <p:sp>
        <p:nvSpPr>
          <p:cNvPr id="12" name="">
            <a:extLst xmlns:a="http://schemas.openxmlformats.org/drawingml/2006/main">
              <a:ext uri="{FF2B5EF4-FFF2-40B4-BE49-F238E27FC236}">
                <a16:creationId xmlns:a16="http://schemas.microsoft.com/office/drawing/2014/main" id="{CDBEF1F5-5A9B-43E7-B12A-7100B7415BA0}"/>
              </a:ext>
            </a:extLst>
          </p:cNvPr>
          <p:cNvSpPr>
            <a:spLocks xmlns:a="http://schemas.openxmlformats.org/drawingml/2006/main" noGrp="1"/>
          </p:cNvSpPr>
          <p:nvPr/>
        </p:nvSpPr>
        <p:spPr>
          <a:xfrm xmlns:a="http://schemas.openxmlformats.org/drawingml/2006/main">
            <a:off x="1028700" y="38195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03C97A0-FDDA-4E28-B52A-582AC99D1CA2}"/>
              </a:ext>
            </a:extLst>
          </p:cNvPr>
          <p:cNvSpPr>
            <a:spLocks xmlns:a="http://schemas.openxmlformats.org/drawingml/2006/main" noGrp="1"/>
          </p:cNvSpPr>
          <p:nvPr/>
        </p:nvSpPr>
        <p:spPr>
          <a:xfrm xmlns:a="http://schemas.openxmlformats.org/drawingml/2006/main">
            <a:off x="1333500" y="360045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書類の保存期間は、採択回の交付規程と補助事業の手引きで確認します。</a:t>
            </a:r>
          </a:p>
        </p:txBody>
      </p:sp>
      <p:sp>
        <p:nvSpPr>
          <p:cNvPr id="14" name="">
            <a:extLst xmlns:a="http://schemas.openxmlformats.org/drawingml/2006/main">
              <a:ext uri="{FF2B5EF4-FFF2-40B4-BE49-F238E27FC236}">
                <a16:creationId xmlns:a16="http://schemas.microsoft.com/office/drawing/2014/main" id="{29C2F14C-21BC-4C0D-9F62-254985BBAED4}"/>
              </a:ext>
            </a:extLst>
          </p:cNvPr>
          <p:cNvSpPr>
            <a:spLocks xmlns:a="http://schemas.openxmlformats.org/drawingml/2006/main" noGrp="1"/>
          </p:cNvSpPr>
          <p:nvPr/>
        </p:nvSpPr>
        <p:spPr>
          <a:xfrm xmlns:a="http://schemas.openxmlformats.org/drawingml/2006/main">
            <a:off x="1028700" y="441007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B3CC6F4-58E0-40F9-B667-A7DDE2F0337D}"/>
              </a:ext>
            </a:extLst>
          </p:cNvPr>
          <p:cNvSpPr>
            <a:spLocks xmlns:a="http://schemas.openxmlformats.org/drawingml/2006/main" noGrp="1"/>
          </p:cNvSpPr>
          <p:nvPr/>
        </p:nvSpPr>
        <p:spPr>
          <a:xfrm xmlns:a="http://schemas.openxmlformats.org/drawingml/2006/main">
            <a:off x="1333500" y="419100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補助金の検査は実績報告の審査時だけとは限りません。</a:t>
            </a:r>
          </a:p>
        </p:txBody>
      </p:sp>
      <p:sp>
        <p:nvSpPr>
          <p:cNvPr id="16" name="">
            <a:extLst xmlns:a="http://schemas.openxmlformats.org/drawingml/2006/main">
              <a:ext uri="{FF2B5EF4-FFF2-40B4-BE49-F238E27FC236}">
                <a16:creationId xmlns:a16="http://schemas.microsoft.com/office/drawing/2014/main" id="{A358DB3D-5E74-4387-9FA7-C13D4959F3EF}"/>
              </a:ext>
            </a:extLst>
          </p:cNvPr>
          <p:cNvSpPr>
            <a:spLocks xmlns:a="http://schemas.openxmlformats.org/drawingml/2006/main" noGrp="1"/>
          </p:cNvSpPr>
          <p:nvPr/>
        </p:nvSpPr>
        <p:spPr>
          <a:xfrm xmlns:a="http://schemas.openxmlformats.org/drawingml/2006/main">
            <a:off x="1028700" y="5000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9E0718C-C1AA-4034-B631-781D511C2465}"/>
              </a:ext>
            </a:extLst>
          </p:cNvPr>
          <p:cNvSpPr>
            <a:spLocks xmlns:a="http://schemas.openxmlformats.org/drawingml/2006/main" noGrp="1"/>
          </p:cNvSpPr>
          <p:nvPr/>
        </p:nvSpPr>
        <p:spPr>
          <a:xfrm xmlns:a="http://schemas.openxmlformats.org/drawingml/2006/main">
            <a:off x="1333500" y="478155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後日の検査で、原本、会計帳簿、通帳、取得財産の現物、使用状況等を確認される可能性があります。</a:t>
            </a:r>
          </a:p>
        </p:txBody>
      </p:sp>
      <p:sp>
        <p:nvSpPr>
          <p:cNvPr id="18" name="">
            <a:extLst xmlns:a="http://schemas.openxmlformats.org/drawingml/2006/main">
              <a:ext uri="{FF2B5EF4-FFF2-40B4-BE49-F238E27FC236}">
                <a16:creationId xmlns:a16="http://schemas.microsoft.com/office/drawing/2014/main" id="{16FA119D-CF33-487B-BE96-E880834DCFA4}"/>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621585967"/>
      </p:ext>
    </p:extLst>
  </p:cSld>
</p:sld>
</file>

<file path=ppt/slides/slide1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A978474-3284-4607-940F-4BFDAE3B0A6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9B395C-FB77-4BBF-AC35-0291E5EEF1E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2BFC181F-B405-4D43-B04F-802280F004C7}"/>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13</a:t>
            </a:r>
          </a:p>
        </p:txBody>
      </p:sp>
      <p:sp>
        <p:nvSpPr>
          <p:cNvPr id="4" name="">
            <a:extLst xmlns:a="http://schemas.openxmlformats.org/drawingml/2006/main">
              <a:ext uri="{FF2B5EF4-FFF2-40B4-BE49-F238E27FC236}">
                <a16:creationId xmlns:a16="http://schemas.microsoft.com/office/drawing/2014/main" id="{1E5C8E7A-C035-4108-98C9-EDE5F228E1B7}"/>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12</a:t>
            </a:r>
          </a:p>
        </p:txBody>
      </p:sp>
      <p:sp>
        <p:nvSpPr>
          <p:cNvPr id="5" name="">
            <a:extLst xmlns:a="http://schemas.openxmlformats.org/drawingml/2006/main">
              <a:ext uri="{FF2B5EF4-FFF2-40B4-BE49-F238E27FC236}">
                <a16:creationId xmlns:a16="http://schemas.microsoft.com/office/drawing/2014/main" id="{A62AEC1D-AB54-47C8-8BA0-B6CC1E899D9C}"/>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関係書類を一つの保存場所へまとめる</a:t>
            </a:r>
          </a:p>
        </p:txBody>
      </p:sp>
      <p:sp>
        <p:nvSpPr>
          <p:cNvPr id="6" name="">
            <a:extLst xmlns:a="http://schemas.openxmlformats.org/drawingml/2006/main">
              <a:ext uri="{FF2B5EF4-FFF2-40B4-BE49-F238E27FC236}">
                <a16:creationId xmlns:a16="http://schemas.microsoft.com/office/drawing/2014/main" id="{AFCEA237-959A-47DF-B038-39719F7483D5}"/>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94B6818-DBB8-419B-916D-743EAF11EA69}"/>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DC7E6A1B-9B43-47DD-B26E-0BDF51CA32E9}"/>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F599151-DE25-47B3-9B6F-5F4C4E6A7C2C}"/>
              </a:ext>
            </a:extLst>
          </p:cNvPr>
          <p:cNvSpPr>
            <a:spLocks xmlns:a="http://schemas.openxmlformats.org/drawingml/2006/main" noGrp="1"/>
          </p:cNvSpPr>
          <p:nvPr/>
        </p:nvSpPr>
        <p:spPr>
          <a:xfrm xmlns:a="http://schemas.openxmlformats.org/drawingml/2006/main">
            <a:off x="1333500" y="2419350"/>
            <a:ext cx="960120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保存フォルダの例00_申請・交付決定01_変更手続き02_経費別証拠書類03_実績報告提出データ04_差戻し・事務局連絡05_確定通知・精算払請求06_入金確認07_取得財産管理08_事業効果等状況報告</a:t>
            </a:r>
          </a:p>
        </p:txBody>
      </p:sp>
      <p:sp>
        <p:nvSpPr>
          <p:cNvPr id="10" name="">
            <a:extLst xmlns:a="http://schemas.openxmlformats.org/drawingml/2006/main">
              <a:ext uri="{FF2B5EF4-FFF2-40B4-BE49-F238E27FC236}">
                <a16:creationId xmlns:a16="http://schemas.microsoft.com/office/drawing/2014/main" id="{9ACCD9AA-F7A2-44BB-9884-37D7E0796642}"/>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980298645"/>
      </p:ext>
    </p:extLst>
  </p:cSld>
</p:sld>
</file>

<file path=ppt/slides/slide1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630DF8B-3036-41C2-AA36-3FABC6EA9BB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8EAE7D-D61A-4FB5-A4D0-3067AEE3A242}"/>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729C9EAC-1F0A-4921-BC93-30E3D6DF6409}"/>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13</a:t>
            </a:r>
          </a:p>
        </p:txBody>
      </p:sp>
      <p:sp>
        <p:nvSpPr>
          <p:cNvPr id="4" name="">
            <a:extLst xmlns:a="http://schemas.openxmlformats.org/drawingml/2006/main">
              <a:ext uri="{FF2B5EF4-FFF2-40B4-BE49-F238E27FC236}">
                <a16:creationId xmlns:a16="http://schemas.microsoft.com/office/drawing/2014/main" id="{0E2090FE-E74D-4F60-AE54-646DF0F09398}"/>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13</a:t>
            </a:r>
          </a:p>
        </p:txBody>
      </p:sp>
      <p:sp>
        <p:nvSpPr>
          <p:cNvPr id="5" name="">
            <a:extLst xmlns:a="http://schemas.openxmlformats.org/drawingml/2006/main">
              <a:ext uri="{FF2B5EF4-FFF2-40B4-BE49-F238E27FC236}">
                <a16:creationId xmlns:a16="http://schemas.microsoft.com/office/drawing/2014/main" id="{72D80A1D-6CBF-4121-97F2-C39A545507BD}"/>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事業効果等状況報告を忘れない</a:t>
            </a:r>
          </a:p>
        </p:txBody>
      </p:sp>
      <p:sp>
        <p:nvSpPr>
          <p:cNvPr id="6" name="">
            <a:extLst xmlns:a="http://schemas.openxmlformats.org/drawingml/2006/main">
              <a:ext uri="{FF2B5EF4-FFF2-40B4-BE49-F238E27FC236}">
                <a16:creationId xmlns:a16="http://schemas.microsoft.com/office/drawing/2014/main" id="{0520B428-97DC-4BEE-8E88-FF4655197EC6}"/>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E7B0D36-18F7-4872-9D3A-906A594FFB69}"/>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3DA62FF3-AE7D-4BAE-ACD5-CE858E09CACB}"/>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A797B0D-6537-4971-9EFB-36B4773414A1}"/>
              </a:ext>
            </a:extLst>
          </p:cNvPr>
          <p:cNvSpPr>
            <a:spLocks xmlns:a="http://schemas.openxmlformats.org/drawingml/2006/main" noGrp="1"/>
          </p:cNvSpPr>
          <p:nvPr/>
        </p:nvSpPr>
        <p:spPr>
          <a:xfrm xmlns:a="http://schemas.openxmlformats.org/drawingml/2006/main">
            <a:off x="1333500" y="241935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補助事業者は、補助事業終了後の一定期間について、補助事業がもたらした効果、売上、賃金引上げ等の状況を報告する必要があります。</a:t>
            </a:r>
          </a:p>
        </p:txBody>
      </p:sp>
      <p:sp>
        <p:nvSpPr>
          <p:cNvPr id="10" name="">
            <a:extLst xmlns:a="http://schemas.openxmlformats.org/drawingml/2006/main">
              <a:ext uri="{FF2B5EF4-FFF2-40B4-BE49-F238E27FC236}">
                <a16:creationId xmlns:a16="http://schemas.microsoft.com/office/drawing/2014/main" id="{CE2B8191-02BF-457E-B2B4-45FA77C6952A}"/>
              </a:ext>
            </a:extLst>
          </p:cNvPr>
          <p:cNvSpPr>
            <a:spLocks xmlns:a="http://schemas.openxmlformats.org/drawingml/2006/main" noGrp="1"/>
          </p:cNvSpPr>
          <p:nvPr/>
        </p:nvSpPr>
        <p:spPr>
          <a:xfrm xmlns:a="http://schemas.openxmlformats.org/drawingml/2006/main">
            <a:off x="1028700" y="322897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6222803-6C90-4586-B7B3-D21A103AF070}"/>
              </a:ext>
            </a:extLst>
          </p:cNvPr>
          <p:cNvSpPr>
            <a:spLocks xmlns:a="http://schemas.openxmlformats.org/drawingml/2006/main" noGrp="1"/>
          </p:cNvSpPr>
          <p:nvPr/>
        </p:nvSpPr>
        <p:spPr>
          <a:xfrm xmlns:a="http://schemas.openxmlformats.org/drawingml/2006/main">
            <a:off x="1333500" y="300990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提出できる時期や対象期間は採択回の手引きで確認します。</a:t>
            </a:r>
          </a:p>
        </p:txBody>
      </p:sp>
      <p:sp>
        <p:nvSpPr>
          <p:cNvPr id="12" name="">
            <a:extLst xmlns:a="http://schemas.openxmlformats.org/drawingml/2006/main">
              <a:ext uri="{FF2B5EF4-FFF2-40B4-BE49-F238E27FC236}">
                <a16:creationId xmlns:a16="http://schemas.microsoft.com/office/drawing/2014/main" id="{38F2DD99-D157-475D-85ED-FF96828F7205}"/>
              </a:ext>
            </a:extLst>
          </p:cNvPr>
          <p:cNvSpPr>
            <a:spLocks xmlns:a="http://schemas.openxmlformats.org/drawingml/2006/main" noGrp="1"/>
          </p:cNvSpPr>
          <p:nvPr/>
        </p:nvSpPr>
        <p:spPr>
          <a:xfrm xmlns:a="http://schemas.openxmlformats.org/drawingml/2006/main">
            <a:off x="1028700" y="38195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AB6DC97-BE2A-468F-B401-2CC52E2BDADB}"/>
              </a:ext>
            </a:extLst>
          </p:cNvPr>
          <p:cNvSpPr>
            <a:spLocks xmlns:a="http://schemas.openxmlformats.org/drawingml/2006/main" noGrp="1"/>
          </p:cNvSpPr>
          <p:nvPr/>
        </p:nvSpPr>
        <p:spPr>
          <a:xfrm xmlns:a="http://schemas.openxmlformats.org/drawingml/2006/main">
            <a:off x="1333500" y="360045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提出がない場合、今後の補助金申請に制約が生じることがあります。</a:t>
            </a:r>
          </a:p>
        </p:txBody>
      </p:sp>
      <p:sp>
        <p:nvSpPr>
          <p:cNvPr id="14" name="">
            <a:extLst xmlns:a="http://schemas.openxmlformats.org/drawingml/2006/main">
              <a:ext uri="{FF2B5EF4-FFF2-40B4-BE49-F238E27FC236}">
                <a16:creationId xmlns:a16="http://schemas.microsoft.com/office/drawing/2014/main" id="{EC81518C-3A2D-4347-8929-FDC6FBCBF4BA}"/>
              </a:ext>
            </a:extLst>
          </p:cNvPr>
          <p:cNvSpPr>
            <a:spLocks xmlns:a="http://schemas.openxmlformats.org/drawingml/2006/main" noGrp="1"/>
          </p:cNvSpPr>
          <p:nvPr/>
        </p:nvSpPr>
        <p:spPr>
          <a:xfrm xmlns:a="http://schemas.openxmlformats.org/drawingml/2006/main">
            <a:off x="1028700" y="441007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08EB903-6350-4A98-9802-4A95F15C4397}"/>
              </a:ext>
            </a:extLst>
          </p:cNvPr>
          <p:cNvSpPr>
            <a:spLocks xmlns:a="http://schemas.openxmlformats.org/drawingml/2006/main" noGrp="1"/>
          </p:cNvSpPr>
          <p:nvPr/>
        </p:nvSpPr>
        <p:spPr>
          <a:xfrm xmlns:a="http://schemas.openxmlformats.org/drawingml/2006/main">
            <a:off x="1333500" y="419100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報告時期になってから数字を集めるのではなく、補助事業終了後から、月ごとの売上、対象商品・サービスの販売数、問い合わせ件数、新規顧客数、作業時間、雇用人数、賃金等を記録します。</a:t>
            </a:r>
          </a:p>
        </p:txBody>
      </p:sp>
      <p:sp>
        <p:nvSpPr>
          <p:cNvPr id="16" name="">
            <a:extLst xmlns:a="http://schemas.openxmlformats.org/drawingml/2006/main">
              <a:ext uri="{FF2B5EF4-FFF2-40B4-BE49-F238E27FC236}">
                <a16:creationId xmlns:a16="http://schemas.microsoft.com/office/drawing/2014/main" id="{E8EB31A5-5B63-4637-B629-74B5286A7B51}"/>
              </a:ext>
            </a:extLst>
          </p:cNvPr>
          <p:cNvSpPr>
            <a:spLocks xmlns:a="http://schemas.openxmlformats.org/drawingml/2006/main" noGrp="1"/>
          </p:cNvSpPr>
          <p:nvPr/>
        </p:nvSpPr>
        <p:spPr>
          <a:xfrm xmlns:a="http://schemas.openxmlformats.org/drawingml/2006/main">
            <a:off x="1028700" y="5000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10F382A-017C-425E-A377-53EF623DECC4}"/>
              </a:ext>
            </a:extLst>
          </p:cNvPr>
          <p:cNvSpPr>
            <a:spLocks xmlns:a="http://schemas.openxmlformats.org/drawingml/2006/main" noGrp="1"/>
          </p:cNvSpPr>
          <p:nvPr/>
        </p:nvSpPr>
        <p:spPr>
          <a:xfrm xmlns:a="http://schemas.openxmlformats.org/drawingml/2006/main">
            <a:off x="1333500" y="4781550"/>
            <a:ext cx="960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B2420"/>
                </a:solidFill>
              </a:defRPr>
            </a:pPr>
            <a:r>
              <a:rPr sz="1500" b="0">
                <a:solidFill>
                  <a:srgbClr val="1B2420"/>
                </a:solidFill>
              </a:rPr>
              <a:t>補助事業と無関係な全社売上だけでは効果が見えにくいため、可能な範囲で対象事業の数値を分けます。</a:t>
            </a:r>
          </a:p>
        </p:txBody>
      </p:sp>
      <p:sp>
        <p:nvSpPr>
          <p:cNvPr id="18" name="">
            <a:extLst xmlns:a="http://schemas.openxmlformats.org/drawingml/2006/main">
              <a:ext uri="{FF2B5EF4-FFF2-40B4-BE49-F238E27FC236}">
                <a16:creationId xmlns:a16="http://schemas.microsoft.com/office/drawing/2014/main" id="{A517D690-9DF7-4CCD-B5B8-50A9D96D1E5C}"/>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2104742339"/>
      </p:ext>
    </p:extLst>
  </p:cSld>
</p:sld>
</file>

<file path=ppt/slides/slide1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242FB5A-1CF2-4CA1-A35B-5D25EC2A394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3F582B-EF90-47FA-A517-64BF1717F179}"/>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09491079-117E-4B0D-AA26-4B6D382AF36C}"/>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13</a:t>
            </a:r>
          </a:p>
        </p:txBody>
      </p:sp>
      <p:sp>
        <p:nvSpPr>
          <p:cNvPr id="4" name="">
            <a:extLst xmlns:a="http://schemas.openxmlformats.org/drawingml/2006/main">
              <a:ext uri="{FF2B5EF4-FFF2-40B4-BE49-F238E27FC236}">
                <a16:creationId xmlns:a16="http://schemas.microsoft.com/office/drawing/2014/main" id="{9B0116D9-7EF8-4AD2-BC3F-C64DFB012B5B}"/>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14</a:t>
            </a:r>
          </a:p>
        </p:txBody>
      </p:sp>
      <p:sp>
        <p:nvSpPr>
          <p:cNvPr id="5" name="">
            <a:extLst xmlns:a="http://schemas.openxmlformats.org/drawingml/2006/main">
              <a:ext uri="{FF2B5EF4-FFF2-40B4-BE49-F238E27FC236}">
                <a16:creationId xmlns:a16="http://schemas.microsoft.com/office/drawing/2014/main" id="{284D94A1-E148-48ED-9244-EAE20FCADEDC}"/>
              </a:ext>
            </a:extLst>
          </p:cNvPr>
          <p:cNvSpPr>
            <a:spLocks xmlns:a="http://schemas.openxmlformats.org/drawingml/2006/main" noGrp="1"/>
          </p:cNvSpPr>
          <p:nvPr/>
        </p:nvSpPr>
        <p:spPr>
          <a:xfrm xmlns:a="http://schemas.openxmlformats.org/drawingml/2006/main">
            <a:off x="685800" y="723900"/>
            <a:ext cx="10744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372F"/>
                </a:solidFill>
              </a:defRPr>
            </a:pPr>
            <a:r>
              <a:rPr sz="2850" b="1">
                <a:solidFill>
                  <a:srgbClr val="17372F"/>
                </a:solidFill>
              </a:rPr>
              <a:t>事業効果等状況報告を忘れない</a:t>
            </a:r>
          </a:p>
        </p:txBody>
      </p:sp>
      <p:sp>
        <p:nvSpPr>
          <p:cNvPr id="6" name="">
            <a:extLst xmlns:a="http://schemas.openxmlformats.org/drawingml/2006/main">
              <a:ext uri="{FF2B5EF4-FFF2-40B4-BE49-F238E27FC236}">
                <a16:creationId xmlns:a16="http://schemas.microsoft.com/office/drawing/2014/main" id="{A28EBD1B-865D-4A53-A55C-BE3EB652DACD}"/>
              </a:ext>
            </a:extLst>
          </p:cNvPr>
          <p:cNvSpPr>
            <a:spLocks xmlns:a="http://schemas.openxmlformats.org/drawingml/2006/main" noGrp="1"/>
          </p:cNvSpPr>
          <p:nvPr/>
        </p:nvSpPr>
        <p:spPr>
          <a:xfrm xmlns:a="http://schemas.openxmlformats.org/drawingml/2006/main">
            <a:off x="685800" y="1657350"/>
            <a:ext cx="3581400" cy="628650"/>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7" name="">
            <a:extLst xmlns:a="http://schemas.openxmlformats.org/drawingml/2006/main">
              <a:ext uri="{FF2B5EF4-FFF2-40B4-BE49-F238E27FC236}">
                <a16:creationId xmlns:a16="http://schemas.microsoft.com/office/drawing/2014/main" id="{5671942F-BBA2-4A28-8BAF-E2C9DB93299F}"/>
              </a:ext>
            </a:extLst>
          </p:cNvPr>
          <p:cNvSpPr>
            <a:spLocks xmlns:a="http://schemas.openxmlformats.org/drawingml/2006/main" noGrp="1"/>
          </p:cNvSpPr>
          <p:nvPr/>
        </p:nvSpPr>
        <p:spPr>
          <a:xfrm xmlns:a="http://schemas.openxmlformats.org/drawingml/2006/main">
            <a:off x="781050" y="17145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記録する項目</a:t>
            </a:r>
          </a:p>
        </p:txBody>
      </p:sp>
      <p:sp>
        <p:nvSpPr>
          <p:cNvPr id="8" name="">
            <a:extLst xmlns:a="http://schemas.openxmlformats.org/drawingml/2006/main">
              <a:ext uri="{FF2B5EF4-FFF2-40B4-BE49-F238E27FC236}">
                <a16:creationId xmlns:a16="http://schemas.microsoft.com/office/drawing/2014/main" id="{A9CE6256-3066-4BA7-BF70-987BD9046337}"/>
              </a:ext>
            </a:extLst>
          </p:cNvPr>
          <p:cNvSpPr>
            <a:spLocks xmlns:a="http://schemas.openxmlformats.org/drawingml/2006/main" noGrp="1"/>
          </p:cNvSpPr>
          <p:nvPr/>
        </p:nvSpPr>
        <p:spPr>
          <a:xfrm xmlns:a="http://schemas.openxmlformats.org/drawingml/2006/main">
            <a:off x="4267200" y="1657350"/>
            <a:ext cx="3581400" cy="628650"/>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9" name="">
            <a:extLst xmlns:a="http://schemas.openxmlformats.org/drawingml/2006/main">
              <a:ext uri="{FF2B5EF4-FFF2-40B4-BE49-F238E27FC236}">
                <a16:creationId xmlns:a16="http://schemas.microsoft.com/office/drawing/2014/main" id="{40B49462-CFA4-4185-9867-493E5E3BD904}"/>
              </a:ext>
            </a:extLst>
          </p:cNvPr>
          <p:cNvSpPr>
            <a:spLocks xmlns:a="http://schemas.openxmlformats.org/drawingml/2006/main" noGrp="1"/>
          </p:cNvSpPr>
          <p:nvPr/>
        </p:nvSpPr>
        <p:spPr>
          <a:xfrm xmlns:a="http://schemas.openxmlformats.org/drawingml/2006/main">
            <a:off x="4362450" y="17145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記録方法</a:t>
            </a:r>
          </a:p>
        </p:txBody>
      </p:sp>
      <p:sp>
        <p:nvSpPr>
          <p:cNvPr id="10" name="">
            <a:extLst xmlns:a="http://schemas.openxmlformats.org/drawingml/2006/main">
              <a:ext uri="{FF2B5EF4-FFF2-40B4-BE49-F238E27FC236}">
                <a16:creationId xmlns:a16="http://schemas.microsoft.com/office/drawing/2014/main" id="{3DD41FF6-2335-4709-B725-EF77B02E52F5}"/>
              </a:ext>
            </a:extLst>
          </p:cNvPr>
          <p:cNvSpPr>
            <a:spLocks xmlns:a="http://schemas.openxmlformats.org/drawingml/2006/main" noGrp="1"/>
          </p:cNvSpPr>
          <p:nvPr/>
        </p:nvSpPr>
        <p:spPr>
          <a:xfrm xmlns:a="http://schemas.openxmlformats.org/drawingml/2006/main">
            <a:off x="7848600" y="1657350"/>
            <a:ext cx="3581400" cy="628650"/>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11" name="">
            <a:extLst xmlns:a="http://schemas.openxmlformats.org/drawingml/2006/main">
              <a:ext uri="{FF2B5EF4-FFF2-40B4-BE49-F238E27FC236}">
                <a16:creationId xmlns:a16="http://schemas.microsoft.com/office/drawing/2014/main" id="{55C6CEE2-9957-496C-AEF0-8B83129287D0}"/>
              </a:ext>
            </a:extLst>
          </p:cNvPr>
          <p:cNvSpPr>
            <a:spLocks xmlns:a="http://schemas.openxmlformats.org/drawingml/2006/main" noGrp="1"/>
          </p:cNvSpPr>
          <p:nvPr/>
        </p:nvSpPr>
        <p:spPr>
          <a:xfrm xmlns:a="http://schemas.openxmlformats.org/drawingml/2006/main">
            <a:off x="7943850" y="17145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確認資料</a:t>
            </a:r>
          </a:p>
        </p:txBody>
      </p:sp>
      <p:sp>
        <p:nvSpPr>
          <p:cNvPr id="12" name="">
            <a:extLst xmlns:a="http://schemas.openxmlformats.org/drawingml/2006/main">
              <a:ext uri="{FF2B5EF4-FFF2-40B4-BE49-F238E27FC236}">
                <a16:creationId xmlns:a16="http://schemas.microsoft.com/office/drawing/2014/main" id="{9B4CF7B7-BBE3-48CB-8F47-601151AFCED4}"/>
              </a:ext>
            </a:extLst>
          </p:cNvPr>
          <p:cNvSpPr>
            <a:spLocks xmlns:a="http://schemas.openxmlformats.org/drawingml/2006/main" noGrp="1"/>
          </p:cNvSpPr>
          <p:nvPr/>
        </p:nvSpPr>
        <p:spPr>
          <a:xfrm xmlns:a="http://schemas.openxmlformats.org/drawingml/2006/main">
            <a:off x="685800" y="228600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3" name="">
            <a:extLst xmlns:a="http://schemas.openxmlformats.org/drawingml/2006/main">
              <a:ext uri="{FF2B5EF4-FFF2-40B4-BE49-F238E27FC236}">
                <a16:creationId xmlns:a16="http://schemas.microsoft.com/office/drawing/2014/main" id="{8EE7B01A-1894-408A-AD30-CED163609A4C}"/>
              </a:ext>
            </a:extLst>
          </p:cNvPr>
          <p:cNvSpPr>
            <a:spLocks xmlns:a="http://schemas.openxmlformats.org/drawingml/2006/main" noGrp="1"/>
          </p:cNvSpPr>
          <p:nvPr/>
        </p:nvSpPr>
        <p:spPr>
          <a:xfrm xmlns:a="http://schemas.openxmlformats.org/drawingml/2006/main">
            <a:off x="781050" y="23431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対象商品・サービスの売上</a:t>
            </a:r>
          </a:p>
        </p:txBody>
      </p:sp>
      <p:sp>
        <p:nvSpPr>
          <p:cNvPr id="14" name="">
            <a:extLst xmlns:a="http://schemas.openxmlformats.org/drawingml/2006/main">
              <a:ext uri="{FF2B5EF4-FFF2-40B4-BE49-F238E27FC236}">
                <a16:creationId xmlns:a16="http://schemas.microsoft.com/office/drawing/2014/main" id="{B9AE04DC-9137-4970-9032-2E661B796E58}"/>
              </a:ext>
            </a:extLst>
          </p:cNvPr>
          <p:cNvSpPr>
            <a:spLocks xmlns:a="http://schemas.openxmlformats.org/drawingml/2006/main" noGrp="1"/>
          </p:cNvSpPr>
          <p:nvPr/>
        </p:nvSpPr>
        <p:spPr>
          <a:xfrm xmlns:a="http://schemas.openxmlformats.org/drawingml/2006/main">
            <a:off x="4267200" y="228600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5" name="">
            <a:extLst xmlns:a="http://schemas.openxmlformats.org/drawingml/2006/main">
              <a:ext uri="{FF2B5EF4-FFF2-40B4-BE49-F238E27FC236}">
                <a16:creationId xmlns:a16="http://schemas.microsoft.com/office/drawing/2014/main" id="{8B882981-CA8A-497C-A3FF-0DEEB78A14E3}"/>
              </a:ext>
            </a:extLst>
          </p:cNvPr>
          <p:cNvSpPr>
            <a:spLocks xmlns:a="http://schemas.openxmlformats.org/drawingml/2006/main" noGrp="1"/>
          </p:cNvSpPr>
          <p:nvPr/>
        </p:nvSpPr>
        <p:spPr>
          <a:xfrm xmlns:a="http://schemas.openxmlformats.org/drawingml/2006/main">
            <a:off x="4362450" y="23431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月別、商品別に集計</a:t>
            </a:r>
          </a:p>
        </p:txBody>
      </p:sp>
      <p:sp>
        <p:nvSpPr>
          <p:cNvPr id="16" name="">
            <a:extLst xmlns:a="http://schemas.openxmlformats.org/drawingml/2006/main">
              <a:ext uri="{FF2B5EF4-FFF2-40B4-BE49-F238E27FC236}">
                <a16:creationId xmlns:a16="http://schemas.microsoft.com/office/drawing/2014/main" id="{50365660-242B-41B2-BE1E-0984AD36FA89}"/>
              </a:ext>
            </a:extLst>
          </p:cNvPr>
          <p:cNvSpPr>
            <a:spLocks xmlns:a="http://schemas.openxmlformats.org/drawingml/2006/main" noGrp="1"/>
          </p:cNvSpPr>
          <p:nvPr/>
        </p:nvSpPr>
        <p:spPr>
          <a:xfrm xmlns:a="http://schemas.openxmlformats.org/drawingml/2006/main">
            <a:off x="7848600" y="228600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7" name="">
            <a:extLst xmlns:a="http://schemas.openxmlformats.org/drawingml/2006/main">
              <a:ext uri="{FF2B5EF4-FFF2-40B4-BE49-F238E27FC236}">
                <a16:creationId xmlns:a16="http://schemas.microsoft.com/office/drawing/2014/main" id="{B4BE3C21-89F5-43A3-A2AC-3A8447EB9636}"/>
              </a:ext>
            </a:extLst>
          </p:cNvPr>
          <p:cNvSpPr>
            <a:spLocks xmlns:a="http://schemas.openxmlformats.org/drawingml/2006/main" noGrp="1"/>
          </p:cNvSpPr>
          <p:nvPr/>
        </p:nvSpPr>
        <p:spPr>
          <a:xfrm xmlns:a="http://schemas.openxmlformats.org/drawingml/2006/main">
            <a:off x="7943850" y="23431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売上台帳、会計データ、請求書</a:t>
            </a:r>
          </a:p>
        </p:txBody>
      </p:sp>
      <p:sp>
        <p:nvSpPr>
          <p:cNvPr id="18" name="">
            <a:extLst xmlns:a="http://schemas.openxmlformats.org/drawingml/2006/main">
              <a:ext uri="{FF2B5EF4-FFF2-40B4-BE49-F238E27FC236}">
                <a16:creationId xmlns:a16="http://schemas.microsoft.com/office/drawing/2014/main" id="{A9B1BF4A-5EF5-4EFA-8614-BEC7924E4E28}"/>
              </a:ext>
            </a:extLst>
          </p:cNvPr>
          <p:cNvSpPr>
            <a:spLocks xmlns:a="http://schemas.openxmlformats.org/drawingml/2006/main" noGrp="1"/>
          </p:cNvSpPr>
          <p:nvPr/>
        </p:nvSpPr>
        <p:spPr>
          <a:xfrm xmlns:a="http://schemas.openxmlformats.org/drawingml/2006/main">
            <a:off x="685800" y="291465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9" name="">
            <a:extLst xmlns:a="http://schemas.openxmlformats.org/drawingml/2006/main">
              <a:ext uri="{FF2B5EF4-FFF2-40B4-BE49-F238E27FC236}">
                <a16:creationId xmlns:a16="http://schemas.microsoft.com/office/drawing/2014/main" id="{26A3F9DF-4AEC-4059-8F37-9D1B2133B077}"/>
              </a:ext>
            </a:extLst>
          </p:cNvPr>
          <p:cNvSpPr>
            <a:spLocks xmlns:a="http://schemas.openxmlformats.org/drawingml/2006/main" noGrp="1"/>
          </p:cNvSpPr>
          <p:nvPr/>
        </p:nvSpPr>
        <p:spPr>
          <a:xfrm xmlns:a="http://schemas.openxmlformats.org/drawingml/2006/main">
            <a:off x="781050" y="29718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問い合わせ・商談・受注</a:t>
            </a:r>
          </a:p>
        </p:txBody>
      </p:sp>
      <p:sp>
        <p:nvSpPr>
          <p:cNvPr id="20" name="">
            <a:extLst xmlns:a="http://schemas.openxmlformats.org/drawingml/2006/main">
              <a:ext uri="{FF2B5EF4-FFF2-40B4-BE49-F238E27FC236}">
                <a16:creationId xmlns:a16="http://schemas.microsoft.com/office/drawing/2014/main" id="{E2B2C694-AF2F-425B-9CAB-E905BDA8FBF5}"/>
              </a:ext>
            </a:extLst>
          </p:cNvPr>
          <p:cNvSpPr>
            <a:spLocks xmlns:a="http://schemas.openxmlformats.org/drawingml/2006/main" noGrp="1"/>
          </p:cNvSpPr>
          <p:nvPr/>
        </p:nvSpPr>
        <p:spPr>
          <a:xfrm xmlns:a="http://schemas.openxmlformats.org/drawingml/2006/main">
            <a:off x="4267200" y="291465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1" name="">
            <a:extLst xmlns:a="http://schemas.openxmlformats.org/drawingml/2006/main">
              <a:ext uri="{FF2B5EF4-FFF2-40B4-BE49-F238E27FC236}">
                <a16:creationId xmlns:a16="http://schemas.microsoft.com/office/drawing/2014/main" id="{DF7102AA-7F54-4B14-80D1-B86AF192F041}"/>
              </a:ext>
            </a:extLst>
          </p:cNvPr>
          <p:cNvSpPr>
            <a:spLocks xmlns:a="http://schemas.openxmlformats.org/drawingml/2006/main" noGrp="1"/>
          </p:cNvSpPr>
          <p:nvPr/>
        </p:nvSpPr>
        <p:spPr>
          <a:xfrm xmlns:a="http://schemas.openxmlformats.org/drawingml/2006/main">
            <a:off x="4362450" y="29718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日付、流入経路、結果を記録</a:t>
            </a:r>
          </a:p>
        </p:txBody>
      </p:sp>
      <p:sp>
        <p:nvSpPr>
          <p:cNvPr id="22" name="">
            <a:extLst xmlns:a="http://schemas.openxmlformats.org/drawingml/2006/main">
              <a:ext uri="{FF2B5EF4-FFF2-40B4-BE49-F238E27FC236}">
                <a16:creationId xmlns:a16="http://schemas.microsoft.com/office/drawing/2014/main" id="{032AE2FE-F7FE-47A4-B44C-90289EC82436}"/>
              </a:ext>
            </a:extLst>
          </p:cNvPr>
          <p:cNvSpPr>
            <a:spLocks xmlns:a="http://schemas.openxmlformats.org/drawingml/2006/main" noGrp="1"/>
          </p:cNvSpPr>
          <p:nvPr/>
        </p:nvSpPr>
        <p:spPr>
          <a:xfrm xmlns:a="http://schemas.openxmlformats.org/drawingml/2006/main">
            <a:off x="7848600" y="291465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3" name="">
            <a:extLst xmlns:a="http://schemas.openxmlformats.org/drawingml/2006/main">
              <a:ext uri="{FF2B5EF4-FFF2-40B4-BE49-F238E27FC236}">
                <a16:creationId xmlns:a16="http://schemas.microsoft.com/office/drawing/2014/main" id="{B53335EF-2A23-4AB1-BFAA-00AA4D223B71}"/>
              </a:ext>
            </a:extLst>
          </p:cNvPr>
          <p:cNvSpPr>
            <a:spLocks xmlns:a="http://schemas.openxmlformats.org/drawingml/2006/main" noGrp="1"/>
          </p:cNvSpPr>
          <p:nvPr/>
        </p:nvSpPr>
        <p:spPr>
          <a:xfrm xmlns:a="http://schemas.openxmlformats.org/drawingml/2006/main">
            <a:off x="7943850" y="29718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問い合わせ一覧、商談記録、受注表</a:t>
            </a:r>
          </a:p>
        </p:txBody>
      </p:sp>
      <p:sp>
        <p:nvSpPr>
          <p:cNvPr id="24" name="">
            <a:extLst xmlns:a="http://schemas.openxmlformats.org/drawingml/2006/main">
              <a:ext uri="{FF2B5EF4-FFF2-40B4-BE49-F238E27FC236}">
                <a16:creationId xmlns:a16="http://schemas.microsoft.com/office/drawing/2014/main" id="{35DB015F-A336-4895-B6E8-BCBE80CCB618}"/>
              </a:ext>
            </a:extLst>
          </p:cNvPr>
          <p:cNvSpPr>
            <a:spLocks xmlns:a="http://schemas.openxmlformats.org/drawingml/2006/main" noGrp="1"/>
          </p:cNvSpPr>
          <p:nvPr/>
        </p:nvSpPr>
        <p:spPr>
          <a:xfrm xmlns:a="http://schemas.openxmlformats.org/drawingml/2006/main">
            <a:off x="685800" y="354330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5" name="">
            <a:extLst xmlns:a="http://schemas.openxmlformats.org/drawingml/2006/main">
              <a:ext uri="{FF2B5EF4-FFF2-40B4-BE49-F238E27FC236}">
                <a16:creationId xmlns:a16="http://schemas.microsoft.com/office/drawing/2014/main" id="{67645C29-7317-4F14-8B69-3CA9625A97B5}"/>
              </a:ext>
            </a:extLst>
          </p:cNvPr>
          <p:cNvSpPr>
            <a:spLocks xmlns:a="http://schemas.openxmlformats.org/drawingml/2006/main" noGrp="1"/>
          </p:cNvSpPr>
          <p:nvPr/>
        </p:nvSpPr>
        <p:spPr>
          <a:xfrm xmlns:a="http://schemas.openxmlformats.org/drawingml/2006/main">
            <a:off x="781050" y="36004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生産性・作業時間</a:t>
            </a:r>
          </a:p>
        </p:txBody>
      </p:sp>
      <p:sp>
        <p:nvSpPr>
          <p:cNvPr id="26" name="">
            <a:extLst xmlns:a="http://schemas.openxmlformats.org/drawingml/2006/main">
              <a:ext uri="{FF2B5EF4-FFF2-40B4-BE49-F238E27FC236}">
                <a16:creationId xmlns:a16="http://schemas.microsoft.com/office/drawing/2014/main" id="{8405D94E-310B-4393-8D92-91C99347356E}"/>
              </a:ext>
            </a:extLst>
          </p:cNvPr>
          <p:cNvSpPr>
            <a:spLocks xmlns:a="http://schemas.openxmlformats.org/drawingml/2006/main" noGrp="1"/>
          </p:cNvSpPr>
          <p:nvPr/>
        </p:nvSpPr>
        <p:spPr>
          <a:xfrm xmlns:a="http://schemas.openxmlformats.org/drawingml/2006/main">
            <a:off x="4267200" y="354330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7" name="">
            <a:extLst xmlns:a="http://schemas.openxmlformats.org/drawingml/2006/main">
              <a:ext uri="{FF2B5EF4-FFF2-40B4-BE49-F238E27FC236}">
                <a16:creationId xmlns:a16="http://schemas.microsoft.com/office/drawing/2014/main" id="{8DCDC0CB-95CE-495D-82FC-FFFF0F4846EA}"/>
              </a:ext>
            </a:extLst>
          </p:cNvPr>
          <p:cNvSpPr>
            <a:spLocks xmlns:a="http://schemas.openxmlformats.org/drawingml/2006/main" noGrp="1"/>
          </p:cNvSpPr>
          <p:nvPr/>
        </p:nvSpPr>
        <p:spPr>
          <a:xfrm xmlns:a="http://schemas.openxmlformats.org/drawingml/2006/main">
            <a:off x="4362450" y="36004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導入前後で同じ作業を比較</a:t>
            </a:r>
          </a:p>
        </p:txBody>
      </p:sp>
      <p:sp>
        <p:nvSpPr>
          <p:cNvPr id="28" name="">
            <a:extLst xmlns:a="http://schemas.openxmlformats.org/drawingml/2006/main">
              <a:ext uri="{FF2B5EF4-FFF2-40B4-BE49-F238E27FC236}">
                <a16:creationId xmlns:a16="http://schemas.microsoft.com/office/drawing/2014/main" id="{990EE519-9E55-470D-9772-FEC87CBB7681}"/>
              </a:ext>
            </a:extLst>
          </p:cNvPr>
          <p:cNvSpPr>
            <a:spLocks xmlns:a="http://schemas.openxmlformats.org/drawingml/2006/main" noGrp="1"/>
          </p:cNvSpPr>
          <p:nvPr/>
        </p:nvSpPr>
        <p:spPr>
          <a:xfrm xmlns:a="http://schemas.openxmlformats.org/drawingml/2006/main">
            <a:off x="7848600" y="354330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9" name="">
            <a:extLst xmlns:a="http://schemas.openxmlformats.org/drawingml/2006/main">
              <a:ext uri="{FF2B5EF4-FFF2-40B4-BE49-F238E27FC236}">
                <a16:creationId xmlns:a16="http://schemas.microsoft.com/office/drawing/2014/main" id="{7FA45884-E774-4618-A5E4-3AABAF37BC7B}"/>
              </a:ext>
            </a:extLst>
          </p:cNvPr>
          <p:cNvSpPr>
            <a:spLocks xmlns:a="http://schemas.openxmlformats.org/drawingml/2006/main" noGrp="1"/>
          </p:cNvSpPr>
          <p:nvPr/>
        </p:nvSpPr>
        <p:spPr>
          <a:xfrm xmlns:a="http://schemas.openxmlformats.org/drawingml/2006/main">
            <a:off x="7943850" y="36004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作業日報、製造記録、予約台帳</a:t>
            </a:r>
          </a:p>
        </p:txBody>
      </p:sp>
      <p:sp>
        <p:nvSpPr>
          <p:cNvPr id="30" name="">
            <a:extLst xmlns:a="http://schemas.openxmlformats.org/drawingml/2006/main">
              <a:ext uri="{FF2B5EF4-FFF2-40B4-BE49-F238E27FC236}">
                <a16:creationId xmlns:a16="http://schemas.microsoft.com/office/drawing/2014/main" id="{092BEE1D-DCCD-4D85-9CDA-463F49EE3094}"/>
              </a:ext>
            </a:extLst>
          </p:cNvPr>
          <p:cNvSpPr>
            <a:spLocks xmlns:a="http://schemas.openxmlformats.org/drawingml/2006/main" noGrp="1"/>
          </p:cNvSpPr>
          <p:nvPr/>
        </p:nvSpPr>
        <p:spPr>
          <a:xfrm xmlns:a="http://schemas.openxmlformats.org/drawingml/2006/main">
            <a:off x="685800" y="417195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1" name="">
            <a:extLst xmlns:a="http://schemas.openxmlformats.org/drawingml/2006/main">
              <a:ext uri="{FF2B5EF4-FFF2-40B4-BE49-F238E27FC236}">
                <a16:creationId xmlns:a16="http://schemas.microsoft.com/office/drawing/2014/main" id="{41F33597-6FB8-4C73-9FA6-5397EE120F27}"/>
              </a:ext>
            </a:extLst>
          </p:cNvPr>
          <p:cNvSpPr>
            <a:spLocks xmlns:a="http://schemas.openxmlformats.org/drawingml/2006/main" noGrp="1"/>
          </p:cNvSpPr>
          <p:nvPr/>
        </p:nvSpPr>
        <p:spPr>
          <a:xfrm xmlns:a="http://schemas.openxmlformats.org/drawingml/2006/main">
            <a:off x="781050" y="42291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ウェブの効果</a:t>
            </a:r>
          </a:p>
        </p:txBody>
      </p:sp>
      <p:sp>
        <p:nvSpPr>
          <p:cNvPr id="32" name="">
            <a:extLst xmlns:a="http://schemas.openxmlformats.org/drawingml/2006/main">
              <a:ext uri="{FF2B5EF4-FFF2-40B4-BE49-F238E27FC236}">
                <a16:creationId xmlns:a16="http://schemas.microsoft.com/office/drawing/2014/main" id="{7A936477-335B-480F-8C56-8708EDA8F889}"/>
              </a:ext>
            </a:extLst>
          </p:cNvPr>
          <p:cNvSpPr>
            <a:spLocks xmlns:a="http://schemas.openxmlformats.org/drawingml/2006/main" noGrp="1"/>
          </p:cNvSpPr>
          <p:nvPr/>
        </p:nvSpPr>
        <p:spPr>
          <a:xfrm xmlns:a="http://schemas.openxmlformats.org/drawingml/2006/main">
            <a:off x="4267200" y="417195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3" name="">
            <a:extLst xmlns:a="http://schemas.openxmlformats.org/drawingml/2006/main">
              <a:ext uri="{FF2B5EF4-FFF2-40B4-BE49-F238E27FC236}">
                <a16:creationId xmlns:a16="http://schemas.microsoft.com/office/drawing/2014/main" id="{7CA44174-A838-47E7-AA64-CE5B0E41A547}"/>
              </a:ext>
            </a:extLst>
          </p:cNvPr>
          <p:cNvSpPr>
            <a:spLocks xmlns:a="http://schemas.openxmlformats.org/drawingml/2006/main" noGrp="1"/>
          </p:cNvSpPr>
          <p:nvPr/>
        </p:nvSpPr>
        <p:spPr>
          <a:xfrm xmlns:a="http://schemas.openxmlformats.org/drawingml/2006/main">
            <a:off x="4362450" y="42291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アクセス、フォーム送信、購入を月別集計</a:t>
            </a:r>
          </a:p>
        </p:txBody>
      </p:sp>
      <p:sp>
        <p:nvSpPr>
          <p:cNvPr id="34" name="">
            <a:extLst xmlns:a="http://schemas.openxmlformats.org/drawingml/2006/main">
              <a:ext uri="{FF2B5EF4-FFF2-40B4-BE49-F238E27FC236}">
                <a16:creationId xmlns:a16="http://schemas.microsoft.com/office/drawing/2014/main" id="{C70112F3-E465-4366-99BA-2E634353405F}"/>
              </a:ext>
            </a:extLst>
          </p:cNvPr>
          <p:cNvSpPr>
            <a:spLocks xmlns:a="http://schemas.openxmlformats.org/drawingml/2006/main" noGrp="1"/>
          </p:cNvSpPr>
          <p:nvPr/>
        </p:nvSpPr>
        <p:spPr>
          <a:xfrm xmlns:a="http://schemas.openxmlformats.org/drawingml/2006/main">
            <a:off x="7848600" y="417195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5" name="">
            <a:extLst xmlns:a="http://schemas.openxmlformats.org/drawingml/2006/main">
              <a:ext uri="{FF2B5EF4-FFF2-40B4-BE49-F238E27FC236}">
                <a16:creationId xmlns:a16="http://schemas.microsoft.com/office/drawing/2014/main" id="{4E58A032-FE05-4E71-B9AA-71898D6AD938}"/>
              </a:ext>
            </a:extLst>
          </p:cNvPr>
          <p:cNvSpPr>
            <a:spLocks xmlns:a="http://schemas.openxmlformats.org/drawingml/2006/main" noGrp="1"/>
          </p:cNvSpPr>
          <p:nvPr/>
        </p:nvSpPr>
        <p:spPr>
          <a:xfrm xmlns:a="http://schemas.openxmlformats.org/drawingml/2006/main">
            <a:off x="7943850" y="422910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アクセス解析、広告管理画面</a:t>
            </a:r>
          </a:p>
        </p:txBody>
      </p:sp>
      <p:sp>
        <p:nvSpPr>
          <p:cNvPr id="36" name="">
            <a:extLst xmlns:a="http://schemas.openxmlformats.org/drawingml/2006/main">
              <a:ext uri="{FF2B5EF4-FFF2-40B4-BE49-F238E27FC236}">
                <a16:creationId xmlns:a16="http://schemas.microsoft.com/office/drawing/2014/main" id="{673F5346-5AC3-4699-BA14-A6924D1F04D9}"/>
              </a:ext>
            </a:extLst>
          </p:cNvPr>
          <p:cNvSpPr>
            <a:spLocks xmlns:a="http://schemas.openxmlformats.org/drawingml/2006/main" noGrp="1"/>
          </p:cNvSpPr>
          <p:nvPr/>
        </p:nvSpPr>
        <p:spPr>
          <a:xfrm xmlns:a="http://schemas.openxmlformats.org/drawingml/2006/main">
            <a:off x="685800" y="480060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7" name="">
            <a:extLst xmlns:a="http://schemas.openxmlformats.org/drawingml/2006/main">
              <a:ext uri="{FF2B5EF4-FFF2-40B4-BE49-F238E27FC236}">
                <a16:creationId xmlns:a16="http://schemas.microsoft.com/office/drawing/2014/main" id="{FFD3393D-CE46-4975-98DA-6447ECC5D673}"/>
              </a:ext>
            </a:extLst>
          </p:cNvPr>
          <p:cNvSpPr>
            <a:spLocks xmlns:a="http://schemas.openxmlformats.org/drawingml/2006/main" noGrp="1"/>
          </p:cNvSpPr>
          <p:nvPr/>
        </p:nvSpPr>
        <p:spPr>
          <a:xfrm xmlns:a="http://schemas.openxmlformats.org/drawingml/2006/main">
            <a:off x="781050" y="48577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賃金・雇用</a:t>
            </a:r>
          </a:p>
        </p:txBody>
      </p:sp>
      <p:sp>
        <p:nvSpPr>
          <p:cNvPr id="38" name="">
            <a:extLst xmlns:a="http://schemas.openxmlformats.org/drawingml/2006/main">
              <a:ext uri="{FF2B5EF4-FFF2-40B4-BE49-F238E27FC236}">
                <a16:creationId xmlns:a16="http://schemas.microsoft.com/office/drawing/2014/main" id="{E8202F7A-2102-4A74-9CE9-41F4471F4B8B}"/>
              </a:ext>
            </a:extLst>
          </p:cNvPr>
          <p:cNvSpPr>
            <a:spLocks xmlns:a="http://schemas.openxmlformats.org/drawingml/2006/main" noGrp="1"/>
          </p:cNvSpPr>
          <p:nvPr/>
        </p:nvSpPr>
        <p:spPr>
          <a:xfrm xmlns:a="http://schemas.openxmlformats.org/drawingml/2006/main">
            <a:off x="4267200" y="480060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9" name="">
            <a:extLst xmlns:a="http://schemas.openxmlformats.org/drawingml/2006/main">
              <a:ext uri="{FF2B5EF4-FFF2-40B4-BE49-F238E27FC236}">
                <a16:creationId xmlns:a16="http://schemas.microsoft.com/office/drawing/2014/main" id="{72506714-CA21-4B21-88E8-C8C7628CCD4E}"/>
              </a:ext>
            </a:extLst>
          </p:cNvPr>
          <p:cNvSpPr>
            <a:spLocks xmlns:a="http://schemas.openxmlformats.org/drawingml/2006/main" noGrp="1"/>
          </p:cNvSpPr>
          <p:nvPr/>
        </p:nvSpPr>
        <p:spPr>
          <a:xfrm xmlns:a="http://schemas.openxmlformats.org/drawingml/2006/main">
            <a:off x="4362450" y="48577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対象者と算定根拠を毎月保存</a:t>
            </a:r>
          </a:p>
        </p:txBody>
      </p:sp>
      <p:sp>
        <p:nvSpPr>
          <p:cNvPr id="40" name="">
            <a:extLst xmlns:a="http://schemas.openxmlformats.org/drawingml/2006/main">
              <a:ext uri="{FF2B5EF4-FFF2-40B4-BE49-F238E27FC236}">
                <a16:creationId xmlns:a16="http://schemas.microsoft.com/office/drawing/2014/main" id="{E07D66EE-885F-4BC5-90FD-8851E58336F4}"/>
              </a:ext>
            </a:extLst>
          </p:cNvPr>
          <p:cNvSpPr>
            <a:spLocks xmlns:a="http://schemas.openxmlformats.org/drawingml/2006/main" noGrp="1"/>
          </p:cNvSpPr>
          <p:nvPr/>
        </p:nvSpPr>
        <p:spPr>
          <a:xfrm xmlns:a="http://schemas.openxmlformats.org/drawingml/2006/main">
            <a:off x="7848600" y="4800600"/>
            <a:ext cx="35814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1" name="">
            <a:extLst xmlns:a="http://schemas.openxmlformats.org/drawingml/2006/main">
              <a:ext uri="{FF2B5EF4-FFF2-40B4-BE49-F238E27FC236}">
                <a16:creationId xmlns:a16="http://schemas.microsoft.com/office/drawing/2014/main" id="{68666C99-699B-402C-B0C7-07D3F8220977}"/>
              </a:ext>
            </a:extLst>
          </p:cNvPr>
          <p:cNvSpPr>
            <a:spLocks xmlns:a="http://schemas.openxmlformats.org/drawingml/2006/main" noGrp="1"/>
          </p:cNvSpPr>
          <p:nvPr/>
        </p:nvSpPr>
        <p:spPr>
          <a:xfrm xmlns:a="http://schemas.openxmlformats.org/drawingml/2006/main">
            <a:off x="7943850" y="48577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賃金台帳、雇用契約書、労働者名簿</a:t>
            </a:r>
          </a:p>
        </p:txBody>
      </p:sp>
    </p:spTree>
    <p:extLst>
      <p:ext uri="{BB962C8B-B14F-4D97-AF65-F5344CB8AC3E}">
        <p14:creationId xmlns:p14="http://schemas.microsoft.com/office/powerpoint/2010/main" val="2118706801"/>
      </p:ext>
    </p:extLst>
  </p:cSld>
</p:sld>
</file>

<file path=ppt/slides/slide1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21AC78C-F747-4AF3-B190-9C4E8C481EF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27EDD94-539B-4934-B89F-61647E73FC1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5BBCB79C-8A22-4053-ACC3-3147F7FC4654}"/>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13</a:t>
            </a:r>
          </a:p>
        </p:txBody>
      </p:sp>
      <p:sp>
        <p:nvSpPr>
          <p:cNvPr id="4" name="">
            <a:extLst xmlns:a="http://schemas.openxmlformats.org/drawingml/2006/main">
              <a:ext uri="{FF2B5EF4-FFF2-40B4-BE49-F238E27FC236}">
                <a16:creationId xmlns:a16="http://schemas.microsoft.com/office/drawing/2014/main" id="{D57E9740-9EF0-4E9B-B0F5-9EC99E845CCF}"/>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15</a:t>
            </a:r>
          </a:p>
        </p:txBody>
      </p:sp>
      <p:sp>
        <p:nvSpPr>
          <p:cNvPr id="5" name="">
            <a:extLst xmlns:a="http://schemas.openxmlformats.org/drawingml/2006/main">
              <a:ext uri="{FF2B5EF4-FFF2-40B4-BE49-F238E27FC236}">
                <a16:creationId xmlns:a16="http://schemas.microsoft.com/office/drawing/2014/main" id="{A2F64CEE-B456-4B4F-8BA8-5C3E37C317B0}"/>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取得財産を処分する前に確認する</a:t>
            </a:r>
          </a:p>
        </p:txBody>
      </p:sp>
      <p:sp>
        <p:nvSpPr>
          <p:cNvPr id="6" name="">
            <a:extLst xmlns:a="http://schemas.openxmlformats.org/drawingml/2006/main">
              <a:ext uri="{FF2B5EF4-FFF2-40B4-BE49-F238E27FC236}">
                <a16:creationId xmlns:a16="http://schemas.microsoft.com/office/drawing/2014/main" id="{F512C194-3941-4A1D-9F8D-9CF3C79E8CEC}"/>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56DE373-5A5D-4309-8400-4096DFDD58EE}"/>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EE85E817-FAFC-4430-8DCE-B382AF6405FC}"/>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1742731-7BBF-4C6A-818D-D8A1E3D38881}"/>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処分制限の対象となる機械、設備、改装等は、一定期間、補助事業の目的に沿って管理する必要があります。</a:t>
            </a:r>
          </a:p>
        </p:txBody>
      </p:sp>
      <p:sp>
        <p:nvSpPr>
          <p:cNvPr id="10" name="">
            <a:extLst xmlns:a="http://schemas.openxmlformats.org/drawingml/2006/main">
              <a:ext uri="{FF2B5EF4-FFF2-40B4-BE49-F238E27FC236}">
                <a16:creationId xmlns:a16="http://schemas.microsoft.com/office/drawing/2014/main" id="{CA1B7645-166F-422D-83CD-88DC210310D5}"/>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8FCE120-BE21-4E5B-9C46-DC78AD568436}"/>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売却、譲渡、廃棄、貸付け、担保設定、別事業への転用、設置場所の大幅な変更などを検討するときは、先に承認の要否を確認します。</a:t>
            </a:r>
          </a:p>
        </p:txBody>
      </p:sp>
      <p:sp>
        <p:nvSpPr>
          <p:cNvPr id="12" name="">
            <a:extLst xmlns:a="http://schemas.openxmlformats.org/drawingml/2006/main">
              <a:ext uri="{FF2B5EF4-FFF2-40B4-BE49-F238E27FC236}">
                <a16:creationId xmlns:a16="http://schemas.microsoft.com/office/drawing/2014/main" id="{EBABD56D-5107-413A-86E0-E27B206695DA}"/>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A0A2C0F-DF41-43B0-A607-CAC6841EE0A7}"/>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壊れたから廃棄する、閉店するから売るという場合でも、自己判断で処分しないでください。</a:t>
            </a:r>
          </a:p>
        </p:txBody>
      </p:sp>
      <p:sp>
        <p:nvSpPr>
          <p:cNvPr id="14" name="">
            <a:extLst xmlns:a="http://schemas.openxmlformats.org/drawingml/2006/main">
              <a:ext uri="{FF2B5EF4-FFF2-40B4-BE49-F238E27FC236}">
                <a16:creationId xmlns:a16="http://schemas.microsoft.com/office/drawing/2014/main" id="{07483CE5-6856-426D-A849-A7D036D21B3A}"/>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8FAB231-DB8C-42E1-BCD9-09613326B4CB}"/>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財産管理台帳には、財産名、規格、取得日、取得価格、保管場所、管理責任者、現況を記録します。</a:t>
            </a:r>
          </a:p>
        </p:txBody>
      </p:sp>
      <p:sp>
        <p:nvSpPr>
          <p:cNvPr id="16" name="">
            <a:extLst xmlns:a="http://schemas.openxmlformats.org/drawingml/2006/main">
              <a:ext uri="{FF2B5EF4-FFF2-40B4-BE49-F238E27FC236}">
                <a16:creationId xmlns:a16="http://schemas.microsoft.com/office/drawing/2014/main" id="{76A059C9-514D-46DE-A4B2-C068D0C60EB0}"/>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D49ED56-BB7F-4974-9D2A-3894E332EB05}"/>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定期的に現物を確認し、採択回表示が外れていないか、補助事業で使用されているか、移動・故障・修理がないかを記録します。</a:t>
            </a:r>
          </a:p>
        </p:txBody>
      </p:sp>
      <p:sp>
        <p:nvSpPr>
          <p:cNvPr id="18" name="">
            <a:extLst xmlns:a="http://schemas.openxmlformats.org/drawingml/2006/main">
              <a:ext uri="{FF2B5EF4-FFF2-40B4-BE49-F238E27FC236}">
                <a16:creationId xmlns:a16="http://schemas.microsoft.com/office/drawing/2014/main" id="{D3EE83F1-E513-42F5-97C8-88B0652E1E05}"/>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2996C9F-BF81-4122-B4F3-389135420A1C}"/>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写真を毎年残しておくと、継続使用の説明がしやすくなります。</a:t>
            </a:r>
          </a:p>
        </p:txBody>
      </p:sp>
      <p:sp>
        <p:nvSpPr>
          <p:cNvPr id="20" name="">
            <a:extLst xmlns:a="http://schemas.openxmlformats.org/drawingml/2006/main">
              <a:ext uri="{FF2B5EF4-FFF2-40B4-BE49-F238E27FC236}">
                <a16:creationId xmlns:a16="http://schemas.microsoft.com/office/drawing/2014/main" id="{D004A55E-2AC8-45E6-A0BF-CE6EF449C0C6}"/>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477258165"/>
      </p:ext>
    </p:extLst>
  </p:cSld>
</p:sld>
</file>

<file path=ppt/slides/slide16.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E40CB6-45B6-476D-A860-BE2A0007E01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838310-FC73-46E2-BD35-E308A93843D9}"/>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F309CFC2-0F66-4A62-8A81-A3B5793D2444}"/>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14</a:t>
            </a:r>
          </a:p>
        </p:txBody>
      </p:sp>
      <p:sp>
        <p:nvSpPr>
          <p:cNvPr id="4" name="">
            <a:extLst xmlns:a="http://schemas.openxmlformats.org/drawingml/2006/main">
              <a:ext uri="{FF2B5EF4-FFF2-40B4-BE49-F238E27FC236}">
                <a16:creationId xmlns:a16="http://schemas.microsoft.com/office/drawing/2014/main" id="{4983A322-894B-436B-9A9D-856A2AE4E198}"/>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16</a:t>
            </a:r>
          </a:p>
        </p:txBody>
      </p:sp>
      <p:sp>
        <p:nvSpPr>
          <p:cNvPr id="5" name="">
            <a:extLst xmlns:a="http://schemas.openxmlformats.org/drawingml/2006/main">
              <a:ext uri="{FF2B5EF4-FFF2-40B4-BE49-F238E27FC236}">
                <a16:creationId xmlns:a16="http://schemas.microsoft.com/office/drawing/2014/main" id="{2AAD1773-FBAC-44BC-AC04-B3FD61398552}"/>
              </a:ext>
            </a:extLst>
          </p:cNvPr>
          <p:cNvSpPr>
            <a:spLocks xmlns:a="http://schemas.openxmlformats.org/drawingml/2006/main" noGrp="1"/>
          </p:cNvSpPr>
          <p:nvPr/>
        </p:nvSpPr>
        <p:spPr>
          <a:xfrm xmlns:a="http://schemas.openxmlformats.org/drawingml/2006/main">
            <a:off x="8191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7791F"/>
                </a:solidFill>
              </a:defRPr>
            </a:pPr>
            <a:r>
              <a:rPr sz="1350" b="1">
                <a:solidFill>
                  <a:srgbClr val="B7791F"/>
                </a:solidFill>
              </a:rPr>
              <a:t>CHAPTER 14</a:t>
            </a:r>
          </a:p>
        </p:txBody>
      </p:sp>
      <p:sp>
        <p:nvSpPr>
          <p:cNvPr id="6" name="">
            <a:extLst xmlns:a="http://schemas.openxmlformats.org/drawingml/2006/main">
              <a:ext uri="{FF2B5EF4-FFF2-40B4-BE49-F238E27FC236}">
                <a16:creationId xmlns:a16="http://schemas.microsoft.com/office/drawing/2014/main" id="{46965612-8109-4CEE-8346-298CBCCBF6D0}"/>
              </a:ext>
            </a:extLst>
          </p:cNvPr>
          <p:cNvSpPr>
            <a:spLocks xmlns:a="http://schemas.openxmlformats.org/drawingml/2006/main" noGrp="1"/>
          </p:cNvSpPr>
          <p:nvPr/>
        </p:nvSpPr>
        <p:spPr>
          <a:xfrm xmlns:a="http://schemas.openxmlformats.org/drawingml/2006/main">
            <a:off x="800100" y="20764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72F"/>
                </a:solidFill>
              </a:defRPr>
            </a:pPr>
            <a:r>
              <a:rPr sz="3600" b="1">
                <a:solidFill>
                  <a:srgbClr val="17372F"/>
                </a:solidFill>
              </a:rPr>
              <a:t>よくある質問</a:t>
            </a:r>
          </a:p>
        </p:txBody>
      </p:sp>
      <p:sp>
        <p:nvSpPr>
          <p:cNvPr id="7" name="">
            <a:extLst xmlns:a="http://schemas.openxmlformats.org/drawingml/2006/main">
              <a:ext uri="{FF2B5EF4-FFF2-40B4-BE49-F238E27FC236}">
                <a16:creationId xmlns:a16="http://schemas.microsoft.com/office/drawing/2014/main" id="{CB36E0A8-8385-4DDD-89CC-B69878178A48}"/>
              </a:ext>
            </a:extLst>
          </p:cNvPr>
          <p:cNvSpPr>
            <a:spLocks xmlns:a="http://schemas.openxmlformats.org/drawingml/2006/main" noGrp="1"/>
          </p:cNvSpPr>
          <p:nvPr/>
        </p:nvSpPr>
        <p:spPr>
          <a:xfrm xmlns:a="http://schemas.openxmlformats.org/drawingml/2006/main">
            <a:off x="819150" y="4114800"/>
            <a:ext cx="2381250" cy="76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9E41A87-7A45-4FDC-B3D8-8B934C529118}"/>
              </a:ext>
            </a:extLst>
          </p:cNvPr>
          <p:cNvSpPr>
            <a:spLocks xmlns:a="http://schemas.openxmlformats.org/drawingml/2006/main" noGrp="1"/>
          </p:cNvSpPr>
          <p:nvPr/>
        </p:nvSpPr>
        <p:spPr>
          <a:xfrm xmlns:a="http://schemas.openxmlformats.org/drawingml/2006/main">
            <a:off x="819150" y="4552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964"/>
                </a:solidFill>
              </a:defRPr>
            </a:pPr>
            <a:r>
              <a:rPr sz="1650" b="0">
                <a:solidFill>
                  <a:srgbClr val="5D6964"/>
                </a:solidFill>
              </a:rPr>
              <a:t>必要な資料と判断基準を、実務の順番で確認します。</a:t>
            </a:r>
          </a:p>
        </p:txBody>
      </p:sp>
    </p:spTree>
    <p:extLst>
      <p:ext uri="{BB962C8B-B14F-4D97-AF65-F5344CB8AC3E}">
        <p14:creationId xmlns:p14="http://schemas.microsoft.com/office/powerpoint/2010/main" val="2018993595"/>
      </p:ext>
    </p:extLst>
  </p:cSld>
</p:sld>
</file>

<file path=ppt/slides/slide1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A2C1C9-56B3-4B5B-A06E-12D5392C9AC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72EC729-13AF-49D7-B5D1-EC9CBDDC4E1B}"/>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7547F642-4EBC-4A58-8D04-0F7E7FA86766}"/>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14</a:t>
            </a:r>
          </a:p>
        </p:txBody>
      </p:sp>
      <p:sp>
        <p:nvSpPr>
          <p:cNvPr id="4" name="">
            <a:extLst xmlns:a="http://schemas.openxmlformats.org/drawingml/2006/main">
              <a:ext uri="{FF2B5EF4-FFF2-40B4-BE49-F238E27FC236}">
                <a16:creationId xmlns:a16="http://schemas.microsoft.com/office/drawing/2014/main" id="{8E512615-6A49-48C0-9D6E-2AF121F28927}"/>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17</a:t>
            </a:r>
          </a:p>
        </p:txBody>
      </p:sp>
      <p:sp>
        <p:nvSpPr>
          <p:cNvPr id="5" name="">
            <a:extLst xmlns:a="http://schemas.openxmlformats.org/drawingml/2006/main">
              <a:ext uri="{FF2B5EF4-FFF2-40B4-BE49-F238E27FC236}">
                <a16:creationId xmlns:a16="http://schemas.microsoft.com/office/drawing/2014/main" id="{6B6BF1A1-5CC3-4058-A8EE-E0CBC8DE6E76}"/>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領収書があれば、ほかの書類はいりませんか。</a:t>
            </a:r>
          </a:p>
        </p:txBody>
      </p:sp>
      <p:sp>
        <p:nvSpPr>
          <p:cNvPr id="6" name="">
            <a:extLst xmlns:a="http://schemas.openxmlformats.org/drawingml/2006/main">
              <a:ext uri="{FF2B5EF4-FFF2-40B4-BE49-F238E27FC236}">
                <a16:creationId xmlns:a16="http://schemas.microsoft.com/office/drawing/2014/main" id="{EDD4ED02-DBE4-44E9-9C29-F7F9790A28B7}"/>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D3F7BA2-51AE-45E2-942A-DC95D79A20D4}"/>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E14A8E1B-2441-4A09-8141-39133BB6870A}"/>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DF20693-5114-4C77-9EB5-4F5876991C15}"/>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原則として足りません。</a:t>
            </a:r>
          </a:p>
        </p:txBody>
      </p:sp>
      <p:sp>
        <p:nvSpPr>
          <p:cNvPr id="10" name="">
            <a:extLst xmlns:a="http://schemas.openxmlformats.org/drawingml/2006/main">
              <a:ext uri="{FF2B5EF4-FFF2-40B4-BE49-F238E27FC236}">
                <a16:creationId xmlns:a16="http://schemas.microsoft.com/office/drawing/2014/main" id="{97FB290D-E390-4429-80C8-FB7679B5A90E}"/>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E89B898-6384-445C-B43D-11857AE98A93}"/>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領収書は支払いの一部を証明しますが、発注日、注文内容、納品・完了を説明できません。</a:t>
            </a:r>
          </a:p>
        </p:txBody>
      </p:sp>
      <p:sp>
        <p:nvSpPr>
          <p:cNvPr id="12" name="">
            <a:extLst xmlns:a="http://schemas.openxmlformats.org/drawingml/2006/main">
              <a:ext uri="{FF2B5EF4-FFF2-40B4-BE49-F238E27FC236}">
                <a16:creationId xmlns:a16="http://schemas.microsoft.com/office/drawing/2014/main" id="{C12FCE0A-DDBB-4C9E-BA1D-9B0986CFD6A8}"/>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53B9ED2-0112-4B4E-AFA4-EE24D9B19E9E}"/>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見積書、発注・契約資料、納品・完了資料、請求書、支払資料、成果物等を取引の流れに沿ってそろえます。</a:t>
            </a:r>
          </a:p>
        </p:txBody>
      </p:sp>
      <p:sp>
        <p:nvSpPr>
          <p:cNvPr id="14" name="">
            <a:extLst xmlns:a="http://schemas.openxmlformats.org/drawingml/2006/main">
              <a:ext uri="{FF2B5EF4-FFF2-40B4-BE49-F238E27FC236}">
                <a16:creationId xmlns:a16="http://schemas.microsoft.com/office/drawing/2014/main" id="{E57C4468-C61D-48FF-9D4E-89478075991A}"/>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773962268"/>
      </p:ext>
    </p:extLst>
  </p:cSld>
</p:sld>
</file>

<file path=ppt/slides/slide18.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012F5B9-1024-46C6-AD5A-9E9DF7CCF1C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CB9069-3D9B-413A-89DF-F501B62934B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EA9077B4-2DCD-429E-9EB0-902A5D783DAC}"/>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14</a:t>
            </a:r>
          </a:p>
        </p:txBody>
      </p:sp>
      <p:sp>
        <p:nvSpPr>
          <p:cNvPr id="4" name="">
            <a:extLst xmlns:a="http://schemas.openxmlformats.org/drawingml/2006/main">
              <a:ext uri="{FF2B5EF4-FFF2-40B4-BE49-F238E27FC236}">
                <a16:creationId xmlns:a16="http://schemas.microsoft.com/office/drawing/2014/main" id="{7F15DB6B-FB14-46A8-9068-DDD2762EB493}"/>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18</a:t>
            </a:r>
          </a:p>
        </p:txBody>
      </p:sp>
      <p:sp>
        <p:nvSpPr>
          <p:cNvPr id="5" name="">
            <a:extLst xmlns:a="http://schemas.openxmlformats.org/drawingml/2006/main">
              <a:ext uri="{FF2B5EF4-FFF2-40B4-BE49-F238E27FC236}">
                <a16:creationId xmlns:a16="http://schemas.microsoft.com/office/drawing/2014/main" id="{D5A52440-AFB7-4353-AECA-F777F61A3943}"/>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見積書と請求書の金額が違います。</a:t>
            </a:r>
          </a:p>
        </p:txBody>
      </p:sp>
      <p:sp>
        <p:nvSpPr>
          <p:cNvPr id="6" name="">
            <a:extLst xmlns:a="http://schemas.openxmlformats.org/drawingml/2006/main">
              <a:ext uri="{FF2B5EF4-FFF2-40B4-BE49-F238E27FC236}">
                <a16:creationId xmlns:a16="http://schemas.microsoft.com/office/drawing/2014/main" id="{E1083759-F808-4B21-9EDF-4E12E7236468}"/>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D425FE6-AE74-4AB9-9A6F-C3D622CBF353}"/>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2C5B5641-ECCF-4651-96E9-646E9CD8BFD5}"/>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FFDC9C4-25DF-4DE8-B81B-78ABA8DC5A32}"/>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変更理由を説明できる資料が必要です。</a:t>
            </a:r>
          </a:p>
        </p:txBody>
      </p:sp>
      <p:sp>
        <p:nvSpPr>
          <p:cNvPr id="10" name="">
            <a:extLst xmlns:a="http://schemas.openxmlformats.org/drawingml/2006/main">
              <a:ext uri="{FF2B5EF4-FFF2-40B4-BE49-F238E27FC236}">
                <a16:creationId xmlns:a16="http://schemas.microsoft.com/office/drawing/2014/main" id="{14C4C7E8-6D3F-4412-9FD8-2EE418FC01FA}"/>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AF718AD-51AF-4389-8022-ED6B93C01BA9}"/>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数量変更、仕様変更、値引き、追加作業などの事実に応じ、変更見積書、変更契約書、メール、内訳表を用意します。</a:t>
            </a:r>
          </a:p>
        </p:txBody>
      </p:sp>
      <p:sp>
        <p:nvSpPr>
          <p:cNvPr id="12" name="">
            <a:extLst xmlns:a="http://schemas.openxmlformats.org/drawingml/2006/main">
              <a:ext uri="{FF2B5EF4-FFF2-40B4-BE49-F238E27FC236}">
                <a16:creationId xmlns:a16="http://schemas.microsoft.com/office/drawing/2014/main" id="{9C8D0DBC-B618-47C6-BA39-203EEF179ADC}"/>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212F30B-6269-43E1-9539-5530778AF4BE}"/>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変更内容が交付決定された計画の範囲内かも確認してください。</a:t>
            </a:r>
          </a:p>
        </p:txBody>
      </p:sp>
      <p:sp>
        <p:nvSpPr>
          <p:cNvPr id="14" name="">
            <a:extLst xmlns:a="http://schemas.openxmlformats.org/drawingml/2006/main">
              <a:ext uri="{FF2B5EF4-FFF2-40B4-BE49-F238E27FC236}">
                <a16:creationId xmlns:a16="http://schemas.microsoft.com/office/drawing/2014/main" id="{BF0F97F1-FBC6-4244-B7CE-7442A70A9C8B}"/>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260012209"/>
      </p:ext>
    </p:extLst>
  </p:cSld>
</p:sld>
</file>

<file path=ppt/slides/slide19.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DAF490F-05FE-423C-ABBE-F4CEC78957C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01802E-B5BE-446C-B9EB-5687907C6018}"/>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089E3D03-04E3-4A72-9C11-FAA4C046C12B}"/>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14</a:t>
            </a:r>
          </a:p>
        </p:txBody>
      </p:sp>
      <p:sp>
        <p:nvSpPr>
          <p:cNvPr id="4" name="">
            <a:extLst xmlns:a="http://schemas.openxmlformats.org/drawingml/2006/main">
              <a:ext uri="{FF2B5EF4-FFF2-40B4-BE49-F238E27FC236}">
                <a16:creationId xmlns:a16="http://schemas.microsoft.com/office/drawing/2014/main" id="{F4EF9277-E89D-42E8-9EFE-12FC84021467}"/>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19</a:t>
            </a:r>
          </a:p>
        </p:txBody>
      </p:sp>
      <p:sp>
        <p:nvSpPr>
          <p:cNvPr id="5" name="">
            <a:extLst xmlns:a="http://schemas.openxmlformats.org/drawingml/2006/main">
              <a:ext uri="{FF2B5EF4-FFF2-40B4-BE49-F238E27FC236}">
                <a16:creationId xmlns:a16="http://schemas.microsoft.com/office/drawing/2014/main" id="{6C20C61B-7C01-4595-8220-26FF3D53703A}"/>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インターネット通販で発注書や納品書がありません。</a:t>
            </a:r>
          </a:p>
        </p:txBody>
      </p:sp>
      <p:sp>
        <p:nvSpPr>
          <p:cNvPr id="6" name="">
            <a:extLst xmlns:a="http://schemas.openxmlformats.org/drawingml/2006/main">
              <a:ext uri="{FF2B5EF4-FFF2-40B4-BE49-F238E27FC236}">
                <a16:creationId xmlns:a16="http://schemas.microsoft.com/office/drawing/2014/main" id="{6F62B3AD-9CA8-48E0-8424-DB48D778FD64}"/>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30B404A-FEB1-48CB-9CC5-41E407320F7D}"/>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EFE5EB5E-AE19-43AD-8691-94852634614E}"/>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F02CA64-09E6-4E3F-B587-DAECF7F15B34}"/>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注文確定画面、注文履歴、確認メール、出荷メール、配送完了画面、購入明細を保存します。</a:t>
            </a:r>
          </a:p>
        </p:txBody>
      </p:sp>
      <p:sp>
        <p:nvSpPr>
          <p:cNvPr id="10" name="">
            <a:extLst xmlns:a="http://schemas.openxmlformats.org/drawingml/2006/main">
              <a:ext uri="{FF2B5EF4-FFF2-40B4-BE49-F238E27FC236}">
                <a16:creationId xmlns:a16="http://schemas.microsoft.com/office/drawing/2014/main" id="{9E04DB7F-E9A8-484E-824F-614325201A37}"/>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5EEF3E3-6B65-4212-9013-BCB33C014B6B}"/>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注文日、商品名、数量、金額、販売者、納品日が確認できる資料を組み合わせます。</a:t>
            </a:r>
          </a:p>
        </p:txBody>
      </p:sp>
      <p:sp>
        <p:nvSpPr>
          <p:cNvPr id="12" name="">
            <a:extLst xmlns:a="http://schemas.openxmlformats.org/drawingml/2006/main">
              <a:ext uri="{FF2B5EF4-FFF2-40B4-BE49-F238E27FC236}">
                <a16:creationId xmlns:a16="http://schemas.microsoft.com/office/drawing/2014/main" id="{55000904-ACC9-4D41-94B7-A50D2FEBE3A6}"/>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986DFC8-2100-4E49-ADC5-52F1DFC4B5F5}"/>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取引後に画面が消えることがあるため、購入時点でPDF保存やスクリーンショットを行うことが重要です。</a:t>
            </a:r>
          </a:p>
        </p:txBody>
      </p:sp>
      <p:sp>
        <p:nvSpPr>
          <p:cNvPr id="14" name="">
            <a:extLst xmlns:a="http://schemas.openxmlformats.org/drawingml/2006/main">
              <a:ext uri="{FF2B5EF4-FFF2-40B4-BE49-F238E27FC236}">
                <a16:creationId xmlns:a16="http://schemas.microsoft.com/office/drawing/2014/main" id="{3A99E11E-1429-4F5D-A518-3F1BFF5BC526}"/>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657599366"/>
      </p:ext>
    </p:extLst>
  </p:cSld>
</p:sld>
</file>

<file path=ppt/slides/slide20.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4852919-BE45-4D38-AEA5-0E1D93562D0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1782065-73B0-4986-970B-5CBD4859C909}"/>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5119323C-AF35-45BC-9419-1D6844F03BC5}"/>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14</a:t>
            </a:r>
          </a:p>
        </p:txBody>
      </p:sp>
      <p:sp>
        <p:nvSpPr>
          <p:cNvPr id="4" name="">
            <a:extLst xmlns:a="http://schemas.openxmlformats.org/drawingml/2006/main">
              <a:ext uri="{FF2B5EF4-FFF2-40B4-BE49-F238E27FC236}">
                <a16:creationId xmlns:a16="http://schemas.microsoft.com/office/drawing/2014/main" id="{3D1C3C52-6E56-46D2-90DB-FBFBBB54A54C}"/>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20</a:t>
            </a:r>
          </a:p>
        </p:txBody>
      </p:sp>
      <p:sp>
        <p:nvSpPr>
          <p:cNvPr id="5" name="">
            <a:extLst xmlns:a="http://schemas.openxmlformats.org/drawingml/2006/main">
              <a:ext uri="{FF2B5EF4-FFF2-40B4-BE49-F238E27FC236}">
                <a16:creationId xmlns:a16="http://schemas.microsoft.com/office/drawing/2014/main" id="{85C0D5BF-5C15-45A3-B15D-255C65AB7B14}"/>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交付決定前に注文してしまいました。</a:t>
            </a:r>
          </a:p>
        </p:txBody>
      </p:sp>
      <p:sp>
        <p:nvSpPr>
          <p:cNvPr id="6" name="">
            <a:extLst xmlns:a="http://schemas.openxmlformats.org/drawingml/2006/main">
              <a:ext uri="{FF2B5EF4-FFF2-40B4-BE49-F238E27FC236}">
                <a16:creationId xmlns:a16="http://schemas.microsoft.com/office/drawing/2014/main" id="{92901D18-31FC-45B7-9E2A-B461DB4A9AC5}"/>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D0B3831-9FC8-4034-B7F1-6E1D92D295D3}"/>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11F85E47-B540-4C4A-B852-B670978FBE09}"/>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0C31866-A1E8-462B-A0D1-2285C9FC0E7C}"/>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原則として補助対象外です。</a:t>
            </a:r>
          </a:p>
        </p:txBody>
      </p:sp>
      <p:sp>
        <p:nvSpPr>
          <p:cNvPr id="10" name="">
            <a:extLst xmlns:a="http://schemas.openxmlformats.org/drawingml/2006/main">
              <a:ext uri="{FF2B5EF4-FFF2-40B4-BE49-F238E27FC236}">
                <a16:creationId xmlns:a16="http://schemas.microsoft.com/office/drawing/2014/main" id="{E0DFC997-4E7B-42AC-8743-0FFEE11C4FAA}"/>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C9CDEA2-F569-4E9B-847A-E64817EAA382}"/>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実際の日付を変更することはできません。</a:t>
            </a:r>
          </a:p>
        </p:txBody>
      </p:sp>
      <p:sp>
        <p:nvSpPr>
          <p:cNvPr id="12" name="">
            <a:extLst xmlns:a="http://schemas.openxmlformats.org/drawingml/2006/main">
              <a:ext uri="{FF2B5EF4-FFF2-40B4-BE49-F238E27FC236}">
                <a16:creationId xmlns:a16="http://schemas.microsoft.com/office/drawing/2014/main" id="{5E5676E8-298B-4329-94E2-2AF71629D262}"/>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A225CD5-58BF-4369-820E-3C21D8232C7D}"/>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例外が明記された手続き以外は、当該経費を補助対象から外す方向で整理し、必要に応じて事務局または専門家へ確認してください。</a:t>
            </a:r>
          </a:p>
        </p:txBody>
      </p:sp>
      <p:sp>
        <p:nvSpPr>
          <p:cNvPr id="14" name="">
            <a:extLst xmlns:a="http://schemas.openxmlformats.org/drawingml/2006/main">
              <a:ext uri="{FF2B5EF4-FFF2-40B4-BE49-F238E27FC236}">
                <a16:creationId xmlns:a16="http://schemas.microsoft.com/office/drawing/2014/main" id="{CA7A46C7-6FEF-4B86-9901-BF18218DED1C}"/>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394122229"/>
      </p:ext>
    </p:extLst>
  </p:cSld>
</p:sld>
</file>

<file path=ppt/slides/slide2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2771E6-D3C5-492A-8593-D4EBD165813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1BD19F-DBFE-4408-9918-6B1E1B4BBE69}"/>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2D1670FA-F1B2-4994-8097-14E8FD44B889}"/>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14</a:t>
            </a:r>
          </a:p>
        </p:txBody>
      </p:sp>
      <p:sp>
        <p:nvSpPr>
          <p:cNvPr id="4" name="">
            <a:extLst xmlns:a="http://schemas.openxmlformats.org/drawingml/2006/main">
              <a:ext uri="{FF2B5EF4-FFF2-40B4-BE49-F238E27FC236}">
                <a16:creationId xmlns:a16="http://schemas.microsoft.com/office/drawing/2014/main" id="{921156BC-264B-422E-8477-1BC04AB54B33}"/>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21</a:t>
            </a:r>
          </a:p>
        </p:txBody>
      </p:sp>
      <p:sp>
        <p:nvSpPr>
          <p:cNvPr id="5" name="">
            <a:extLst xmlns:a="http://schemas.openxmlformats.org/drawingml/2006/main">
              <a:ext uri="{FF2B5EF4-FFF2-40B4-BE49-F238E27FC236}">
                <a16:creationId xmlns:a16="http://schemas.microsoft.com/office/drawing/2014/main" id="{8EAAC0EC-0B3E-4627-833D-D72A13256FBD}"/>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事業終了日までにカード代金が引き落とされません。</a:t>
            </a:r>
          </a:p>
        </p:txBody>
      </p:sp>
      <p:sp>
        <p:nvSpPr>
          <p:cNvPr id="6" name="">
            <a:extLst xmlns:a="http://schemas.openxmlformats.org/drawingml/2006/main">
              <a:ext uri="{FF2B5EF4-FFF2-40B4-BE49-F238E27FC236}">
                <a16:creationId xmlns:a16="http://schemas.microsoft.com/office/drawing/2014/main" id="{3531B6D5-1DEA-4DCB-BFDD-A368BA224DA1}"/>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D457F91-A248-4F87-8126-67F11C90C118}"/>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A79EB679-D395-4155-8E58-13D79B725581}"/>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1E39C8D-395D-4BC1-BC32-4008381867D8}"/>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カード利用日だけでなく、口座引落日まで補助事業期間内であることが求められます。</a:t>
            </a:r>
          </a:p>
        </p:txBody>
      </p:sp>
      <p:sp>
        <p:nvSpPr>
          <p:cNvPr id="10" name="">
            <a:extLst xmlns:a="http://schemas.openxmlformats.org/drawingml/2006/main">
              <a:ext uri="{FF2B5EF4-FFF2-40B4-BE49-F238E27FC236}">
                <a16:creationId xmlns:a16="http://schemas.microsoft.com/office/drawing/2014/main" id="{4F97E69E-D85A-4F8D-A375-AD23665C0508}"/>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E14BCF5-6655-4998-8A2D-A2F5979035DD}"/>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引落日が期間外の場合、対象外となる可能性が高いため、事実に沿って申告し、採択回の手引きで確認してください。</a:t>
            </a:r>
          </a:p>
        </p:txBody>
      </p:sp>
      <p:sp>
        <p:nvSpPr>
          <p:cNvPr id="12" name="">
            <a:extLst xmlns:a="http://schemas.openxmlformats.org/drawingml/2006/main">
              <a:ext uri="{FF2B5EF4-FFF2-40B4-BE49-F238E27FC236}">
                <a16:creationId xmlns:a16="http://schemas.microsoft.com/office/drawing/2014/main" id="{0E0D5A47-7A4C-4E87-85BA-B35A6E3A0DB9}"/>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577897135"/>
      </p:ext>
    </p:extLst>
  </p:cSld>
</p:sld>
</file>

<file path=ppt/slides/slide2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4EAACA-DB3B-4522-8ACF-1438CCF8809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59287E-0F6B-4D8B-B2AE-0E263783F8E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1272719E-320E-4AC2-8583-CAC782BA7E8E}"/>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14</a:t>
            </a:r>
          </a:p>
        </p:txBody>
      </p:sp>
      <p:sp>
        <p:nvSpPr>
          <p:cNvPr id="4" name="">
            <a:extLst xmlns:a="http://schemas.openxmlformats.org/drawingml/2006/main">
              <a:ext uri="{FF2B5EF4-FFF2-40B4-BE49-F238E27FC236}">
                <a16:creationId xmlns:a16="http://schemas.microsoft.com/office/drawing/2014/main" id="{F8B241E3-A4A6-4386-BE49-C0F29B4AA6B2}"/>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22</a:t>
            </a:r>
          </a:p>
        </p:txBody>
      </p:sp>
      <p:sp>
        <p:nvSpPr>
          <p:cNvPr id="5" name="">
            <a:extLst xmlns:a="http://schemas.openxmlformats.org/drawingml/2006/main">
              <a:ext uri="{FF2B5EF4-FFF2-40B4-BE49-F238E27FC236}">
                <a16:creationId xmlns:a16="http://schemas.microsoft.com/office/drawing/2014/main" id="{E3CDD861-92C0-43A3-AE54-0C6CE41F665B}"/>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チラシは納品されましたが、まだ配っていません。</a:t>
            </a:r>
          </a:p>
        </p:txBody>
      </p:sp>
      <p:sp>
        <p:nvSpPr>
          <p:cNvPr id="6" name="">
            <a:extLst xmlns:a="http://schemas.openxmlformats.org/drawingml/2006/main">
              <a:ext uri="{FF2B5EF4-FFF2-40B4-BE49-F238E27FC236}">
                <a16:creationId xmlns:a16="http://schemas.microsoft.com/office/drawing/2014/main" id="{F67F02E5-5320-4400-8DF0-763E39C43DB7}"/>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D2A1FDE-C333-4D64-A65B-EC54E1B3D1D7}"/>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1C7CE98A-E16C-4D01-AB3A-DECE2580A05A}"/>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7323EAD-C8BA-4FD1-B199-7C7EBEB4047F}"/>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印刷しただけでは、販路開拓の取組が完了していないと判断される可能性があります。</a:t>
            </a:r>
          </a:p>
        </p:txBody>
      </p:sp>
      <p:sp>
        <p:nvSpPr>
          <p:cNvPr id="10" name="">
            <a:extLst xmlns:a="http://schemas.openxmlformats.org/drawingml/2006/main">
              <a:ext uri="{FF2B5EF4-FFF2-40B4-BE49-F238E27FC236}">
                <a16:creationId xmlns:a16="http://schemas.microsoft.com/office/drawing/2014/main" id="{22896B29-D137-45D1-92EE-D806C9FD3E01}"/>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7305212-ABB1-4F15-A1B5-CF031ECEAABC}"/>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補助事業期間内に計画した配布を行い、配布日、配布数、配布先、委託先の完了報告等を残してください。</a:t>
            </a:r>
          </a:p>
        </p:txBody>
      </p:sp>
      <p:sp>
        <p:nvSpPr>
          <p:cNvPr id="12" name="">
            <a:extLst xmlns:a="http://schemas.openxmlformats.org/drawingml/2006/main">
              <a:ext uri="{FF2B5EF4-FFF2-40B4-BE49-F238E27FC236}">
                <a16:creationId xmlns:a16="http://schemas.microsoft.com/office/drawing/2014/main" id="{78AC2FB2-81CB-4443-9FF0-46EC4AFBD08A}"/>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508100313"/>
      </p:ext>
    </p:extLst>
  </p:cSld>
</p:sld>
</file>

<file path=ppt/slides/slide2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6B73E5D-24A7-4897-9584-0C48D72D38E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2EB6A0-FEEE-4A40-B15A-31A8AFE9072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ED658B84-7755-44F9-8273-DA214DD76CDE}"/>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14</a:t>
            </a:r>
          </a:p>
        </p:txBody>
      </p:sp>
      <p:sp>
        <p:nvSpPr>
          <p:cNvPr id="4" name="">
            <a:extLst xmlns:a="http://schemas.openxmlformats.org/drawingml/2006/main">
              <a:ext uri="{FF2B5EF4-FFF2-40B4-BE49-F238E27FC236}">
                <a16:creationId xmlns:a16="http://schemas.microsoft.com/office/drawing/2014/main" id="{8843E5F5-A76A-4EF5-9A80-D400C1610E7D}"/>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23</a:t>
            </a:r>
          </a:p>
        </p:txBody>
      </p:sp>
      <p:sp>
        <p:nvSpPr>
          <p:cNvPr id="5" name="">
            <a:extLst xmlns:a="http://schemas.openxmlformats.org/drawingml/2006/main">
              <a:ext uri="{FF2B5EF4-FFF2-40B4-BE49-F238E27FC236}">
                <a16:creationId xmlns:a16="http://schemas.microsoft.com/office/drawing/2014/main" id="{B45B5BE5-B07C-4373-B942-46B1A10BAB24}"/>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ウェブサイトを作りましたが、検索しても出てきません。</a:t>
            </a:r>
          </a:p>
        </p:txBody>
      </p:sp>
      <p:sp>
        <p:nvSpPr>
          <p:cNvPr id="6" name="">
            <a:extLst xmlns:a="http://schemas.openxmlformats.org/drawingml/2006/main">
              <a:ext uri="{FF2B5EF4-FFF2-40B4-BE49-F238E27FC236}">
                <a16:creationId xmlns:a16="http://schemas.microsoft.com/office/drawing/2014/main" id="{D82FD8EC-E267-4F87-A071-A2122872BCBD}"/>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8FC6973-5CF3-478B-AF0C-81E0302A75BE}"/>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C6BE0034-580C-478F-A44D-41002C7699A0}"/>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4B6BF75-4555-424C-98D7-535777E342A3}"/>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検索順位そのものより、期間内に公開され、誰でもURLへアクセスでき、補助事業で対象とした商品・サービスや取組が確認できることが重要です。</a:t>
            </a:r>
          </a:p>
        </p:txBody>
      </p:sp>
      <p:sp>
        <p:nvSpPr>
          <p:cNvPr id="10" name="">
            <a:extLst xmlns:a="http://schemas.openxmlformats.org/drawingml/2006/main">
              <a:ext uri="{FF2B5EF4-FFF2-40B4-BE49-F238E27FC236}">
                <a16:creationId xmlns:a16="http://schemas.microsoft.com/office/drawing/2014/main" id="{2732E088-D75A-4C46-891E-0F1CCB423426}"/>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6820EAD-A897-45F3-976B-509C07FE9925}"/>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URL、公開画面、公開日、制作範囲、必要に応じて管理画面やアクセス記録を提出します。</a:t>
            </a:r>
          </a:p>
        </p:txBody>
      </p:sp>
      <p:sp>
        <p:nvSpPr>
          <p:cNvPr id="12" name="">
            <a:extLst xmlns:a="http://schemas.openxmlformats.org/drawingml/2006/main">
              <a:ext uri="{FF2B5EF4-FFF2-40B4-BE49-F238E27FC236}">
                <a16:creationId xmlns:a16="http://schemas.microsoft.com/office/drawing/2014/main" id="{373EA096-EA98-4B91-B565-77B69FE964BB}"/>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068202375"/>
      </p:ext>
    </p:extLst>
  </p:cSld>
</p:sld>
</file>

<file path=ppt/slides/slide2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958302-AABC-47B0-8D12-CEE57CED4C6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07E865-5320-44FF-887A-41A5EC7B6205}"/>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5109EC61-7F10-4EEA-A502-5F1A5EBAB7BF}"/>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14</a:t>
            </a:r>
          </a:p>
        </p:txBody>
      </p:sp>
      <p:sp>
        <p:nvSpPr>
          <p:cNvPr id="4" name="">
            <a:extLst xmlns:a="http://schemas.openxmlformats.org/drawingml/2006/main">
              <a:ext uri="{FF2B5EF4-FFF2-40B4-BE49-F238E27FC236}">
                <a16:creationId xmlns:a16="http://schemas.microsoft.com/office/drawing/2014/main" id="{B3BA92DC-44F3-4071-8E30-00D92367AD39}"/>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24</a:t>
            </a:r>
          </a:p>
        </p:txBody>
      </p:sp>
      <p:sp>
        <p:nvSpPr>
          <p:cNvPr id="5" name="">
            <a:extLst xmlns:a="http://schemas.openxmlformats.org/drawingml/2006/main">
              <a:ext uri="{FF2B5EF4-FFF2-40B4-BE49-F238E27FC236}">
                <a16:creationId xmlns:a16="http://schemas.microsoft.com/office/drawing/2014/main" id="{9AEA3B50-E2D6-45AF-ABA0-C43B44194225}"/>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差戻しが来たら、補助金はもらえませんか。</a:t>
            </a:r>
          </a:p>
        </p:txBody>
      </p:sp>
      <p:sp>
        <p:nvSpPr>
          <p:cNvPr id="6" name="">
            <a:extLst xmlns:a="http://schemas.openxmlformats.org/drawingml/2006/main">
              <a:ext uri="{FF2B5EF4-FFF2-40B4-BE49-F238E27FC236}">
                <a16:creationId xmlns:a16="http://schemas.microsoft.com/office/drawing/2014/main" id="{BECBC582-20B6-47C1-AD05-603438B700C3}"/>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40961B3-A6FF-493B-99F4-8F22ABBC0E9C}"/>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24037335-4D0D-47F5-B743-C058E7399E31}"/>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64C284F-5F0D-491A-B65C-BF85F9BD4D4D}"/>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差戻しだけで直ちに受給できないと決まるわけではありません。</a:t>
            </a:r>
          </a:p>
        </p:txBody>
      </p:sp>
      <p:sp>
        <p:nvSpPr>
          <p:cNvPr id="10" name="">
            <a:extLst xmlns:a="http://schemas.openxmlformats.org/drawingml/2006/main">
              <a:ext uri="{FF2B5EF4-FFF2-40B4-BE49-F238E27FC236}">
                <a16:creationId xmlns:a16="http://schemas.microsoft.com/office/drawing/2014/main" id="{98933D89-6CBA-473A-ADCA-32C6D0808A78}"/>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19FB549-65F1-4776-8AA7-4931CE2E034F}"/>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事務局が確認できなかった点を期限内に修正・補足します。</a:t>
            </a:r>
          </a:p>
        </p:txBody>
      </p:sp>
      <p:sp>
        <p:nvSpPr>
          <p:cNvPr id="12" name="">
            <a:extLst xmlns:a="http://schemas.openxmlformats.org/drawingml/2006/main">
              <a:ext uri="{FF2B5EF4-FFF2-40B4-BE49-F238E27FC236}">
                <a16:creationId xmlns:a16="http://schemas.microsoft.com/office/drawing/2014/main" id="{564CEF37-A69F-421B-8D74-5BAD49D9ABCF}"/>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563705F-6E02-4E68-93A9-F2D437356A2C}"/>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ただし、期間外支出や実施していない取組など、後から解消できない事実は対象外になることがあります。</a:t>
            </a:r>
          </a:p>
        </p:txBody>
      </p:sp>
      <p:sp>
        <p:nvSpPr>
          <p:cNvPr id="14" name="">
            <a:extLst xmlns:a="http://schemas.openxmlformats.org/drawingml/2006/main">
              <a:ext uri="{FF2B5EF4-FFF2-40B4-BE49-F238E27FC236}">
                <a16:creationId xmlns:a16="http://schemas.microsoft.com/office/drawing/2014/main" id="{C4FFE08E-A403-4371-BBDD-E16ABB38BC7A}"/>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354049766"/>
      </p:ext>
    </p:extLst>
  </p:cSld>
</p:sld>
</file>

<file path=ppt/slides/slide2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AA46FEB-C028-4DD0-A4EE-F98C3C0BCA5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8E41007-4305-49C4-ADED-5051557AE295}"/>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DD4138E2-F0AE-4EE3-BB8F-AE852F2EA715}"/>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14</a:t>
            </a:r>
          </a:p>
        </p:txBody>
      </p:sp>
      <p:sp>
        <p:nvSpPr>
          <p:cNvPr id="4" name="">
            <a:extLst xmlns:a="http://schemas.openxmlformats.org/drawingml/2006/main">
              <a:ext uri="{FF2B5EF4-FFF2-40B4-BE49-F238E27FC236}">
                <a16:creationId xmlns:a16="http://schemas.microsoft.com/office/drawing/2014/main" id="{230443C0-97D8-4B5B-A798-6618F64EABB5}"/>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25</a:t>
            </a:r>
          </a:p>
        </p:txBody>
      </p:sp>
      <p:sp>
        <p:nvSpPr>
          <p:cNvPr id="5" name="">
            <a:extLst xmlns:a="http://schemas.openxmlformats.org/drawingml/2006/main">
              <a:ext uri="{FF2B5EF4-FFF2-40B4-BE49-F238E27FC236}">
                <a16:creationId xmlns:a16="http://schemas.microsoft.com/office/drawing/2014/main" id="{8BCBAE90-5ACA-4EAA-A3F8-27070BCA8ED2}"/>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実績報告を提出したら、あとは入金を待つだけですか。</a:t>
            </a:r>
          </a:p>
        </p:txBody>
      </p:sp>
      <p:sp>
        <p:nvSpPr>
          <p:cNvPr id="6" name="">
            <a:extLst xmlns:a="http://schemas.openxmlformats.org/drawingml/2006/main">
              <a:ext uri="{FF2B5EF4-FFF2-40B4-BE49-F238E27FC236}">
                <a16:creationId xmlns:a16="http://schemas.microsoft.com/office/drawing/2014/main" id="{262D425A-8832-4F9D-89DE-6A10E7700495}"/>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C64F5D5-D1CF-494C-BD73-BD8E9C8AECE2}"/>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B37E3E6F-C13D-41B5-9690-5EB3C1D4D6A9}"/>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588ACF8-EC85-4150-9747-B2A115203CDB}"/>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いいえ。</a:t>
            </a:r>
          </a:p>
        </p:txBody>
      </p:sp>
      <p:sp>
        <p:nvSpPr>
          <p:cNvPr id="10" name="">
            <a:extLst xmlns:a="http://schemas.openxmlformats.org/drawingml/2006/main">
              <a:ext uri="{FF2B5EF4-FFF2-40B4-BE49-F238E27FC236}">
                <a16:creationId xmlns:a16="http://schemas.microsoft.com/office/drawing/2014/main" id="{B3F2BFED-B64D-4828-85A2-84BF4D4628F6}"/>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9B3913-4D81-4A9D-8F8E-7A0D0663BB79}"/>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審査後に確定通知書が届いたら、精算払請求を提出します。</a:t>
            </a:r>
          </a:p>
        </p:txBody>
      </p:sp>
      <p:sp>
        <p:nvSpPr>
          <p:cNvPr id="12" name="">
            <a:extLst xmlns:a="http://schemas.openxmlformats.org/drawingml/2006/main">
              <a:ext uri="{FF2B5EF4-FFF2-40B4-BE49-F238E27FC236}">
                <a16:creationId xmlns:a16="http://schemas.microsoft.com/office/drawing/2014/main" id="{6C0FA97A-DA8D-49D5-8DC4-9B26CD7F2BBA}"/>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8909BD5-FAAF-41F3-8D20-CAD4FC84DBE4}"/>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補助事業者本人名義の口座を登録し、口座情報資料を添付して提出が完了した後、入金手続きへ進みます。</a:t>
            </a:r>
          </a:p>
        </p:txBody>
      </p:sp>
      <p:sp>
        <p:nvSpPr>
          <p:cNvPr id="14" name="">
            <a:extLst xmlns:a="http://schemas.openxmlformats.org/drawingml/2006/main">
              <a:ext uri="{FF2B5EF4-FFF2-40B4-BE49-F238E27FC236}">
                <a16:creationId xmlns:a16="http://schemas.microsoft.com/office/drawing/2014/main" id="{008D329A-00B7-4509-8C42-A26DF6F64F69}"/>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656498063"/>
      </p:ext>
    </p:extLst>
  </p:cSld>
</p:sld>
</file>

<file path=ppt/slides/slide26.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C65A641-0810-4602-A26B-FCF7AD2A4BB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71904FB-CB9E-48D9-A146-A3FB42F9173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86440F55-EA60-49C4-814F-D0654415DABD}"/>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14</a:t>
            </a:r>
          </a:p>
        </p:txBody>
      </p:sp>
      <p:sp>
        <p:nvSpPr>
          <p:cNvPr id="4" name="">
            <a:extLst xmlns:a="http://schemas.openxmlformats.org/drawingml/2006/main">
              <a:ext uri="{FF2B5EF4-FFF2-40B4-BE49-F238E27FC236}">
                <a16:creationId xmlns:a16="http://schemas.microsoft.com/office/drawing/2014/main" id="{9C5A94B8-8962-4F94-A9F0-C387121F6E53}"/>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26</a:t>
            </a:r>
          </a:p>
        </p:txBody>
      </p:sp>
      <p:sp>
        <p:nvSpPr>
          <p:cNvPr id="5" name="">
            <a:extLst xmlns:a="http://schemas.openxmlformats.org/drawingml/2006/main">
              <a:ext uri="{FF2B5EF4-FFF2-40B4-BE49-F238E27FC236}">
                <a16:creationId xmlns:a16="http://schemas.microsoft.com/office/drawing/2014/main" id="{02789CA1-DD08-46F8-8808-F545F0088A5D}"/>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補助金で買った機械を売却してもよいですか。</a:t>
            </a:r>
          </a:p>
        </p:txBody>
      </p:sp>
      <p:sp>
        <p:nvSpPr>
          <p:cNvPr id="6" name="">
            <a:extLst xmlns:a="http://schemas.openxmlformats.org/drawingml/2006/main">
              <a:ext uri="{FF2B5EF4-FFF2-40B4-BE49-F238E27FC236}">
                <a16:creationId xmlns:a16="http://schemas.microsoft.com/office/drawing/2014/main" id="{9ADD80E5-7362-4846-86BC-EEF5FA2AC63D}"/>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632EE36-E98F-4B82-A591-F470F18DF065}"/>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BA12CC88-8A46-434C-8C84-ABB6C87A955A}"/>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8869431-3C25-4042-A92C-C883839334AC}"/>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自由に処分できない場合があります。</a:t>
            </a:r>
          </a:p>
        </p:txBody>
      </p:sp>
      <p:sp>
        <p:nvSpPr>
          <p:cNvPr id="10" name="">
            <a:extLst xmlns:a="http://schemas.openxmlformats.org/drawingml/2006/main">
              <a:ext uri="{FF2B5EF4-FFF2-40B4-BE49-F238E27FC236}">
                <a16:creationId xmlns:a16="http://schemas.microsoft.com/office/drawing/2014/main" id="{EB81AB30-B52F-4760-97A4-745BEA1B9ED9}"/>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15E8221-5747-4231-A558-92CAA14D367B}"/>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税抜50万円以上の機械装置等などは処分制限財産となり、売却、廃棄、譲渡、目的外使用等に事前承認や返還が必要になることがあります。</a:t>
            </a:r>
          </a:p>
        </p:txBody>
      </p:sp>
      <p:sp>
        <p:nvSpPr>
          <p:cNvPr id="12" name="">
            <a:extLst xmlns:a="http://schemas.openxmlformats.org/drawingml/2006/main">
              <a:ext uri="{FF2B5EF4-FFF2-40B4-BE49-F238E27FC236}">
                <a16:creationId xmlns:a16="http://schemas.microsoft.com/office/drawing/2014/main" id="{FE833DCE-5C55-44A2-BFD0-D99F4D527CA6}"/>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26F59B4-9A7D-4636-9F24-A973DEB4441D}"/>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処分前に必ず確認してください。</a:t>
            </a:r>
          </a:p>
        </p:txBody>
      </p:sp>
      <p:sp>
        <p:nvSpPr>
          <p:cNvPr id="14" name="">
            <a:extLst xmlns:a="http://schemas.openxmlformats.org/drawingml/2006/main">
              <a:ext uri="{FF2B5EF4-FFF2-40B4-BE49-F238E27FC236}">
                <a16:creationId xmlns:a16="http://schemas.microsoft.com/office/drawing/2014/main" id="{77C8BB56-E4D2-4116-B16A-892F1A3D5E4D}"/>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776058428"/>
      </p:ext>
    </p:extLst>
  </p:cSld>
</p:sld>
</file>

<file path=ppt/slides/slide2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9F11AA5-8101-4CC5-8924-CDF72227E59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5F7168D-E18B-41C8-B986-26AFA18AA1D8}"/>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36BE21AA-A557-46B6-B82B-DE36343EBFF6}"/>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SOURCE &amp; NOTICE</a:t>
            </a:r>
          </a:p>
        </p:txBody>
      </p:sp>
      <p:sp>
        <p:nvSpPr>
          <p:cNvPr id="4" name="">
            <a:extLst xmlns:a="http://schemas.openxmlformats.org/drawingml/2006/main">
              <a:ext uri="{FF2B5EF4-FFF2-40B4-BE49-F238E27FC236}">
                <a16:creationId xmlns:a16="http://schemas.microsoft.com/office/drawing/2014/main" id="{71D4F4D5-1D7D-4DD1-B56A-2EDA8C447BEF}"/>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27</a:t>
            </a:r>
          </a:p>
        </p:txBody>
      </p:sp>
      <p:sp>
        <p:nvSpPr>
          <p:cNvPr id="5" name="">
            <a:extLst xmlns:a="http://schemas.openxmlformats.org/drawingml/2006/main">
              <a:ext uri="{FF2B5EF4-FFF2-40B4-BE49-F238E27FC236}">
                <a16:creationId xmlns:a16="http://schemas.microsoft.com/office/drawing/2014/main" id="{9F596517-A885-4606-B014-26AE38B5534C}"/>
              </a:ext>
            </a:extLst>
          </p:cNvPr>
          <p:cNvSpPr>
            <a:spLocks xmlns:a="http://schemas.openxmlformats.org/drawingml/2006/main" noGrp="1"/>
          </p:cNvSpPr>
          <p:nvPr/>
        </p:nvSpPr>
        <p:spPr>
          <a:xfrm xmlns:a="http://schemas.openxmlformats.org/drawingml/2006/main">
            <a:off x="8191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7791F"/>
                </a:solidFill>
              </a:defRPr>
            </a:pPr>
            <a:r>
              <a:rPr sz="1350" b="1">
                <a:solidFill>
                  <a:srgbClr val="B7791F"/>
                </a:solidFill>
              </a:rPr>
              <a:t>SOURCE &amp; NOTICE</a:t>
            </a:r>
          </a:p>
        </p:txBody>
      </p:sp>
      <p:sp>
        <p:nvSpPr>
          <p:cNvPr id="6" name="">
            <a:extLst xmlns:a="http://schemas.openxmlformats.org/drawingml/2006/main">
              <a:ext uri="{FF2B5EF4-FFF2-40B4-BE49-F238E27FC236}">
                <a16:creationId xmlns:a16="http://schemas.microsoft.com/office/drawing/2014/main" id="{5E56AA77-ECA1-4689-AE59-205E3BB4DE29}"/>
              </a:ext>
            </a:extLst>
          </p:cNvPr>
          <p:cNvSpPr>
            <a:spLocks xmlns:a="http://schemas.openxmlformats.org/drawingml/2006/main" noGrp="1"/>
          </p:cNvSpPr>
          <p:nvPr/>
        </p:nvSpPr>
        <p:spPr>
          <a:xfrm xmlns:a="http://schemas.openxmlformats.org/drawingml/2006/main">
            <a:off x="800100" y="20764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72F"/>
                </a:solidFill>
              </a:defRPr>
            </a:pPr>
            <a:r>
              <a:rPr sz="3600" b="1">
                <a:solidFill>
                  <a:srgbClr val="17372F"/>
                </a:solidFill>
              </a:rPr>
              <a:t>本マニュアルの資料と注意事項</a:t>
            </a:r>
          </a:p>
        </p:txBody>
      </p:sp>
      <p:sp>
        <p:nvSpPr>
          <p:cNvPr id="7" name="">
            <a:extLst xmlns:a="http://schemas.openxmlformats.org/drawingml/2006/main">
              <a:ext uri="{FF2B5EF4-FFF2-40B4-BE49-F238E27FC236}">
                <a16:creationId xmlns:a16="http://schemas.microsoft.com/office/drawing/2014/main" id="{34B7790E-40DC-4011-A5A2-3CCC5EEFB069}"/>
              </a:ext>
            </a:extLst>
          </p:cNvPr>
          <p:cNvSpPr>
            <a:spLocks xmlns:a="http://schemas.openxmlformats.org/drawingml/2006/main" noGrp="1"/>
          </p:cNvSpPr>
          <p:nvPr/>
        </p:nvSpPr>
        <p:spPr>
          <a:xfrm xmlns:a="http://schemas.openxmlformats.org/drawingml/2006/main">
            <a:off x="819150" y="4114800"/>
            <a:ext cx="2381250" cy="76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8742CA4-5E2D-4BBE-B6D0-2AA39CDD3DDF}"/>
              </a:ext>
            </a:extLst>
          </p:cNvPr>
          <p:cNvSpPr>
            <a:spLocks xmlns:a="http://schemas.openxmlformats.org/drawingml/2006/main" noGrp="1"/>
          </p:cNvSpPr>
          <p:nvPr/>
        </p:nvSpPr>
        <p:spPr>
          <a:xfrm xmlns:a="http://schemas.openxmlformats.org/drawingml/2006/main">
            <a:off x="819150" y="4552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964"/>
                </a:solidFill>
              </a:defRPr>
            </a:pPr>
            <a:r>
              <a:rPr sz="1650" b="0">
                <a:solidFill>
                  <a:srgbClr val="5D6964"/>
                </a:solidFill>
              </a:rPr>
              <a:t>必要な資料と判断基準を、実務の順番で確認します。</a:t>
            </a:r>
          </a:p>
        </p:txBody>
      </p:sp>
    </p:spTree>
    <p:extLst>
      <p:ext uri="{BB962C8B-B14F-4D97-AF65-F5344CB8AC3E}">
        <p14:creationId xmlns:p14="http://schemas.microsoft.com/office/powerpoint/2010/main" val="1133651089"/>
      </p:ext>
    </p:extLst>
  </p:cSld>
</p:sld>
</file>

<file path=ppt/slides/slide28.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F41681D-7A16-4C14-B25D-13840D2DEB0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D7E61D9-7D3B-426F-B3B0-42DF1F067C8F}"/>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実績報告マニュアル｜第6分冊</a:t>
            </a:r>
          </a:p>
        </p:txBody>
      </p:sp>
      <p:sp>
        <p:nvSpPr>
          <p:cNvPr id="3" name="">
            <a:extLst xmlns:a="http://schemas.openxmlformats.org/drawingml/2006/main">
              <a:ext uri="{FF2B5EF4-FFF2-40B4-BE49-F238E27FC236}">
                <a16:creationId xmlns:a16="http://schemas.microsoft.com/office/drawing/2014/main" id="{894F9866-28C5-4123-A8AE-2A02D24895B9}"/>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SOURCE &amp; NOTICE</a:t>
            </a:r>
          </a:p>
        </p:txBody>
      </p:sp>
      <p:sp>
        <p:nvSpPr>
          <p:cNvPr id="4" name="">
            <a:extLst xmlns:a="http://schemas.openxmlformats.org/drawingml/2006/main">
              <a:ext uri="{FF2B5EF4-FFF2-40B4-BE49-F238E27FC236}">
                <a16:creationId xmlns:a16="http://schemas.microsoft.com/office/drawing/2014/main" id="{B2BF5486-014C-4F33-9559-3C12475D780B}"/>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28</a:t>
            </a:r>
          </a:p>
        </p:txBody>
      </p:sp>
      <p:sp>
        <p:nvSpPr>
          <p:cNvPr id="5" name="">
            <a:extLst xmlns:a="http://schemas.openxmlformats.org/drawingml/2006/main">
              <a:ext uri="{FF2B5EF4-FFF2-40B4-BE49-F238E27FC236}">
                <a16:creationId xmlns:a16="http://schemas.microsoft.com/office/drawing/2014/main" id="{38838E94-3E02-4D18-AD6B-D5C8BE954E14}"/>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本マニュアルの資料と注意事項</a:t>
            </a:r>
          </a:p>
        </p:txBody>
      </p:sp>
      <p:sp>
        <p:nvSpPr>
          <p:cNvPr id="6" name="">
            <a:extLst xmlns:a="http://schemas.openxmlformats.org/drawingml/2006/main">
              <a:ext uri="{FF2B5EF4-FFF2-40B4-BE49-F238E27FC236}">
                <a16:creationId xmlns:a16="http://schemas.microsoft.com/office/drawing/2014/main" id="{7F9E0224-5D66-47A7-AD4B-45ECADB2EF50}"/>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40B212D-6A72-48D0-996F-E468876FB07B}"/>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91F2DA49-FFE4-49B3-99FB-643A861FAE5C}"/>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FFE25A8-E340-4310-B469-116EB8F4AFDC}"/>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主な参照資料：小規模事業者持続化補助金＜一般型 通常枠＞「補助事業の手引き（第17回受付締切分・第1版 2025年9月26日）」「補助事業の手引き（第18回受付締切分・第2版 2026年3月17日）」「申請システム操作手引き 実績報告・精算払請求（2026年3月12日）」「申請システム操作手引き 通知文書」「申請システム操作手引き 採択～交付決定」「見積書等の提出のご案内」。</a:t>
            </a:r>
          </a:p>
        </p:txBody>
      </p:sp>
      <p:sp>
        <p:nvSpPr>
          <p:cNvPr id="10" name="">
            <a:extLst xmlns:a="http://schemas.openxmlformats.org/drawingml/2006/main">
              <a:ext uri="{FF2B5EF4-FFF2-40B4-BE49-F238E27FC236}">
                <a16:creationId xmlns:a16="http://schemas.microsoft.com/office/drawing/2014/main" id="{14B30598-AA4E-4E0C-8165-13B88D18A7D4}"/>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AAFA7DD-4B47-4DD3-AF59-E6AEAC21B924}"/>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掲載画面は資料作成時点のもので、申請システムの表示は変更される可能性があります。</a:t>
            </a:r>
          </a:p>
        </p:txBody>
      </p:sp>
      <p:sp>
        <p:nvSpPr>
          <p:cNvPr id="12" name="">
            <a:extLst xmlns:a="http://schemas.openxmlformats.org/drawingml/2006/main">
              <a:ext uri="{FF2B5EF4-FFF2-40B4-BE49-F238E27FC236}">
                <a16:creationId xmlns:a16="http://schemas.microsoft.com/office/drawing/2014/main" id="{1B5A1CD4-292C-44E6-8A60-307D138DDE2E}"/>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19D440D-BB00-438C-84BE-67935ED13B48}"/>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本マニュアルは一般的な整理方法を示すもので、個別案件の補助対象性を保証するものではありません。</a:t>
            </a:r>
          </a:p>
        </p:txBody>
      </p:sp>
      <p:sp>
        <p:nvSpPr>
          <p:cNvPr id="14" name="">
            <a:extLst xmlns:a="http://schemas.openxmlformats.org/drawingml/2006/main">
              <a:ext uri="{FF2B5EF4-FFF2-40B4-BE49-F238E27FC236}">
                <a16:creationId xmlns:a16="http://schemas.microsoft.com/office/drawing/2014/main" id="{23B4493C-01B6-4117-8E96-1B52AFB86A11}"/>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894479796"/>
      </p:ext>
    </p:extLst>
  </p:cSld>
</p:sld>
</file>

<file path=ppt/slides/slide29.xml><?xml version="1.0" encoding="utf-8"?>
<p:sld xmlns:p="http://schemas.openxmlformats.org/presentationml/2006/main">
  <p:cSld>
    <p:bg>
      <p:bgPr>
        <a:solidFill xmlns:a="http://schemas.openxmlformats.org/drawingml/2006/main">
          <a:srgbClr val="17372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BD31AF-C20F-4405-A132-E8C82D9CDE0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4285B5C-21ED-458D-BB12-3943EDA4CEC5}"/>
              </a:ext>
            </a:extLst>
          </p:cNvPr>
          <p:cNvSpPr>
            <a:spLocks xmlns:a="http://schemas.openxmlformats.org/drawingml/2006/main" noGrp="1"/>
          </p:cNvSpPr>
          <p:nvPr/>
        </p:nvSpPr>
        <p:spPr>
          <a:xfrm xmlns:a="http://schemas.openxmlformats.org/drawingml/2006/main">
            <a:off x="685800" y="8191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defRPr>
            </a:pPr>
            <a:r>
              <a:rPr sz="3150" b="1">
                <a:solidFill>
                  <a:srgbClr val="FFFFFF"/>
                </a:solidFill>
              </a:rPr>
              <a:t>実績報告を、入金まで確実に進めたい方へ</a:t>
            </a:r>
          </a:p>
        </p:txBody>
      </p:sp>
      <p:sp>
        <p:nvSpPr>
          <p:cNvPr id="3" name="">
            <a:extLst xmlns:a="http://schemas.openxmlformats.org/drawingml/2006/main">
              <a:ext uri="{FF2B5EF4-FFF2-40B4-BE49-F238E27FC236}">
                <a16:creationId xmlns:a16="http://schemas.microsoft.com/office/drawing/2014/main" id="{63B35ADA-4250-42A9-A0EF-4416C120AEBA}"/>
              </a:ext>
            </a:extLst>
          </p:cNvPr>
          <p:cNvSpPr>
            <a:spLocks xmlns:a="http://schemas.openxmlformats.org/drawingml/2006/main" noGrp="1"/>
          </p:cNvSpPr>
          <p:nvPr/>
        </p:nvSpPr>
        <p:spPr>
          <a:xfrm xmlns:a="http://schemas.openxmlformats.org/drawingml/2006/main">
            <a:off x="723900" y="1905000"/>
            <a:ext cx="904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DCE8E2"/>
                </a:solidFill>
              </a:defRPr>
            </a:pPr>
            <a:r>
              <a:rPr sz="1650" b="0">
                <a:solidFill>
                  <a:srgbClr val="DCE8E2"/>
                </a:solidFill>
              </a:rPr>
              <a:t>書類不足、差戻し、申請システム入力で止まった場合はご相談ください。</a:t>
            </a:r>
          </a:p>
        </p:txBody>
      </p:sp>
      <p:sp>
        <p:nvSpPr>
          <p:cNvPr id="4" name="">
            <a:extLst xmlns:a="http://schemas.openxmlformats.org/drawingml/2006/main">
              <a:ext uri="{FF2B5EF4-FFF2-40B4-BE49-F238E27FC236}">
                <a16:creationId xmlns:a16="http://schemas.microsoft.com/office/drawing/2014/main" id="{444DB31A-8499-476F-B785-7D291EE59D23}"/>
              </a:ext>
            </a:extLst>
          </p:cNvPr>
          <p:cNvSpPr>
            <a:spLocks xmlns:a="http://schemas.openxmlformats.org/drawingml/2006/main" noGrp="1"/>
          </p:cNvSpPr>
          <p:nvPr/>
        </p:nvSpPr>
        <p:spPr>
          <a:xfrm xmlns:a="http://schemas.openxmlformats.org/drawingml/2006/main">
            <a:off x="723900" y="2724150"/>
            <a:ext cx="9867900" cy="2724150"/>
          </a:xfrm>
          <a:prstGeom xmlns:a="http://schemas.openxmlformats.org/drawingml/2006/main" prst="roundRect">
            <a:avLst>
              <a:gd name="adj" fmla="val 4196"/>
            </a:avLst>
          </a:prstGeom>
          <a:solidFill xmlns:a="http://schemas.openxmlformats.org/drawingml/2006/main">
            <a:srgbClr val="21483D"/>
          </a:solidFill>
          <a:ln xmlns:a="http://schemas.openxmlformats.org/drawingml/2006/main" w="9525">
            <a:solidFill>
              <a:srgbClr val="4A7165"/>
            </a:solidFill>
            <a:prstDash val="solid"/>
          </a:ln>
        </p:spPr>
      </p:sp>
      <p:sp>
        <p:nvSpPr>
          <p:cNvPr id="5" name="">
            <a:extLst xmlns:a="http://schemas.openxmlformats.org/drawingml/2006/main">
              <a:ext uri="{FF2B5EF4-FFF2-40B4-BE49-F238E27FC236}">
                <a16:creationId xmlns:a16="http://schemas.microsoft.com/office/drawing/2014/main" id="{69C35E4E-C36D-48AA-AA40-A4C8A417FCEC}"/>
              </a:ext>
            </a:extLst>
          </p:cNvPr>
          <p:cNvSpPr>
            <a:spLocks xmlns:a="http://schemas.openxmlformats.org/drawingml/2006/main" noGrp="1"/>
          </p:cNvSpPr>
          <p:nvPr/>
        </p:nvSpPr>
        <p:spPr>
          <a:xfrm xmlns:a="http://schemas.openxmlformats.org/drawingml/2006/main">
            <a:off x="1104900" y="310515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E7C98C"/>
                </a:solidFill>
              </a:defRPr>
            </a:pPr>
            <a:r>
              <a:rPr sz="1275" b="1">
                <a:solidFill>
                  <a:srgbClr val="E7C98C"/>
                </a:solidFill>
              </a:rPr>
              <a:t>会社名</a:t>
            </a:r>
          </a:p>
        </p:txBody>
      </p:sp>
      <p:sp>
        <p:nvSpPr>
          <p:cNvPr id="6" name="">
            <a:extLst xmlns:a="http://schemas.openxmlformats.org/drawingml/2006/main">
              <a:ext uri="{FF2B5EF4-FFF2-40B4-BE49-F238E27FC236}">
                <a16:creationId xmlns:a16="http://schemas.microsoft.com/office/drawing/2014/main" id="{5BCE5CA1-8F10-4E40-AD36-B37B6C813DA5}"/>
              </a:ext>
            </a:extLst>
          </p:cNvPr>
          <p:cNvSpPr>
            <a:spLocks xmlns:a="http://schemas.openxmlformats.org/drawingml/2006/main" noGrp="1"/>
          </p:cNvSpPr>
          <p:nvPr/>
        </p:nvSpPr>
        <p:spPr>
          <a:xfrm xmlns:a="http://schemas.openxmlformats.org/drawingml/2006/main">
            <a:off x="2857500" y="3048000"/>
            <a:ext cx="704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FFFFFF"/>
                </a:solidFill>
              </a:defRPr>
            </a:pPr>
            <a:r>
              <a:rPr sz="1800" b="0">
                <a:solidFill>
                  <a:srgbClr val="FFFFFF"/>
                </a:solidFill>
              </a:rPr>
              <a:t>Well Consultant合同会社</a:t>
            </a:r>
          </a:p>
        </p:txBody>
      </p:sp>
      <p:sp>
        <p:nvSpPr>
          <p:cNvPr id="7" name="">
            <a:extLst xmlns:a="http://schemas.openxmlformats.org/drawingml/2006/main">
              <a:ext uri="{FF2B5EF4-FFF2-40B4-BE49-F238E27FC236}">
                <a16:creationId xmlns:a16="http://schemas.microsoft.com/office/drawing/2014/main" id="{025EF8E5-DC8F-4623-BE60-899B7A6DA7BB}"/>
              </a:ext>
            </a:extLst>
          </p:cNvPr>
          <p:cNvSpPr>
            <a:spLocks xmlns:a="http://schemas.openxmlformats.org/drawingml/2006/main" noGrp="1"/>
          </p:cNvSpPr>
          <p:nvPr/>
        </p:nvSpPr>
        <p:spPr>
          <a:xfrm xmlns:a="http://schemas.openxmlformats.org/drawingml/2006/main">
            <a:off x="1104900" y="363855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E7C98C"/>
                </a:solidFill>
              </a:defRPr>
            </a:pPr>
            <a:r>
              <a:rPr sz="1275" b="1">
                <a:solidFill>
                  <a:srgbClr val="E7C98C"/>
                </a:solidFill>
              </a:rPr>
              <a:t>メール</a:t>
            </a:r>
          </a:p>
        </p:txBody>
      </p:sp>
      <p:sp>
        <p:nvSpPr>
          <p:cNvPr id="8" name="">
            <a:extLst xmlns:a="http://schemas.openxmlformats.org/drawingml/2006/main">
              <a:ext uri="{FF2B5EF4-FFF2-40B4-BE49-F238E27FC236}">
                <a16:creationId xmlns:a16="http://schemas.microsoft.com/office/drawing/2014/main" id="{CB4EEBD6-725A-4B1A-856B-A0CB10068C35}"/>
              </a:ext>
            </a:extLst>
          </p:cNvPr>
          <p:cNvSpPr>
            <a:spLocks xmlns:a="http://schemas.openxmlformats.org/drawingml/2006/main" noGrp="1"/>
          </p:cNvSpPr>
          <p:nvPr/>
        </p:nvSpPr>
        <p:spPr>
          <a:xfrm xmlns:a="http://schemas.openxmlformats.org/drawingml/2006/main">
            <a:off x="2857500" y="3581400"/>
            <a:ext cx="704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FFFFF"/>
                </a:solidFill>
              </a:defRPr>
            </a:pPr>
            <a:r>
              <a:rPr sz="1800" b="1">
                <a:solidFill>
                  <a:srgbClr val="FFFFFF"/>
                </a:solidFill>
              </a:rPr>
              <a:t>info@fp-1.info</a:t>
            </a:r>
          </a:p>
        </p:txBody>
      </p:sp>
      <p:sp>
        <p:nvSpPr>
          <p:cNvPr id="9" name="">
            <a:extLst xmlns:a="http://schemas.openxmlformats.org/drawingml/2006/main">
              <a:ext uri="{FF2B5EF4-FFF2-40B4-BE49-F238E27FC236}">
                <a16:creationId xmlns:a16="http://schemas.microsoft.com/office/drawing/2014/main" id="{6AC232F5-76DE-43A1-A5C1-52D7AD7FCFBE}"/>
              </a:ext>
            </a:extLst>
          </p:cNvPr>
          <p:cNvSpPr>
            <a:spLocks xmlns:a="http://schemas.openxmlformats.org/drawingml/2006/main" noGrp="1"/>
          </p:cNvSpPr>
          <p:nvPr/>
        </p:nvSpPr>
        <p:spPr>
          <a:xfrm xmlns:a="http://schemas.openxmlformats.org/drawingml/2006/main">
            <a:off x="1104900" y="417195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E7C98C"/>
                </a:solidFill>
              </a:defRPr>
            </a:pPr>
            <a:r>
              <a:rPr sz="1275" b="1">
                <a:solidFill>
                  <a:srgbClr val="E7C98C"/>
                </a:solidFill>
              </a:rPr>
              <a:t>所在地</a:t>
            </a:r>
          </a:p>
        </p:txBody>
      </p:sp>
      <p:sp>
        <p:nvSpPr>
          <p:cNvPr id="10" name="">
            <a:extLst xmlns:a="http://schemas.openxmlformats.org/drawingml/2006/main">
              <a:ext uri="{FF2B5EF4-FFF2-40B4-BE49-F238E27FC236}">
                <a16:creationId xmlns:a16="http://schemas.microsoft.com/office/drawing/2014/main" id="{F0DA5C70-8279-4FC4-9B7D-F189FC543118}"/>
              </a:ext>
            </a:extLst>
          </p:cNvPr>
          <p:cNvSpPr>
            <a:spLocks xmlns:a="http://schemas.openxmlformats.org/drawingml/2006/main" noGrp="1"/>
          </p:cNvSpPr>
          <p:nvPr/>
        </p:nvSpPr>
        <p:spPr>
          <a:xfrm xmlns:a="http://schemas.openxmlformats.org/drawingml/2006/main">
            <a:off x="2857500" y="4114800"/>
            <a:ext cx="704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FFFFFF"/>
                </a:solidFill>
              </a:defRPr>
            </a:pPr>
            <a:r>
              <a:rPr sz="1800" b="0">
                <a:solidFill>
                  <a:srgbClr val="FFFFFF"/>
                </a:solidFill>
              </a:rPr>
              <a:t>埼玉県熊谷市石原641-3</a:t>
            </a:r>
          </a:p>
        </p:txBody>
      </p:sp>
      <p:sp>
        <p:nvSpPr>
          <p:cNvPr id="11" name="">
            <a:extLst xmlns:a="http://schemas.openxmlformats.org/drawingml/2006/main">
              <a:ext uri="{FF2B5EF4-FFF2-40B4-BE49-F238E27FC236}">
                <a16:creationId xmlns:a16="http://schemas.microsoft.com/office/drawing/2014/main" id="{E3B5BEC4-A4EF-41B2-BB90-BC991D754887}"/>
              </a:ext>
            </a:extLst>
          </p:cNvPr>
          <p:cNvSpPr>
            <a:spLocks xmlns:a="http://schemas.openxmlformats.org/drawingml/2006/main" noGrp="1"/>
          </p:cNvSpPr>
          <p:nvPr/>
        </p:nvSpPr>
        <p:spPr>
          <a:xfrm xmlns:a="http://schemas.openxmlformats.org/drawingml/2006/main">
            <a:off x="1104900" y="470535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E7C98C"/>
                </a:solidFill>
              </a:defRPr>
            </a:pPr>
            <a:r>
              <a:rPr sz="1275" b="1">
                <a:solidFill>
                  <a:srgbClr val="E7C98C"/>
                </a:solidFill>
              </a:rPr>
              <a:t>対応方法</a:t>
            </a:r>
          </a:p>
        </p:txBody>
      </p:sp>
      <p:sp>
        <p:nvSpPr>
          <p:cNvPr id="12" name="">
            <a:extLst xmlns:a="http://schemas.openxmlformats.org/drawingml/2006/main">
              <a:ext uri="{FF2B5EF4-FFF2-40B4-BE49-F238E27FC236}">
                <a16:creationId xmlns:a16="http://schemas.microsoft.com/office/drawing/2014/main" id="{59B938B1-9731-44DF-96F8-1210BEE02A86}"/>
              </a:ext>
            </a:extLst>
          </p:cNvPr>
          <p:cNvSpPr>
            <a:spLocks xmlns:a="http://schemas.openxmlformats.org/drawingml/2006/main" noGrp="1"/>
          </p:cNvSpPr>
          <p:nvPr/>
        </p:nvSpPr>
        <p:spPr>
          <a:xfrm xmlns:a="http://schemas.openxmlformats.org/drawingml/2006/main">
            <a:off x="2857500" y="4648200"/>
            <a:ext cx="704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FFFFFF"/>
                </a:solidFill>
              </a:defRPr>
            </a:pPr>
            <a:r>
              <a:rPr sz="1800" b="0">
                <a:solidFill>
                  <a:srgbClr val="FFFFFF"/>
                </a:solidFill>
              </a:rPr>
              <a:t>完全オンライン対応</a:t>
            </a:r>
          </a:p>
        </p:txBody>
      </p:sp>
      <p:sp>
        <p:nvSpPr>
          <p:cNvPr id="13" name="">
            <a:extLst xmlns:a="http://schemas.openxmlformats.org/drawingml/2006/main">
              <a:ext uri="{FF2B5EF4-FFF2-40B4-BE49-F238E27FC236}">
                <a16:creationId xmlns:a16="http://schemas.microsoft.com/office/drawing/2014/main" id="{765197B6-5356-4212-BEDE-50E80224E26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C8D9D1"/>
                </a:solidFill>
              </a:defRPr>
            </a:pPr>
            <a:r>
              <a:rPr sz="975" b="1">
                <a:solidFill>
                  <a:srgbClr val="C8D9D1"/>
                </a:solidFill>
              </a:rPr>
              <a:t>29</a:t>
            </a:r>
          </a:p>
        </p:txBody>
      </p:sp>
    </p:spTree>
    <p:extLst>
      <p:ext uri="{BB962C8B-B14F-4D97-AF65-F5344CB8AC3E}">
        <p14:creationId xmlns:p14="http://schemas.microsoft.com/office/powerpoint/2010/main" val="13497317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2026-07-23T07:22:44.4420000Z</dcterms:created>
  <dcterms:modified xsi:type="dcterms:W3CDTF">2026-07-23T07:22:44.4420000Z</dcterms:modified>
</coreProperties>
</file>